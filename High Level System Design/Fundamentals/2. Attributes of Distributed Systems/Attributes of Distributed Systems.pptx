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60" r:id="rId4"/>
    <p:sldId id="262" r:id="rId5"/>
    <p:sldId id="261" r:id="rId6"/>
    <p:sldId id="263" r:id="rId7"/>
    <p:sldId id="264" r:id="rId8"/>
    <p:sldId id="265" r:id="rId9"/>
    <p:sldId id="266" r:id="rId10"/>
    <p:sldId id="267" r:id="rId11"/>
    <p:sldId id="269" r:id="rId12"/>
    <p:sldId id="270" r:id="rId13"/>
    <p:sldId id="271" r:id="rId14"/>
    <p:sldId id="272" r:id="rId15"/>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601" autoAdjust="0"/>
  </p:normalViewPr>
  <p:slideViewPr>
    <p:cSldViewPr>
      <p:cViewPr varScale="1">
        <p:scale>
          <a:sx n="83" d="100"/>
          <a:sy n="83" d="100"/>
        </p:scale>
        <p:origin x="1450"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DE0FC2B5-BEBA-4547-9143-EECB12969261}" type="datetimeFigureOut">
              <a:rPr lang="en-IN" smtClean="0"/>
              <a:t>02-01-2026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72853293-4F00-4813-B74A-3945ABE0C2FC}" type="slidenum">
              <a:rPr lang="en-IN" smtClean="0"/>
              <a:t>‹#›</a:t>
            </a:fld>
            <a:endParaRPr lang="en-IN"/>
          </a:p>
        </p:txBody>
      </p:sp>
    </p:spTree>
    <p:extLst>
      <p:ext uri="{BB962C8B-B14F-4D97-AF65-F5344CB8AC3E}">
        <p14:creationId xmlns:p14="http://schemas.microsoft.com/office/powerpoint/2010/main" val="350939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 we understand the </a:t>
            </a:r>
            <a:r>
              <a:rPr lang="en-US" sz="1200" b="0" i="1" kern="1200" dirty="0">
                <a:solidFill>
                  <a:schemeClr val="tx1"/>
                </a:solidFill>
                <a:effectLst/>
                <a:latin typeface="+mn-lt"/>
                <a:ea typeface="+mn-ea"/>
                <a:cs typeface="+mn-cs"/>
              </a:rPr>
              <a:t>what</a:t>
            </a:r>
            <a:r>
              <a:rPr lang="en-US" sz="1200" b="0" i="0" kern="1200" dirty="0">
                <a:solidFill>
                  <a:schemeClr val="tx1"/>
                </a:solidFill>
                <a:effectLst/>
                <a:latin typeface="+mn-lt"/>
                <a:ea typeface="+mn-ea"/>
                <a:cs typeface="+mn-cs"/>
              </a:rPr>
              <a:t> and the </a:t>
            </a:r>
            <a:r>
              <a:rPr lang="en-US" sz="1200" b="0" i="1" kern="1200" dirty="0">
                <a:solidFill>
                  <a:schemeClr val="tx1"/>
                </a:solidFill>
                <a:effectLst/>
                <a:latin typeface="+mn-lt"/>
                <a:ea typeface="+mn-ea"/>
                <a:cs typeface="+mn-cs"/>
              </a:rPr>
              <a:t>why</a:t>
            </a:r>
            <a:r>
              <a:rPr lang="en-US" sz="1200" b="0" i="0" kern="1200" dirty="0">
                <a:solidFill>
                  <a:schemeClr val="tx1"/>
                </a:solidFill>
                <a:effectLst/>
                <a:latin typeface="+mn-lt"/>
                <a:ea typeface="+mn-ea"/>
                <a:cs typeface="+mn-cs"/>
              </a:rPr>
              <a:t> of system design. We know we're focusing on High-Level Design for distributed systems.</a:t>
            </a:r>
          </a:p>
          <a:p>
            <a:r>
              <a:rPr lang="en-US" sz="1200" b="0" i="0" kern="1200" dirty="0">
                <a:solidFill>
                  <a:schemeClr val="tx1"/>
                </a:solidFill>
                <a:effectLst/>
                <a:latin typeface="+mn-lt"/>
                <a:ea typeface="+mn-ea"/>
                <a:cs typeface="+mn-cs"/>
              </a:rPr>
              <a:t>But this raises a critical question: </a:t>
            </a:r>
            <a:r>
              <a:rPr lang="en-US" sz="1200" b="1" i="0" kern="1200" dirty="0">
                <a:solidFill>
                  <a:schemeClr val="tx1"/>
                </a:solidFill>
                <a:effectLst/>
                <a:latin typeface="+mn-lt"/>
                <a:ea typeface="+mn-ea"/>
                <a:cs typeface="+mn-cs"/>
              </a:rPr>
              <a:t>What makes a distributed system </a:t>
            </a:r>
            <a:r>
              <a:rPr lang="en-US" sz="1200" b="1" i="1" kern="1200" dirty="0">
                <a:solidFill>
                  <a:schemeClr val="tx1"/>
                </a:solidFill>
                <a:effectLst/>
                <a:latin typeface="+mn-lt"/>
                <a:ea typeface="+mn-ea"/>
                <a:cs typeface="+mn-cs"/>
              </a:rPr>
              <a:t>good</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What are the actual goals we are designing </a:t>
            </a:r>
            <a:r>
              <a:rPr lang="en-US" sz="1200" b="0" i="1" kern="1200" dirty="0">
                <a:solidFill>
                  <a:schemeClr val="tx1"/>
                </a:solidFill>
                <a:effectLst/>
                <a:latin typeface="+mn-lt"/>
                <a:ea typeface="+mn-ea"/>
                <a:cs typeface="+mn-cs"/>
              </a:rPr>
              <a:t>for</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a single, simple application, success might be 'it works.' But in a distributed world, 'working' isn't enough. The system must work </a:t>
            </a:r>
            <a:r>
              <a:rPr lang="en-US" sz="1200" b="1" i="0" kern="1200" dirty="0">
                <a:solidFill>
                  <a:schemeClr val="tx1"/>
                </a:solidFill>
                <a:effectLst/>
                <a:latin typeface="+mn-lt"/>
                <a:ea typeface="+mn-ea"/>
                <a:cs typeface="+mn-cs"/>
              </a:rPr>
              <a:t>when millions of users hit it at once</a:t>
            </a:r>
            <a:r>
              <a:rPr lang="en-US" sz="1200" b="0" i="0" kern="1200" dirty="0">
                <a:solidFill>
                  <a:schemeClr val="tx1"/>
                </a:solidFill>
                <a:effectLst/>
                <a:latin typeface="+mn-lt"/>
                <a:ea typeface="+mn-ea"/>
                <a:cs typeface="+mn-cs"/>
              </a:rPr>
              <a:t>. It must work </a:t>
            </a:r>
            <a:r>
              <a:rPr lang="en-US" sz="1200" b="1" i="0" kern="1200" dirty="0">
                <a:solidFill>
                  <a:schemeClr val="tx1"/>
                </a:solidFill>
                <a:effectLst/>
                <a:latin typeface="+mn-lt"/>
                <a:ea typeface="+mn-ea"/>
                <a:cs typeface="+mn-cs"/>
              </a:rPr>
              <a:t>when a critical server catches fire</a:t>
            </a:r>
            <a:r>
              <a:rPr lang="en-US" sz="1200" b="0" i="0" kern="1200" dirty="0">
                <a:solidFill>
                  <a:schemeClr val="tx1"/>
                </a:solidFill>
                <a:effectLst/>
                <a:latin typeface="+mn-lt"/>
                <a:ea typeface="+mn-ea"/>
                <a:cs typeface="+mn-cs"/>
              </a:rPr>
              <a:t>. It must work </a:t>
            </a:r>
            <a:r>
              <a:rPr lang="en-US" sz="1200" b="1" i="0" kern="1200" dirty="0">
                <a:solidFill>
                  <a:schemeClr val="tx1"/>
                </a:solidFill>
                <a:effectLst/>
                <a:latin typeface="+mn-lt"/>
                <a:ea typeface="+mn-ea"/>
                <a:cs typeface="+mn-cs"/>
              </a:rPr>
              <a:t>for a user halfway across the globe</a:t>
            </a:r>
            <a:r>
              <a:rPr lang="en-US" sz="1200" b="0" i="0" kern="1200" dirty="0">
                <a:solidFill>
                  <a:schemeClr val="tx1"/>
                </a:solidFill>
                <a:effectLst/>
                <a:latin typeface="+mn-lt"/>
                <a:ea typeface="+mn-ea"/>
                <a:cs typeface="+mn-cs"/>
              </a:rPr>
              <a:t>. And it must continue to work </a:t>
            </a:r>
            <a:r>
              <a:rPr lang="en-US" sz="1200" b="1" i="0" kern="1200" dirty="0">
                <a:solidFill>
                  <a:schemeClr val="tx1"/>
                </a:solidFill>
                <a:effectLst/>
                <a:latin typeface="+mn-lt"/>
                <a:ea typeface="+mn-ea"/>
                <a:cs typeface="+mn-cs"/>
              </a:rPr>
              <a:t>as our team constantly changes and improves it</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These aren't nice-to-haves. They are the </a:t>
            </a:r>
            <a:r>
              <a:rPr lang="en-US" sz="1200" b="1" i="0" kern="1200" dirty="0">
                <a:solidFill>
                  <a:schemeClr val="tx1"/>
                </a:solidFill>
                <a:effectLst/>
                <a:latin typeface="+mn-lt"/>
                <a:ea typeface="+mn-ea"/>
                <a:cs typeface="+mn-cs"/>
              </a:rPr>
              <a:t>non-functional requirements</a:t>
            </a:r>
            <a:r>
              <a:rPr lang="en-US" sz="1200" b="0" i="0" kern="1200" dirty="0">
                <a:solidFill>
                  <a:schemeClr val="tx1"/>
                </a:solidFill>
                <a:effectLst/>
                <a:latin typeface="+mn-lt"/>
                <a:ea typeface="+mn-ea"/>
                <a:cs typeface="+mn-cs"/>
              </a:rPr>
              <a:t> that become our primary design drivers. They are the qualities we measure, argue about, and optimize for in every architecture meeting.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design effectively, we need a shared vocabulary for these qualities. We need to define what we mean by a system that is robust, fast, and future-proof.</a:t>
            </a:r>
          </a:p>
          <a:p>
            <a:r>
              <a:rPr lang="en-US" sz="1200" b="0" i="0" kern="1200" dirty="0">
                <a:solidFill>
                  <a:schemeClr val="tx1"/>
                </a:solidFill>
                <a:effectLst/>
                <a:latin typeface="+mn-lt"/>
                <a:ea typeface="+mn-ea"/>
                <a:cs typeface="+mn-cs"/>
              </a:rPr>
              <a:t>This brings us to the core </a:t>
            </a:r>
            <a:r>
              <a:rPr lang="en-US" sz="1200" b="1" i="0" kern="1200" dirty="0">
                <a:solidFill>
                  <a:schemeClr val="tx1"/>
                </a:solidFill>
                <a:effectLst/>
                <a:latin typeface="+mn-lt"/>
                <a:ea typeface="+mn-ea"/>
                <a:cs typeface="+mn-cs"/>
              </a:rPr>
              <a:t>Attributes of Distributed Systems</a:t>
            </a:r>
            <a:r>
              <a:rPr lang="en-US" sz="1200" b="0" i="0" kern="1200" dirty="0">
                <a:solidFill>
                  <a:schemeClr val="tx1"/>
                </a:solidFill>
                <a:effectLst/>
                <a:latin typeface="+mn-lt"/>
                <a:ea typeface="+mn-ea"/>
                <a:cs typeface="+mn-cs"/>
              </a:rPr>
              <a:t>. Think of these not as a checklist, but as a </a:t>
            </a:r>
            <a:r>
              <a:rPr lang="en-US" sz="1200" b="1" i="0" kern="1200" dirty="0">
                <a:solidFill>
                  <a:schemeClr val="tx1"/>
                </a:solidFill>
                <a:effectLst/>
                <a:latin typeface="+mn-lt"/>
                <a:ea typeface="+mn-ea"/>
                <a:cs typeface="+mn-cs"/>
              </a:rPr>
              <a:t>framework for thought</a:t>
            </a:r>
            <a:r>
              <a:rPr lang="en-US" sz="1200" b="0" i="0" kern="1200" dirty="0">
                <a:solidFill>
                  <a:schemeClr val="tx1"/>
                </a:solidFill>
                <a:effectLst/>
                <a:latin typeface="+mn-lt"/>
                <a:ea typeface="+mn-ea"/>
                <a:cs typeface="+mn-cs"/>
              </a:rPr>
              <a:t>—a set of interconnected, and sometimes competing, goals that will guide every single decision we make from here on out.</a:t>
            </a:r>
          </a:p>
          <a:p>
            <a:endParaRPr lang="en-IN" dirty="0"/>
          </a:p>
        </p:txBody>
      </p:sp>
      <p:sp>
        <p:nvSpPr>
          <p:cNvPr id="4" name="Slide Number Placeholder 3"/>
          <p:cNvSpPr>
            <a:spLocks noGrp="1"/>
          </p:cNvSpPr>
          <p:nvPr>
            <p:ph type="sldNum" sz="quarter" idx="5"/>
          </p:nvPr>
        </p:nvSpPr>
        <p:spPr/>
        <p:txBody>
          <a:bodyPr/>
          <a:lstStyle/>
          <a:p>
            <a:fld id="{72853293-4F00-4813-B74A-3945ABE0C2FC}" type="slidenum">
              <a:rPr lang="en-IN" smtClean="0"/>
              <a:t>1</a:t>
            </a:fld>
            <a:endParaRPr lang="en-IN"/>
          </a:p>
        </p:txBody>
      </p:sp>
    </p:spTree>
    <p:extLst>
      <p:ext uri="{BB962C8B-B14F-4D97-AF65-F5344CB8AC3E}">
        <p14:creationId xmlns:p14="http://schemas.microsoft.com/office/powerpoint/2010/main" val="2100567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begin with the first and most fundamental challenge in any distributed system: </a:t>
            </a:r>
            <a:r>
              <a:rPr lang="en-US" sz="1200" b="1" i="0" kern="1200" dirty="0">
                <a:solidFill>
                  <a:schemeClr val="tx1"/>
                </a:solidFill>
                <a:effectLst/>
                <a:latin typeface="+mn-lt"/>
                <a:ea typeface="+mn-ea"/>
                <a:cs typeface="+mn-cs"/>
              </a:rPr>
              <a:t>communication</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Every distributed system is, at its heart, a group of nodes—servers, services, devices—that need to talk to each other. And they do this over a network, which is not a perfect, reliable pipe. It's a complex, sometimes chaotic, shared medium.</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Think of a simple web request. Your browser takes a URL, finds the server's address, and sends an HTTP request. The server processes it and sends back a response with the webpage. This seems straightforward, but a lot can go wrong between that request and response.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forces us to ask some critical design questions:</a:t>
            </a:r>
          </a:p>
          <a:p>
            <a:r>
              <a:rPr lang="en-US" sz="1200" b="1" i="0" kern="1200" dirty="0">
                <a:solidFill>
                  <a:schemeClr val="tx1"/>
                </a:solidFill>
                <a:effectLst/>
                <a:latin typeface="+mn-lt"/>
                <a:ea typeface="+mn-ea"/>
                <a:cs typeface="+mn-cs"/>
              </a:rPr>
              <a:t>First, representation:</a:t>
            </a:r>
            <a:r>
              <a:rPr lang="en-US" sz="1200" b="0" i="0" kern="1200" dirty="0">
                <a:solidFill>
                  <a:schemeClr val="tx1"/>
                </a:solidFill>
                <a:effectLst/>
                <a:latin typeface="+mn-lt"/>
                <a:ea typeface="+mn-ea"/>
                <a:cs typeface="+mn-cs"/>
              </a:rPr>
              <a:t> How are these messages—the request and the response—actually encoded into bits and bytes on the network wire?</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Second, reliability:</a:t>
            </a:r>
            <a:r>
              <a:rPr lang="en-US" sz="1200" b="0" i="0" kern="1200" dirty="0">
                <a:solidFill>
                  <a:schemeClr val="tx1"/>
                </a:solidFill>
                <a:effectLst/>
                <a:latin typeface="+mn-lt"/>
                <a:ea typeface="+mn-ea"/>
                <a:cs typeface="+mn-cs"/>
              </a:rPr>
              <a:t> What happens during a temporary network blip, or if a faulty router corrupts part of our message? How does our system detect and recover from that?</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Third, security:</a:t>
            </a:r>
            <a:r>
              <a:rPr lang="en-US" sz="1200" b="0" i="0" kern="1200" dirty="0">
                <a:solidFill>
                  <a:schemeClr val="tx1"/>
                </a:solidFill>
                <a:effectLst/>
                <a:latin typeface="+mn-lt"/>
                <a:ea typeface="+mn-ea"/>
                <a:cs typeface="+mn-cs"/>
              </a:rPr>
              <a:t> How do we guarantee that no one in the middle can eavesdrop on or tamper with this conversation?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Now, you might think, 'This is what my networking library handles for me.' And that's true to an extent. Libraries provide crucial abstractions.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But here's the key insight for system designers: </a:t>
            </a:r>
            <a:r>
              <a:rPr lang="en-US" sz="1200" b="1" i="0" kern="1200" dirty="0">
                <a:solidFill>
                  <a:schemeClr val="tx1"/>
                </a:solidFill>
                <a:effectLst/>
                <a:latin typeface="+mn-lt"/>
                <a:ea typeface="+mn-ea"/>
                <a:cs typeface="+mn-cs"/>
              </a:rPr>
              <a:t>abstractions leak</a:t>
            </a:r>
            <a:r>
              <a:rPr lang="en-US" sz="1200" b="0" i="0" kern="1200" dirty="0">
                <a:solidFill>
                  <a:schemeClr val="tx1"/>
                </a:solidFill>
                <a:effectLst/>
                <a:latin typeface="+mn-lt"/>
                <a:ea typeface="+mn-ea"/>
                <a:cs typeface="+mn-cs"/>
              </a:rPr>
              <a:t>. When a network partition happens or a strange timeout occurs, that underlying complexity bubbles up to your application layer. To debug it, to design for it, and to choose the right protocols and libraries, you need a solid understanding of how the network stack actually works.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communication isn't just about calling an API. It's about understanding the fragile, uncertain path your data takes and building your system's logic to survive the journey.</a:t>
            </a:r>
          </a:p>
          <a:p>
            <a:endParaRPr lang="en-IN" dirty="0"/>
          </a:p>
        </p:txBody>
      </p:sp>
      <p:sp>
        <p:nvSpPr>
          <p:cNvPr id="4" name="Slide Number Placeholder 3"/>
          <p:cNvSpPr>
            <a:spLocks noGrp="1"/>
          </p:cNvSpPr>
          <p:nvPr>
            <p:ph type="sldNum" sz="quarter" idx="5"/>
          </p:nvPr>
        </p:nvSpPr>
        <p:spPr/>
        <p:txBody>
          <a:bodyPr/>
          <a:lstStyle/>
          <a:p>
            <a:fld id="{72853293-4F00-4813-B74A-3945ABE0C2FC}" type="slidenum">
              <a:rPr lang="en-IN" smtClean="0"/>
              <a:t>3</a:t>
            </a:fld>
            <a:endParaRPr lang="en-IN"/>
          </a:p>
        </p:txBody>
      </p:sp>
    </p:spTree>
    <p:extLst>
      <p:ext uri="{BB962C8B-B14F-4D97-AF65-F5344CB8AC3E}">
        <p14:creationId xmlns:p14="http://schemas.microsoft.com/office/powerpoint/2010/main" val="2552046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54458-6F1A-71CF-CBEE-E2075CF3BF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FAE3D-48C8-B80B-5D85-72B728E34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457544-7D94-BC21-F155-D3D4912E1AF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a key design choice we must make is </a:t>
            </a:r>
            <a:r>
              <a:rPr lang="en-US" sz="1200" b="1" i="0" kern="1200" dirty="0">
                <a:solidFill>
                  <a:schemeClr val="tx1"/>
                </a:solidFill>
                <a:effectLst/>
                <a:latin typeface="+mn-lt"/>
                <a:ea typeface="+mn-ea"/>
                <a:cs typeface="+mn-cs"/>
              </a:rPr>
              <a:t>how</a:t>
            </a:r>
            <a:r>
              <a:rPr lang="en-US" sz="1200" b="0" i="0" kern="1200" dirty="0">
                <a:solidFill>
                  <a:schemeClr val="tx1"/>
                </a:solidFill>
                <a:effectLst/>
                <a:latin typeface="+mn-lt"/>
                <a:ea typeface="+mn-ea"/>
                <a:cs typeface="+mn-cs"/>
              </a:rPr>
              <a:t> components communicate. We have two fundamental patterns:</a:t>
            </a:r>
          </a:p>
          <a:p>
            <a:r>
              <a:rPr lang="en-US" sz="1200" b="1" i="0" kern="1200" dirty="0">
                <a:solidFill>
                  <a:schemeClr val="tx1"/>
                </a:solidFill>
                <a:effectLst/>
                <a:latin typeface="+mn-lt"/>
                <a:ea typeface="+mn-ea"/>
                <a:cs typeface="+mn-cs"/>
              </a:rPr>
              <a:t>Synchronous communication</a:t>
            </a:r>
            <a:r>
              <a:rPr lang="en-US" sz="1200" b="0" i="0" kern="1200" dirty="0">
                <a:solidFill>
                  <a:schemeClr val="tx1"/>
                </a:solidFill>
                <a:effectLst/>
                <a:latin typeface="+mn-lt"/>
                <a:ea typeface="+mn-ea"/>
                <a:cs typeface="+mn-cs"/>
              </a:rPr>
              <a:t>, like the HTTP call I just described, where the sender waits—blocks—until it gets a response. It's direct and simple, but fragile: if the server is slow or down, the caller is stuck waiting.</a:t>
            </a:r>
          </a:p>
          <a:p>
            <a:r>
              <a:rPr lang="en-US" sz="1200" b="1" i="0" kern="1200" dirty="0">
                <a:solidFill>
                  <a:schemeClr val="tx1"/>
                </a:solidFill>
                <a:effectLst/>
                <a:latin typeface="+mn-lt"/>
                <a:ea typeface="+mn-ea"/>
                <a:cs typeface="+mn-cs"/>
              </a:rPr>
              <a:t>Asynchronous communication</a:t>
            </a:r>
            <a:r>
              <a:rPr lang="en-US" sz="1200" b="0" i="0" kern="1200" dirty="0">
                <a:solidFill>
                  <a:schemeClr val="tx1"/>
                </a:solidFill>
                <a:effectLst/>
                <a:latin typeface="+mn-lt"/>
                <a:ea typeface="+mn-ea"/>
                <a:cs typeface="+mn-cs"/>
              </a:rPr>
              <a:t>, where a service sends a message—say, to a queue—and immediately continues its work. Another service picks up that message later and processes it. This decouples the components, making the system more resilient, but it adds complexity in tracking and guaranteeing message delivery.</a:t>
            </a:r>
          </a:p>
          <a:p>
            <a:r>
              <a:rPr lang="en-US" sz="1200" b="0" i="0" kern="1200" dirty="0">
                <a:solidFill>
                  <a:schemeClr val="tx1"/>
                </a:solidFill>
                <a:effectLst/>
                <a:latin typeface="+mn-lt"/>
                <a:ea typeface="+mn-ea"/>
                <a:cs typeface="+mn-cs"/>
              </a:rPr>
              <a:t>Now, you might think, 'This is what my networking library handles for me.' And that's true to an extent. Libraries provide crucial abstractions for both synchronous and async patterns.</a:t>
            </a:r>
          </a:p>
          <a:p>
            <a:endParaRPr lang="en-IN" dirty="0"/>
          </a:p>
        </p:txBody>
      </p:sp>
      <p:sp>
        <p:nvSpPr>
          <p:cNvPr id="4" name="Slide Number Placeholder 3">
            <a:extLst>
              <a:ext uri="{FF2B5EF4-FFF2-40B4-BE49-F238E27FC236}">
                <a16:creationId xmlns:a16="http://schemas.microsoft.com/office/drawing/2014/main" id="{93635B61-DD46-4407-D18B-4D9F32B5C580}"/>
              </a:ext>
            </a:extLst>
          </p:cNvPr>
          <p:cNvSpPr>
            <a:spLocks noGrp="1"/>
          </p:cNvSpPr>
          <p:nvPr>
            <p:ph type="sldNum" sz="quarter" idx="5"/>
          </p:nvPr>
        </p:nvSpPr>
        <p:spPr/>
        <p:txBody>
          <a:bodyPr/>
          <a:lstStyle/>
          <a:p>
            <a:fld id="{72853293-4F00-4813-B74A-3945ABE0C2FC}" type="slidenum">
              <a:rPr lang="en-IN" smtClean="0"/>
              <a:t>4</a:t>
            </a:fld>
            <a:endParaRPr lang="en-IN"/>
          </a:p>
        </p:txBody>
      </p:sp>
    </p:spTree>
    <p:extLst>
      <p:ext uri="{BB962C8B-B14F-4D97-AF65-F5344CB8AC3E}">
        <p14:creationId xmlns:p14="http://schemas.microsoft.com/office/powerpoint/2010/main" val="488556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27E3C-2533-B6AA-ADF6-E562E17A7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9A57B-B568-105C-67F1-416E4093A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A331F9-CCC4-01B6-4544-6D12921AEA9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Beyond just communicating, distributed systems face a second, even trickier challenge: </a:t>
            </a:r>
            <a:r>
              <a:rPr lang="en-US" sz="1200" b="1" i="0" kern="1200" dirty="0">
                <a:solidFill>
                  <a:schemeClr val="tx1"/>
                </a:solidFill>
                <a:effectLst/>
                <a:latin typeface="+mn-lt"/>
                <a:ea typeface="+mn-ea"/>
                <a:cs typeface="+mn-cs"/>
              </a:rPr>
              <a:t>coordination</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While communication is about </a:t>
            </a:r>
            <a:r>
              <a:rPr lang="en-US" sz="1200" b="0" i="1" kern="1200" dirty="0">
                <a:solidFill>
                  <a:schemeClr val="tx1"/>
                </a:solidFill>
                <a:effectLst/>
                <a:latin typeface="+mn-lt"/>
                <a:ea typeface="+mn-ea"/>
                <a:cs typeface="+mn-cs"/>
              </a:rPr>
              <a:t>exchanging</a:t>
            </a:r>
            <a:r>
              <a:rPr lang="en-US" sz="1200" b="0" i="0" kern="1200" dirty="0">
                <a:solidFill>
                  <a:schemeClr val="tx1"/>
                </a:solidFill>
                <a:effectLst/>
                <a:latin typeface="+mn-lt"/>
                <a:ea typeface="+mn-ea"/>
                <a:cs typeface="+mn-cs"/>
              </a:rPr>
              <a:t> messages, coordination is about </a:t>
            </a:r>
            <a:r>
              <a:rPr lang="en-US" sz="1200" b="0" i="1" kern="1200" dirty="0">
                <a:solidFill>
                  <a:schemeClr val="tx1"/>
                </a:solidFill>
                <a:effectLst/>
                <a:latin typeface="+mn-lt"/>
                <a:ea typeface="+mn-ea"/>
                <a:cs typeface="+mn-cs"/>
              </a:rPr>
              <a:t>agreeing</a:t>
            </a:r>
            <a:r>
              <a:rPr lang="en-US" sz="1200" b="0" i="0" kern="1200" dirty="0">
                <a:solidFill>
                  <a:schemeClr val="tx1"/>
                </a:solidFill>
                <a:effectLst/>
                <a:latin typeface="+mn-lt"/>
                <a:ea typeface="+mn-ea"/>
                <a:cs typeface="+mn-cs"/>
              </a:rPr>
              <a:t> on what those messages mean and making collective decisions. This is the mechanism that allows a distributed system to act as one coherent unit rather than a collection of independent parts.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Why is coordination so critical?</a:t>
            </a:r>
            <a:r>
              <a:rPr lang="en-US" sz="1200" b="0" i="0" kern="1200" dirty="0">
                <a:solidFill>
                  <a:schemeClr val="tx1"/>
                </a:solidFill>
                <a:effectLst/>
                <a:latin typeface="+mn-lt"/>
                <a:ea typeface="+mn-ea"/>
                <a:cs typeface="+mn-cs"/>
              </a:rPr>
              <a:t> Because it directly enables </a:t>
            </a:r>
            <a:r>
              <a:rPr lang="en-US" sz="1200" b="1" i="0" kern="1200" dirty="0">
                <a:solidFill>
                  <a:schemeClr val="tx1"/>
                </a:solidFill>
                <a:effectLst/>
                <a:latin typeface="+mn-lt"/>
                <a:ea typeface="+mn-ea"/>
                <a:cs typeface="+mn-cs"/>
              </a:rPr>
              <a:t>Reliability</a:t>
            </a:r>
            <a:r>
              <a:rPr lang="en-US" sz="1200" b="0" i="0" kern="1200" dirty="0">
                <a:solidFill>
                  <a:schemeClr val="tx1"/>
                </a:solidFill>
                <a:effectLst/>
                <a:latin typeface="+mn-lt"/>
                <a:ea typeface="+mn-ea"/>
                <a:cs typeface="+mn-cs"/>
              </a:rPr>
              <a:t>—the system working correctly over time. Without coordination, nodes might make conflicting decisions, corrupt data, or create inconsistent states. Think about a distributed database: if two nodes try to update the same record simultaneously without coordinating, you get data corruption.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But here's the crucial tension: </a:t>
            </a:r>
            <a:r>
              <a:rPr lang="en-US" sz="1200" b="1" i="0" kern="1200" dirty="0">
                <a:solidFill>
                  <a:schemeClr val="tx1"/>
                </a:solidFill>
                <a:effectLst/>
                <a:latin typeface="+mn-lt"/>
                <a:ea typeface="+mn-ea"/>
                <a:cs typeface="+mn-cs"/>
              </a:rPr>
              <a:t>coordination often comes at the cost of Scalability.</a:t>
            </a:r>
            <a:r>
              <a:rPr lang="en-US" sz="1200" b="0" i="0" kern="1200" dirty="0">
                <a:solidFill>
                  <a:schemeClr val="tx1"/>
                </a:solidFill>
                <a:effectLst/>
                <a:latin typeface="+mn-lt"/>
                <a:ea typeface="+mn-ea"/>
                <a:cs typeface="+mn-cs"/>
              </a:rPr>
              <a:t> The more nodes need to coordinate, the more they need to communicate and wait for each other, creating bottlenecks. This is why you'll hear about the CAP theorem later—you often have to choose between strong Consistency (requiring coordination) and Availability/Scalability.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understand why, let’s look at a famous thought experiment: </a:t>
            </a:r>
            <a:r>
              <a:rPr lang="en-US" sz="1200" b="1" i="0" kern="1200" dirty="0">
                <a:solidFill>
                  <a:schemeClr val="tx1"/>
                </a:solidFill>
                <a:effectLst/>
                <a:latin typeface="+mn-lt"/>
                <a:ea typeface="+mn-ea"/>
                <a:cs typeface="+mn-cs"/>
              </a:rPr>
              <a:t>The Two Generals Problem</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Imagine two armies, each led by a general, positioned on two hills overlooking a city. To succeed, they must attack at the exact same time. The only way to coordinate is by sending messengers through the valley between them—and any messenger can be captured by the enemy.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General 1 sends a messenger: 'Let’s attack at dawn.' But did the message get through? General 1 doesn’t know. To be sure, General 2 could send a confirmation: 'Got it, dawn it is.' But now, did </a:t>
            </a:r>
            <a:r>
              <a:rPr lang="en-US" sz="1200" b="0" i="1" kern="1200" dirty="0">
                <a:solidFill>
                  <a:schemeClr val="tx1"/>
                </a:solidFill>
                <a:effectLst/>
                <a:latin typeface="+mn-lt"/>
                <a:ea typeface="+mn-ea"/>
                <a:cs typeface="+mn-cs"/>
              </a:rPr>
              <a:t>that</a:t>
            </a:r>
            <a:r>
              <a:rPr lang="en-US" sz="1200" b="0" i="0" kern="1200" dirty="0">
                <a:solidFill>
                  <a:schemeClr val="tx1"/>
                </a:solidFill>
                <a:effectLst/>
                <a:latin typeface="+mn-lt"/>
                <a:ea typeface="+mn-ea"/>
                <a:cs typeface="+mn-cs"/>
              </a:rPr>
              <a:t> confirmation arrive? General 2 doesn’t know. You see the trap: every acknowledgment itself needs an acknowledgment.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 matter how many rounds of confirmation you add, </a:t>
            </a:r>
            <a:r>
              <a:rPr lang="en-US" sz="1200" b="1" i="0" kern="1200" dirty="0">
                <a:solidFill>
                  <a:schemeClr val="tx1"/>
                </a:solidFill>
                <a:effectLst/>
                <a:latin typeface="+mn-lt"/>
                <a:ea typeface="+mn-ea"/>
                <a:cs typeface="+mn-cs"/>
              </a:rPr>
              <a:t>you can never achieve absolute certainty</a:t>
            </a:r>
            <a:r>
              <a:rPr lang="en-US" sz="1200" b="0" i="0" kern="1200" dirty="0">
                <a:solidFill>
                  <a:schemeClr val="tx1"/>
                </a:solidFill>
                <a:effectLst/>
                <a:latin typeface="+mn-lt"/>
                <a:ea typeface="+mn-ea"/>
                <a:cs typeface="+mn-cs"/>
              </a:rPr>
              <a:t> that both generals will attack together. This isn’t just a story—it’s a mathematical proof that perfect coordination over an unreliable network is </a:t>
            </a:r>
            <a:r>
              <a:rPr lang="en-US" sz="1200" b="0" i="1" kern="1200" dirty="0">
                <a:solidFill>
                  <a:schemeClr val="tx1"/>
                </a:solidFill>
                <a:effectLst/>
                <a:latin typeface="+mn-lt"/>
                <a:ea typeface="+mn-ea"/>
                <a:cs typeface="+mn-cs"/>
              </a:rPr>
              <a:t>impossible</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reveals the profound difficulty of coordination in real systems. It’s why we need sophisticated algorithms—like consensus protocols—to reach practical, if not perfect, agreement.</a:t>
            </a:r>
          </a:p>
          <a:p>
            <a:r>
              <a:rPr lang="en-US" sz="1200" b="0" i="0" kern="1200" dirty="0">
                <a:solidFill>
                  <a:schemeClr val="tx1"/>
                </a:solidFill>
                <a:effectLst/>
                <a:latin typeface="+mn-lt"/>
                <a:ea typeface="+mn-ea"/>
                <a:cs typeface="+mn-cs"/>
              </a:rPr>
              <a:t>Because this topic is so foundational, </a:t>
            </a:r>
            <a:r>
              <a:rPr lang="en-US" sz="1200" b="1" i="0" kern="1200" dirty="0">
                <a:solidFill>
                  <a:schemeClr val="tx1"/>
                </a:solidFill>
                <a:effectLst/>
                <a:latin typeface="+mn-lt"/>
                <a:ea typeface="+mn-ea"/>
                <a:cs typeface="+mn-cs"/>
              </a:rPr>
              <a:t>the entire second part of this book is dedicated to the distributed algorithms that make coordination possible</a:t>
            </a:r>
            <a:r>
              <a:rPr lang="en-US" sz="1200" b="0" i="0" kern="1200" dirty="0">
                <a:solidFill>
                  <a:schemeClr val="tx1"/>
                </a:solidFill>
                <a:effectLst/>
                <a:latin typeface="+mn-lt"/>
                <a:ea typeface="+mn-ea"/>
                <a:cs typeface="+mn-cs"/>
              </a:rPr>
              <a:t> in the imperfect world we build in.</a:t>
            </a:r>
          </a:p>
          <a:p>
            <a:endParaRPr lang="en-IN" dirty="0"/>
          </a:p>
        </p:txBody>
      </p:sp>
      <p:sp>
        <p:nvSpPr>
          <p:cNvPr id="4" name="Slide Number Placeholder 3">
            <a:extLst>
              <a:ext uri="{FF2B5EF4-FFF2-40B4-BE49-F238E27FC236}">
                <a16:creationId xmlns:a16="http://schemas.microsoft.com/office/drawing/2014/main" id="{9D3C12D5-0BBB-866F-0E8A-5EFE0990E46A}"/>
              </a:ext>
            </a:extLst>
          </p:cNvPr>
          <p:cNvSpPr>
            <a:spLocks noGrp="1"/>
          </p:cNvSpPr>
          <p:nvPr>
            <p:ph type="sldNum" sz="quarter" idx="5"/>
          </p:nvPr>
        </p:nvSpPr>
        <p:spPr/>
        <p:txBody>
          <a:bodyPr/>
          <a:lstStyle/>
          <a:p>
            <a:fld id="{72853293-4F00-4813-B74A-3945ABE0C2FC}" type="slidenum">
              <a:rPr lang="en-IN" smtClean="0"/>
              <a:t>5</a:t>
            </a:fld>
            <a:endParaRPr lang="en-IN"/>
          </a:p>
        </p:txBody>
      </p:sp>
    </p:spTree>
    <p:extLst>
      <p:ext uri="{BB962C8B-B14F-4D97-AF65-F5344CB8AC3E}">
        <p14:creationId xmlns:p14="http://schemas.microsoft.com/office/powerpoint/2010/main" val="726547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A1BFE-9B1D-2922-D05B-B7BD79BF3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25E71-D048-BFA6-3404-F1B2D8D03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3B34BF-5F7D-FDF0-FBCF-A86EC46F362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After communication and coordination, we come to one of the most discussed attributes: </a:t>
            </a:r>
            <a:r>
              <a:rPr lang="en-US" sz="1200" b="1" i="0" kern="1200" dirty="0">
                <a:solidFill>
                  <a:schemeClr val="tx1"/>
                </a:solidFill>
                <a:effectLst/>
                <a:latin typeface="+mn-lt"/>
                <a:ea typeface="+mn-ea"/>
                <a:cs typeface="+mn-cs"/>
              </a:rPr>
              <a:t>Consistency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 simple terms, consistency is the promise that </a:t>
            </a:r>
            <a:r>
              <a:rPr lang="en-US" sz="1200" b="1" i="0" kern="1200" dirty="0">
                <a:solidFill>
                  <a:schemeClr val="tx1"/>
                </a:solidFill>
                <a:effectLst/>
                <a:latin typeface="+mn-lt"/>
                <a:ea typeface="+mn-ea"/>
                <a:cs typeface="+mn-cs"/>
              </a:rPr>
              <a:t>everyone sees the same thing at the same time</a:t>
            </a:r>
            <a:r>
              <a:rPr lang="en-US" sz="1200" b="0" i="0" kern="1200" dirty="0">
                <a:solidFill>
                  <a:schemeClr val="tx1"/>
                </a:solidFill>
                <a:effectLst/>
                <a:latin typeface="+mn-lt"/>
                <a:ea typeface="+mn-ea"/>
                <a:cs typeface="+mn-cs"/>
              </a:rPr>
              <a:t>. Imagine you and a friend are both looking at the same social media post on your phones. If you refresh and see 10 likes, but your friend sees 11, that's an </a:t>
            </a:r>
            <a:r>
              <a:rPr lang="en-US" sz="1200" b="1" i="0" kern="1200" dirty="0">
                <a:solidFill>
                  <a:schemeClr val="tx1"/>
                </a:solidFill>
                <a:effectLst/>
                <a:latin typeface="+mn-lt"/>
                <a:ea typeface="+mn-ea"/>
                <a:cs typeface="+mn-cs"/>
              </a:rPr>
              <a:t>inconsistency</a:t>
            </a:r>
            <a:r>
              <a:rPr lang="en-US" sz="1200" b="0" i="0" kern="1200" dirty="0">
                <a:solidFill>
                  <a:schemeClr val="tx1"/>
                </a:solidFill>
                <a:effectLst/>
                <a:latin typeface="+mn-lt"/>
                <a:ea typeface="+mn-ea"/>
                <a:cs typeface="+mn-cs"/>
              </a:rPr>
              <a:t>. For a social post, maybe that's okay. But for your bank account balance? That inconsistency is completely unacceptable.</a:t>
            </a:r>
          </a:p>
          <a:p>
            <a:r>
              <a:rPr lang="en-US" sz="1200" b="0" i="0" kern="1200" dirty="0">
                <a:solidFill>
                  <a:schemeClr val="tx1"/>
                </a:solidFill>
                <a:effectLst/>
                <a:latin typeface="+mn-lt"/>
                <a:ea typeface="+mn-ea"/>
                <a:cs typeface="+mn-cs"/>
              </a:rPr>
              <a:t>So, we define consistency as the guarantee that data is </a:t>
            </a:r>
            <a:r>
              <a:rPr lang="en-US" sz="1200" b="1" i="0" kern="1200" dirty="0">
                <a:solidFill>
                  <a:schemeClr val="tx1"/>
                </a:solidFill>
                <a:effectLst/>
                <a:latin typeface="+mn-lt"/>
                <a:ea typeface="+mn-ea"/>
                <a:cs typeface="+mn-cs"/>
              </a:rPr>
              <a:t>uniform and accurate</a:t>
            </a:r>
            <a:r>
              <a:rPr lang="en-US" sz="1200" b="0" i="0" kern="1200" dirty="0">
                <a:solidFill>
                  <a:schemeClr val="tx1"/>
                </a:solidFill>
                <a:effectLst/>
                <a:latin typeface="+mn-lt"/>
                <a:ea typeface="+mn-ea"/>
                <a:cs typeface="+mn-cs"/>
              </a:rPr>
              <a:t> across all parts of a distributed system. The goal is to make a system with many copies of data behave as if there's just </a:t>
            </a:r>
            <a:r>
              <a:rPr lang="en-US" sz="1200" b="1" i="0" kern="1200" dirty="0">
                <a:solidFill>
                  <a:schemeClr val="tx1"/>
                </a:solidFill>
                <a:effectLst/>
                <a:latin typeface="+mn-lt"/>
                <a:ea typeface="+mn-ea"/>
                <a:cs typeface="+mn-cs"/>
              </a:rPr>
              <a:t>one single source of truth</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Why is this so hard? Because in a distributed system, we </a:t>
            </a:r>
            <a:r>
              <a:rPr lang="en-US" sz="1200" b="0" i="1" kern="1200" dirty="0">
                <a:solidFill>
                  <a:schemeClr val="tx1"/>
                </a:solidFill>
                <a:effectLst/>
                <a:latin typeface="+mn-lt"/>
                <a:ea typeface="+mn-ea"/>
                <a:cs typeface="+mn-cs"/>
              </a:rPr>
              <a:t>replicate</a:t>
            </a:r>
            <a:r>
              <a:rPr lang="en-US" sz="1200" b="0" i="0" kern="1200" dirty="0">
                <a:solidFill>
                  <a:schemeClr val="tx1"/>
                </a:solidFill>
                <a:effectLst/>
                <a:latin typeface="+mn-lt"/>
                <a:ea typeface="+mn-ea"/>
                <a:cs typeface="+mn-cs"/>
              </a:rPr>
              <a:t> data across different servers for reliability and speed. When an update happens—say, you add a 'like'—the system must now </a:t>
            </a:r>
            <a:r>
              <a:rPr lang="en-US" sz="1200" b="1" i="0" kern="1200" dirty="0">
                <a:solidFill>
                  <a:schemeClr val="tx1"/>
                </a:solidFill>
                <a:effectLst/>
                <a:latin typeface="+mn-lt"/>
                <a:ea typeface="+mn-ea"/>
                <a:cs typeface="+mn-cs"/>
              </a:rPr>
              <a:t>update all those copies</a:t>
            </a:r>
            <a:r>
              <a:rPr lang="en-US" sz="1200" b="0" i="0" kern="1200" dirty="0">
                <a:solidFill>
                  <a:schemeClr val="tx1"/>
                </a:solidFill>
                <a:effectLst/>
                <a:latin typeface="+mn-lt"/>
                <a:ea typeface="+mn-ea"/>
                <a:cs typeface="+mn-cs"/>
              </a:rPr>
              <a:t>. Doing this instantly and perfectly requires a lot of </a:t>
            </a:r>
            <a:r>
              <a:rPr lang="en-US" sz="1200" b="1" i="0" kern="1200" dirty="0">
                <a:solidFill>
                  <a:schemeClr val="tx1"/>
                </a:solidFill>
                <a:effectLst/>
                <a:latin typeface="+mn-lt"/>
                <a:ea typeface="+mn-ea"/>
                <a:cs typeface="+mn-cs"/>
              </a:rPr>
              <a:t>coordination</a:t>
            </a:r>
            <a:r>
              <a:rPr lang="en-US" sz="1200" b="0" i="0" kern="1200" dirty="0">
                <a:solidFill>
                  <a:schemeClr val="tx1"/>
                </a:solidFill>
                <a:effectLst/>
                <a:latin typeface="+mn-lt"/>
                <a:ea typeface="+mn-ea"/>
                <a:cs typeface="+mn-cs"/>
              </a:rPr>
              <a:t> and communication, which we just learned is difficult and slow.</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But achieving this perfect consistency comes with trade-offs that force us to make design choices. This brings us to the different types of consistency models we can implement.</a:t>
            </a:r>
          </a:p>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0EC5A27-CBFF-CF89-B9E4-F1104B398CEC}"/>
              </a:ext>
            </a:extLst>
          </p:cNvPr>
          <p:cNvSpPr>
            <a:spLocks noGrp="1"/>
          </p:cNvSpPr>
          <p:nvPr>
            <p:ph type="sldNum" sz="quarter" idx="5"/>
          </p:nvPr>
        </p:nvSpPr>
        <p:spPr/>
        <p:txBody>
          <a:bodyPr/>
          <a:lstStyle/>
          <a:p>
            <a:fld id="{72853293-4F00-4813-B74A-3945ABE0C2FC}" type="slidenum">
              <a:rPr lang="en-IN" smtClean="0"/>
              <a:t>6</a:t>
            </a:fld>
            <a:endParaRPr lang="en-IN"/>
          </a:p>
        </p:txBody>
      </p:sp>
    </p:spTree>
    <p:extLst>
      <p:ext uri="{BB962C8B-B14F-4D97-AF65-F5344CB8AC3E}">
        <p14:creationId xmlns:p14="http://schemas.microsoft.com/office/powerpoint/2010/main" val="2003346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3B3FF-FFC8-FE08-8666-651667716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744C4-97C9-6C9D-7B15-AEFDBB8672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393D0F-CBBB-6D43-F786-2B6CB97EC4FA}"/>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Because perfect consistency is so costly, we've developed different </a:t>
            </a:r>
            <a:r>
              <a:rPr lang="en-US" sz="1200" b="1" i="0" kern="1200" dirty="0">
                <a:solidFill>
                  <a:schemeClr val="tx1"/>
                </a:solidFill>
                <a:effectLst/>
                <a:latin typeface="+mn-lt"/>
                <a:ea typeface="+mn-ea"/>
                <a:cs typeface="+mn-cs"/>
              </a:rPr>
              <a:t>consistency models</a:t>
            </a:r>
            <a:r>
              <a:rPr lang="en-US" sz="1200" b="0" i="0" kern="1200" dirty="0">
                <a:solidFill>
                  <a:schemeClr val="tx1"/>
                </a:solidFill>
                <a:effectLst/>
                <a:latin typeface="+mn-lt"/>
                <a:ea typeface="+mn-ea"/>
                <a:cs typeface="+mn-cs"/>
              </a:rPr>
              <a:t> that let us make intelligent trade-offs based on our application's needs.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leads to the fundamental trade-off. </a:t>
            </a:r>
            <a:r>
              <a:rPr lang="en-US" sz="1200" b="1" i="0" kern="1200" dirty="0">
                <a:solidFill>
                  <a:schemeClr val="tx1"/>
                </a:solidFill>
                <a:effectLst/>
                <a:latin typeface="+mn-lt"/>
                <a:ea typeface="+mn-ea"/>
                <a:cs typeface="+mn-cs"/>
              </a:rPr>
              <a:t>Strong Consistency</a:t>
            </a:r>
            <a:r>
              <a:rPr lang="en-US" sz="1200" b="0" i="0" kern="1200" dirty="0">
                <a:solidFill>
                  <a:schemeClr val="tx1"/>
                </a:solidFill>
                <a:effectLst/>
                <a:latin typeface="+mn-lt"/>
                <a:ea typeface="+mn-ea"/>
                <a:cs typeface="+mn-cs"/>
              </a:rPr>
              <a:t>—where every user always sees the latest data—can make the system feel slower or even become unavailable if a node fails. Sometimes, we consciously choose </a:t>
            </a:r>
            <a:r>
              <a:rPr lang="en-US" sz="1200" b="1" i="0" kern="1200" dirty="0">
                <a:solidFill>
                  <a:schemeClr val="tx1"/>
                </a:solidFill>
                <a:effectLst/>
                <a:latin typeface="+mn-lt"/>
                <a:ea typeface="+mn-ea"/>
                <a:cs typeface="+mn-cs"/>
              </a:rPr>
              <a:t>weaker Consistency</a:t>
            </a:r>
            <a:r>
              <a:rPr lang="en-US" sz="1200" b="0" i="0" kern="1200" dirty="0">
                <a:solidFill>
                  <a:schemeClr val="tx1"/>
                </a:solidFill>
                <a:effectLst/>
                <a:latin typeface="+mn-lt"/>
                <a:ea typeface="+mn-ea"/>
                <a:cs typeface="+mn-cs"/>
              </a:rPr>
              <a:t> for the sake of better availability and speed, accepting that users might briefly see stale data.</a:t>
            </a:r>
          </a:p>
          <a:p>
            <a:r>
              <a:rPr lang="en-US" sz="1200" b="0" i="0" kern="1200" dirty="0">
                <a:solidFill>
                  <a:schemeClr val="tx1"/>
                </a:solidFill>
                <a:effectLst/>
                <a:latin typeface="+mn-lt"/>
                <a:ea typeface="+mn-ea"/>
                <a:cs typeface="+mn-cs"/>
              </a:rPr>
              <a:t>Think of it this way:</a:t>
            </a:r>
          </a:p>
          <a:p>
            <a:r>
              <a:rPr lang="en-US" sz="1200" b="1" i="0" kern="1200" dirty="0">
                <a:solidFill>
                  <a:schemeClr val="tx1"/>
                </a:solidFill>
                <a:effectLst/>
                <a:latin typeface="+mn-lt"/>
                <a:ea typeface="+mn-ea"/>
                <a:cs typeface="+mn-cs"/>
              </a:rPr>
              <a:t>Your bank account requires strong consistency.</a:t>
            </a:r>
            <a:r>
              <a:rPr lang="en-US" sz="1200" b="0" i="0" kern="1200" dirty="0">
                <a:solidFill>
                  <a:schemeClr val="tx1"/>
                </a:solidFill>
                <a:effectLst/>
                <a:latin typeface="+mn-lt"/>
                <a:ea typeface="+mn-ea"/>
                <a:cs typeface="+mn-cs"/>
              </a:rPr>
              <a:t> Every transaction must be instantly reflected everywhere.</a:t>
            </a:r>
          </a:p>
          <a:p>
            <a:r>
              <a:rPr lang="en-US" sz="1200" b="1" i="0" kern="1200" dirty="0">
                <a:solidFill>
                  <a:schemeClr val="tx1"/>
                </a:solidFill>
                <a:effectLst/>
                <a:latin typeface="+mn-lt"/>
                <a:ea typeface="+mn-ea"/>
                <a:cs typeface="+mn-cs"/>
              </a:rPr>
              <a:t>A social media 'like' counter can often use weaker consistency.</a:t>
            </a:r>
            <a:r>
              <a:rPr lang="en-US" sz="1200" b="0" i="0" kern="1200" dirty="0">
                <a:solidFill>
                  <a:schemeClr val="tx1"/>
                </a:solidFill>
                <a:effectLst/>
                <a:latin typeface="+mn-lt"/>
                <a:ea typeface="+mn-ea"/>
                <a:cs typeface="+mn-cs"/>
              </a:rPr>
              <a:t> It's acceptable if the number is slightly off for a second.</a:t>
            </a:r>
          </a:p>
          <a:p>
            <a:r>
              <a:rPr lang="en-US" sz="1200" b="0" i="0" kern="1200" dirty="0">
                <a:solidFill>
                  <a:schemeClr val="tx1"/>
                </a:solidFill>
                <a:effectLst/>
                <a:latin typeface="+mn-lt"/>
                <a:ea typeface="+mn-ea"/>
                <a:cs typeface="+mn-cs"/>
              </a:rPr>
              <a:t>Getting this trade-off right is at the heart of designing data systems. </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On one end, we have </a:t>
            </a:r>
            <a:r>
              <a:rPr lang="en-US" sz="1200" b="1" i="0" kern="1200" dirty="0">
                <a:solidFill>
                  <a:schemeClr val="tx1"/>
                </a:solidFill>
                <a:effectLst/>
                <a:latin typeface="+mn-lt"/>
                <a:ea typeface="+mn-ea"/>
                <a:cs typeface="+mn-cs"/>
              </a:rPr>
              <a:t>Strong Consistency</a:t>
            </a:r>
            <a:r>
              <a:rPr lang="en-US" sz="1200" b="0" i="0" kern="1200" dirty="0">
                <a:solidFill>
                  <a:schemeClr val="tx1"/>
                </a:solidFill>
                <a:effectLst/>
                <a:latin typeface="+mn-lt"/>
                <a:ea typeface="+mn-ea"/>
                <a:cs typeface="+mn-cs"/>
              </a:rPr>
              <a:t>. This is the strictest model. Here, the system guarantees that any read operation will return the most recent write. It makes the entire distributed database feel like a single, up-to-date server. This is non-negotiable for systems like banking or stock trading. The cost? It can be slower, as the system must coordinate to update all copies before confirming a write, and it might become unavailable if parts of the system fail.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On the other end, we have </a:t>
            </a:r>
            <a:r>
              <a:rPr lang="en-US" sz="1200" b="1" i="0" kern="1200" dirty="0">
                <a:solidFill>
                  <a:schemeClr val="tx1"/>
                </a:solidFill>
                <a:effectLst/>
                <a:latin typeface="+mn-lt"/>
                <a:ea typeface="+mn-ea"/>
                <a:cs typeface="+mn-cs"/>
              </a:rPr>
              <a:t>Eventual Consistency</a:t>
            </a:r>
            <a:r>
              <a:rPr lang="en-US" sz="1200" b="0" i="0" kern="1200" dirty="0">
                <a:solidFill>
                  <a:schemeClr val="tx1"/>
                </a:solidFill>
                <a:effectLst/>
                <a:latin typeface="+mn-lt"/>
                <a:ea typeface="+mn-ea"/>
                <a:cs typeface="+mn-cs"/>
              </a:rPr>
              <a:t>. This model prioritizes availability and speed. It allows different nodes to have slightly different data for a short period. The guarantee is simple: if you stop making updates, eventually all nodes will settle on the same value. This is perfectly acceptable for features like social media likes, comments, or a non-critical product catalog. You get a faster, more resilient system in exchange for temporary inconsistency.</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IN" dirty="0"/>
          </a:p>
        </p:txBody>
      </p:sp>
      <p:sp>
        <p:nvSpPr>
          <p:cNvPr id="4" name="Slide Number Placeholder 3">
            <a:extLst>
              <a:ext uri="{FF2B5EF4-FFF2-40B4-BE49-F238E27FC236}">
                <a16:creationId xmlns:a16="http://schemas.microsoft.com/office/drawing/2014/main" id="{58F3068B-54BB-74E8-D2AD-81F12B3A5BD8}"/>
              </a:ext>
            </a:extLst>
          </p:cNvPr>
          <p:cNvSpPr>
            <a:spLocks noGrp="1"/>
          </p:cNvSpPr>
          <p:nvPr>
            <p:ph type="sldNum" sz="quarter" idx="5"/>
          </p:nvPr>
        </p:nvSpPr>
        <p:spPr/>
        <p:txBody>
          <a:bodyPr/>
          <a:lstStyle/>
          <a:p>
            <a:fld id="{72853293-4F00-4813-B74A-3945ABE0C2FC}" type="slidenum">
              <a:rPr lang="en-IN" smtClean="0"/>
              <a:t>7</a:t>
            </a:fld>
            <a:endParaRPr lang="en-IN"/>
          </a:p>
        </p:txBody>
      </p:sp>
    </p:spTree>
    <p:extLst>
      <p:ext uri="{BB962C8B-B14F-4D97-AF65-F5344CB8AC3E}">
        <p14:creationId xmlns:p14="http://schemas.microsoft.com/office/powerpoint/2010/main" val="980007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9F8D9-7CB7-F04B-BCF0-FEFD60E26C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86795-BABC-3EFF-781B-690D6C3A2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AED4BD-536B-2244-7FC0-E4FBDBC3C7F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Let's talk about </a:t>
            </a:r>
            <a:r>
              <a:rPr lang="en-US" sz="1200" b="1" i="0" kern="1200" dirty="0">
                <a:solidFill>
                  <a:schemeClr val="tx1"/>
                </a:solidFill>
                <a:effectLst/>
                <a:latin typeface="+mn-lt"/>
                <a:ea typeface="+mn-ea"/>
                <a:cs typeface="+mn-cs"/>
              </a:rPr>
              <a:t>Availability</a:t>
            </a:r>
            <a:r>
              <a:rPr lang="en-US" sz="1200" b="0" i="0" kern="1200" dirty="0">
                <a:solidFill>
                  <a:schemeClr val="tx1"/>
                </a:solidFill>
                <a:effectLst/>
                <a:latin typeface="+mn-lt"/>
                <a:ea typeface="+mn-ea"/>
                <a:cs typeface="+mn-cs"/>
              </a:rPr>
              <a:t> - one of the most user-visible attributes of any system.</a:t>
            </a:r>
          </a:p>
          <a:p>
            <a:r>
              <a:rPr lang="en-US" sz="1200" b="0" i="0" kern="1200" dirty="0">
                <a:solidFill>
                  <a:schemeClr val="tx1"/>
                </a:solidFill>
                <a:effectLst/>
                <a:latin typeface="+mn-lt"/>
                <a:ea typeface="+mn-ea"/>
                <a:cs typeface="+mn-cs"/>
              </a:rPr>
              <a:t>At its core, availability is about </a:t>
            </a:r>
            <a:r>
              <a:rPr lang="en-US" sz="1200" b="1" i="0" kern="1200" dirty="0">
                <a:solidFill>
                  <a:schemeClr val="tx1"/>
                </a:solidFill>
                <a:effectLst/>
                <a:latin typeface="+mn-lt"/>
                <a:ea typeface="+mn-ea"/>
                <a:cs typeface="+mn-cs"/>
              </a:rPr>
              <a:t>accessibility</a:t>
            </a:r>
            <a:r>
              <a:rPr lang="en-US" sz="1200" b="0" i="0" kern="1200" dirty="0">
                <a:solidFill>
                  <a:schemeClr val="tx1"/>
                </a:solidFill>
                <a:effectLst/>
                <a:latin typeface="+mn-lt"/>
                <a:ea typeface="+mn-ea"/>
                <a:cs typeface="+mn-cs"/>
              </a:rPr>
              <a:t>. It answers the question: 'Can users reach and use the service right now?' When you click on an app icon, availability determines whether you get a working interface or an error message.</a:t>
            </a:r>
          </a:p>
          <a:p>
            <a:r>
              <a:rPr lang="en-US" sz="1200" b="0" i="0" kern="1200" dirty="0">
                <a:solidFill>
                  <a:schemeClr val="tx1"/>
                </a:solidFill>
                <a:effectLst/>
                <a:latin typeface="+mn-lt"/>
                <a:ea typeface="+mn-ea"/>
                <a:cs typeface="+mn-cs"/>
              </a:rPr>
              <a:t>Think of it like a store's opening hours. A 24/7 convenience store has near-perfect availability - you can almost always get in. A bank with 9-to-5 hours has lower availability - there are times when you simply cannot access the service.</a:t>
            </a:r>
          </a:p>
          <a:p>
            <a:endParaRPr lang="en-IN" dirty="0"/>
          </a:p>
          <a:p>
            <a:endParaRPr lang="en-IN" dirty="0"/>
          </a:p>
        </p:txBody>
      </p:sp>
      <p:sp>
        <p:nvSpPr>
          <p:cNvPr id="4" name="Slide Number Placeholder 3">
            <a:extLst>
              <a:ext uri="{FF2B5EF4-FFF2-40B4-BE49-F238E27FC236}">
                <a16:creationId xmlns:a16="http://schemas.microsoft.com/office/drawing/2014/main" id="{3E54D30E-D6CF-9879-1109-D0763984E865}"/>
              </a:ext>
            </a:extLst>
          </p:cNvPr>
          <p:cNvSpPr>
            <a:spLocks noGrp="1"/>
          </p:cNvSpPr>
          <p:nvPr>
            <p:ph type="sldNum" sz="quarter" idx="5"/>
          </p:nvPr>
        </p:nvSpPr>
        <p:spPr/>
        <p:txBody>
          <a:bodyPr/>
          <a:lstStyle/>
          <a:p>
            <a:fld id="{72853293-4F00-4813-B74A-3945ABE0C2FC}" type="slidenum">
              <a:rPr lang="en-IN" smtClean="0"/>
              <a:t>8</a:t>
            </a:fld>
            <a:endParaRPr lang="en-IN"/>
          </a:p>
        </p:txBody>
      </p:sp>
    </p:spTree>
    <p:extLst>
      <p:ext uri="{BB962C8B-B14F-4D97-AF65-F5344CB8AC3E}">
        <p14:creationId xmlns:p14="http://schemas.microsoft.com/office/powerpoint/2010/main" val="2667916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B3935-8224-AC58-BAAA-72C03BD35A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CAF8DB-4FBB-8567-E8C5-65865FE06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EBAE9-4F23-D033-EBBD-0F108FD75FF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In distributed systems, we measure availability in '</a:t>
            </a:r>
            <a:r>
              <a:rPr lang="en-US" sz="1200" b="1" i="0" kern="1200" dirty="0">
                <a:solidFill>
                  <a:schemeClr val="tx1"/>
                </a:solidFill>
                <a:effectLst/>
                <a:latin typeface="+mn-lt"/>
                <a:ea typeface="+mn-ea"/>
                <a:cs typeface="+mn-cs"/>
              </a:rPr>
              <a:t>Nines</a:t>
            </a:r>
            <a:r>
              <a:rPr lang="en-US" sz="1200" b="0" i="0" kern="1200" dirty="0">
                <a:solidFill>
                  <a:schemeClr val="tx1"/>
                </a:solidFill>
                <a:effectLst/>
                <a:latin typeface="+mn-lt"/>
                <a:ea typeface="+mn-ea"/>
                <a:cs typeface="+mn-cs"/>
              </a:rPr>
              <a:t>' - and each additional nine represents a quantum leap in reliability engineering.</a:t>
            </a:r>
          </a:p>
          <a:p>
            <a:r>
              <a:rPr lang="en-US" sz="1200" b="0" i="0" kern="1200" dirty="0">
                <a:solidFill>
                  <a:schemeClr val="tx1"/>
                </a:solidFill>
                <a:effectLst/>
                <a:latin typeface="+mn-lt"/>
                <a:ea typeface="+mn-ea"/>
                <a:cs typeface="+mn-cs"/>
              </a:rPr>
              <a:t>Look at this table. </a:t>
            </a:r>
            <a:r>
              <a:rPr lang="en-US" sz="1200" b="1" i="0" kern="1200" dirty="0">
                <a:solidFill>
                  <a:schemeClr val="tx1"/>
                </a:solidFill>
                <a:effectLst/>
                <a:latin typeface="+mn-lt"/>
                <a:ea typeface="+mn-ea"/>
                <a:cs typeface="+mn-cs"/>
              </a:rPr>
              <a:t>99% availability</a:t>
            </a:r>
            <a:r>
              <a:rPr lang="en-US" sz="1200" b="0" i="0" kern="1200" dirty="0">
                <a:solidFill>
                  <a:schemeClr val="tx1"/>
                </a:solidFill>
                <a:effectLst/>
                <a:latin typeface="+mn-lt"/>
                <a:ea typeface="+mn-ea"/>
                <a:cs typeface="+mn-cs"/>
              </a:rPr>
              <a:t> - that's 'two nines' - sounds pretty good, right? But it means </a:t>
            </a:r>
            <a:r>
              <a:rPr lang="en-US" sz="1200" b="1" i="0" kern="1200" dirty="0">
                <a:solidFill>
                  <a:schemeClr val="tx1"/>
                </a:solidFill>
                <a:effectLst/>
                <a:latin typeface="+mn-lt"/>
                <a:ea typeface="+mn-ea"/>
                <a:cs typeface="+mn-cs"/>
              </a:rPr>
              <a:t>3.65 DAYS of downtime per year</a:t>
            </a:r>
            <a:r>
              <a:rPr lang="en-US" sz="1200" b="0" i="0" kern="1200" dirty="0">
                <a:solidFill>
                  <a:schemeClr val="tx1"/>
                </a:solidFill>
                <a:effectLst/>
                <a:latin typeface="+mn-lt"/>
                <a:ea typeface="+mn-ea"/>
                <a:cs typeface="+mn-cs"/>
              </a:rPr>
              <a:t>. For most online businesses today, that's completely unacceptable.</a:t>
            </a:r>
          </a:p>
          <a:p>
            <a:r>
              <a:rPr lang="en-US" sz="1200" b="0" i="0" kern="1200" dirty="0">
                <a:solidFill>
                  <a:schemeClr val="tx1"/>
                </a:solidFill>
                <a:effectLst/>
                <a:latin typeface="+mn-lt"/>
                <a:ea typeface="+mn-ea"/>
                <a:cs typeface="+mn-cs"/>
              </a:rPr>
              <a:t>Now look at </a:t>
            </a:r>
            <a:r>
              <a:rPr lang="en-US" sz="1200" b="1" i="0" kern="1200" dirty="0">
                <a:solidFill>
                  <a:schemeClr val="tx1"/>
                </a:solidFill>
                <a:effectLst/>
                <a:latin typeface="+mn-lt"/>
                <a:ea typeface="+mn-ea"/>
                <a:cs typeface="+mn-cs"/>
              </a:rPr>
              <a:t>99.99%</a:t>
            </a:r>
            <a:r>
              <a:rPr lang="en-US" sz="1200" b="0" i="0" kern="1200" dirty="0">
                <a:solidFill>
                  <a:schemeClr val="tx1"/>
                </a:solidFill>
                <a:effectLst/>
                <a:latin typeface="+mn-lt"/>
                <a:ea typeface="+mn-ea"/>
                <a:cs typeface="+mn-cs"/>
              </a:rPr>
              <a:t> - 'four nines'. That's just </a:t>
            </a:r>
            <a:r>
              <a:rPr lang="en-US" sz="1200" b="1" i="0" kern="1200" dirty="0">
                <a:solidFill>
                  <a:schemeClr val="tx1"/>
                </a:solidFill>
                <a:effectLst/>
                <a:latin typeface="+mn-lt"/>
                <a:ea typeface="+mn-ea"/>
                <a:cs typeface="+mn-cs"/>
              </a:rPr>
              <a:t>52 minutes of downtime per year</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99.999%</a:t>
            </a:r>
            <a:r>
              <a:rPr lang="en-US" sz="1200" b="0" i="0" kern="1200" dirty="0">
                <a:solidFill>
                  <a:schemeClr val="tx1"/>
                </a:solidFill>
                <a:effectLst/>
                <a:latin typeface="+mn-lt"/>
                <a:ea typeface="+mn-ea"/>
                <a:cs typeface="+mn-cs"/>
              </a:rPr>
              <a:t> - 'five nines' - is only </a:t>
            </a:r>
            <a:r>
              <a:rPr lang="en-US" sz="1200" b="1" i="0" kern="1200" dirty="0">
                <a:solidFill>
                  <a:schemeClr val="tx1"/>
                </a:solidFill>
                <a:effectLst/>
                <a:latin typeface="+mn-lt"/>
                <a:ea typeface="+mn-ea"/>
                <a:cs typeface="+mn-cs"/>
              </a:rPr>
              <a:t>5 minutes per year</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This progression isn't linear - it's exponential. Going from 99% to 99.9% means reducing downtime from 87.6 hours to 8.76 hours per year. That's a </a:t>
            </a:r>
            <a:r>
              <a:rPr lang="en-US" sz="1200" b="1" i="0" kern="1200" dirty="0">
                <a:solidFill>
                  <a:schemeClr val="tx1"/>
                </a:solidFill>
                <a:effectLst/>
                <a:latin typeface="+mn-lt"/>
                <a:ea typeface="+mn-ea"/>
                <a:cs typeface="+mn-cs"/>
              </a:rPr>
              <a:t>90% improvement</a:t>
            </a:r>
            <a:r>
              <a:rPr lang="en-US" sz="1200" b="0" i="0" kern="1200" dirty="0">
                <a:solidFill>
                  <a:schemeClr val="tx1"/>
                </a:solidFill>
                <a:effectLst/>
                <a:latin typeface="+mn-lt"/>
                <a:ea typeface="+mn-ea"/>
                <a:cs typeface="+mn-cs"/>
              </a:rPr>
              <a:t> with just one additional nine.</a:t>
            </a:r>
          </a:p>
          <a:p>
            <a:endParaRPr lang="en-IN" dirty="0"/>
          </a:p>
          <a:p>
            <a:r>
              <a:rPr lang="en-US" sz="1200" b="0" i="0" kern="1200" dirty="0">
                <a:solidFill>
                  <a:schemeClr val="tx1"/>
                </a:solidFill>
                <a:effectLst/>
                <a:latin typeface="+mn-lt"/>
                <a:ea typeface="+mn-ea"/>
                <a:cs typeface="+mn-cs"/>
              </a:rPr>
              <a:t>But here's the catch: each additional nine typically costs </a:t>
            </a:r>
            <a:r>
              <a:rPr lang="en-US" sz="1200" b="1" i="0" kern="1200" dirty="0">
                <a:solidFill>
                  <a:schemeClr val="tx1"/>
                </a:solidFill>
                <a:effectLst/>
                <a:latin typeface="+mn-lt"/>
                <a:ea typeface="+mn-ea"/>
                <a:cs typeface="+mn-cs"/>
              </a:rPr>
              <a:t>10 times more</a:t>
            </a:r>
            <a:r>
              <a:rPr lang="en-US" sz="1200" b="0" i="0" kern="1200" dirty="0">
                <a:solidFill>
                  <a:schemeClr val="tx1"/>
                </a:solidFill>
                <a:effectLst/>
                <a:latin typeface="+mn-lt"/>
                <a:ea typeface="+mn-ea"/>
                <a:cs typeface="+mn-cs"/>
              </a:rPr>
              <a:t> to achieve. The infrastructure, redundancy, monitoring, and engineering effort required for five nines versus three nines is enormous.</a:t>
            </a:r>
          </a:p>
          <a:p>
            <a:r>
              <a:rPr lang="en-US" sz="1200" b="0" i="0" kern="1200" dirty="0">
                <a:solidFill>
                  <a:schemeClr val="tx1"/>
                </a:solidFill>
                <a:effectLst/>
                <a:latin typeface="+mn-lt"/>
                <a:ea typeface="+mn-ea"/>
                <a:cs typeface="+mn-cs"/>
              </a:rPr>
              <a:t>Most consumer web services aim for three to four nines. Mission-critical systems like financial exchanges or emergency services might target five nines. Very few systems truly achieve six or seven nines - we're talking about seconds of downtime per year.</a:t>
            </a:r>
          </a:p>
          <a:p>
            <a:endParaRPr lang="en-IN" dirty="0"/>
          </a:p>
        </p:txBody>
      </p:sp>
      <p:sp>
        <p:nvSpPr>
          <p:cNvPr id="4" name="Slide Number Placeholder 3">
            <a:extLst>
              <a:ext uri="{FF2B5EF4-FFF2-40B4-BE49-F238E27FC236}">
                <a16:creationId xmlns:a16="http://schemas.microsoft.com/office/drawing/2014/main" id="{7304ADA1-BB25-BE27-9F1A-3A6D4044FFE2}"/>
              </a:ext>
            </a:extLst>
          </p:cNvPr>
          <p:cNvSpPr>
            <a:spLocks noGrp="1"/>
          </p:cNvSpPr>
          <p:nvPr>
            <p:ph type="sldNum" sz="quarter" idx="5"/>
          </p:nvPr>
        </p:nvSpPr>
        <p:spPr/>
        <p:txBody>
          <a:bodyPr/>
          <a:lstStyle/>
          <a:p>
            <a:fld id="{72853293-4F00-4813-B74A-3945ABE0C2FC}" type="slidenum">
              <a:rPr lang="en-IN" smtClean="0"/>
              <a:t>9</a:t>
            </a:fld>
            <a:endParaRPr lang="en-IN"/>
          </a:p>
        </p:txBody>
      </p:sp>
    </p:spTree>
    <p:extLst>
      <p:ext uri="{BB962C8B-B14F-4D97-AF65-F5344CB8AC3E}">
        <p14:creationId xmlns:p14="http://schemas.microsoft.com/office/powerpoint/2010/main" val="279533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0358F-0B49-CDE8-0A4B-FA0D763F66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43110-A647-3D92-172C-E726B2CDC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29F1F2-6F90-678F-625C-AFEA41481615}"/>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let's understand how system architecture affects availability. Consider two fundamental arrangements: </a:t>
            </a:r>
            <a:r>
              <a:rPr lang="en-US" sz="1200" b="1" i="0" kern="1200" dirty="0">
                <a:solidFill>
                  <a:schemeClr val="tx1"/>
                </a:solidFill>
                <a:effectLst/>
                <a:latin typeface="+mn-lt"/>
                <a:ea typeface="+mn-ea"/>
                <a:cs typeface="+mn-cs"/>
              </a:rPr>
              <a:t>Sequence </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Parallel</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In a </a:t>
            </a:r>
            <a:r>
              <a:rPr lang="en-US" sz="1200" b="1" i="0" kern="1200" dirty="0">
                <a:solidFill>
                  <a:schemeClr val="tx1"/>
                </a:solidFill>
                <a:effectLst/>
                <a:latin typeface="+mn-lt"/>
                <a:ea typeface="+mn-ea"/>
                <a:cs typeface="+mn-cs"/>
              </a:rPr>
              <a:t>sequence  system</a:t>
            </a:r>
            <a:r>
              <a:rPr lang="en-US" sz="1200" b="0" i="0" kern="1200" dirty="0">
                <a:solidFill>
                  <a:schemeClr val="tx1"/>
                </a:solidFill>
                <a:effectLst/>
                <a:latin typeface="+mn-lt"/>
                <a:ea typeface="+mn-ea"/>
                <a:cs typeface="+mn-cs"/>
              </a:rPr>
              <a:t>, components are chained together like links in a chain. The user's request must pass through </a:t>
            </a:r>
            <a:r>
              <a:rPr lang="en-US" sz="1200" b="1" i="0" kern="1200" dirty="0">
                <a:solidFill>
                  <a:schemeClr val="tx1"/>
                </a:solidFill>
                <a:effectLst/>
                <a:latin typeface="+mn-lt"/>
                <a:ea typeface="+mn-ea"/>
                <a:cs typeface="+mn-cs"/>
              </a:rPr>
              <a:t>every component</a:t>
            </a:r>
            <a:r>
              <a:rPr lang="en-US" sz="1200" b="0" i="0" kern="1200" dirty="0">
                <a:solidFill>
                  <a:schemeClr val="tx1"/>
                </a:solidFill>
                <a:effectLst/>
                <a:latin typeface="+mn-lt"/>
                <a:ea typeface="+mn-ea"/>
                <a:cs typeface="+mn-cs"/>
              </a:rPr>
              <a:t> successfully. Think: web server → application server → database. If any one fails, the whole system fails.</a:t>
            </a:r>
          </a:p>
          <a:p>
            <a:r>
              <a:rPr lang="en-US" sz="1200" b="0" i="0" kern="1200" dirty="0">
                <a:solidFill>
                  <a:schemeClr val="tx1"/>
                </a:solidFill>
                <a:effectLst/>
                <a:latin typeface="+mn-lt"/>
                <a:ea typeface="+mn-ea"/>
                <a:cs typeface="+mn-cs"/>
              </a:rPr>
              <a:t>The math here is brutal: </a:t>
            </a:r>
            <a:r>
              <a:rPr lang="en-US" sz="1200" b="1" i="0" kern="1200" dirty="0">
                <a:solidFill>
                  <a:schemeClr val="tx1"/>
                </a:solidFill>
                <a:effectLst/>
                <a:latin typeface="+mn-lt"/>
                <a:ea typeface="+mn-ea"/>
                <a:cs typeface="+mn-cs"/>
              </a:rPr>
              <a:t>You MULTIPLY the availabilities</a:t>
            </a:r>
            <a:r>
              <a:rPr lang="en-US" sz="1200" b="0" i="0" kern="1200" dirty="0">
                <a:solidFill>
                  <a:schemeClr val="tx1"/>
                </a:solidFill>
                <a:effectLst/>
                <a:latin typeface="+mn-lt"/>
                <a:ea typeface="+mn-ea"/>
                <a:cs typeface="+mn-cs"/>
              </a:rPr>
              <a:t>. If you have three components, each with 99% availability (0.99), your overall system availability is 0.99 × 0.99 × 0.99 = 0.97, or 97%. Three components reduced your system's availability!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a </a:t>
            </a:r>
            <a:r>
              <a:rPr lang="en-US" sz="1200" b="1" i="0" kern="1200" dirty="0">
                <a:solidFill>
                  <a:schemeClr val="tx1"/>
                </a:solidFill>
                <a:effectLst/>
                <a:latin typeface="+mn-lt"/>
                <a:ea typeface="+mn-ea"/>
                <a:cs typeface="+mn-cs"/>
              </a:rPr>
              <a:t>parallel system</a:t>
            </a:r>
            <a:r>
              <a:rPr lang="en-US" sz="1200" b="0" i="0" kern="1200" dirty="0">
                <a:solidFill>
                  <a:schemeClr val="tx1"/>
                </a:solidFill>
                <a:effectLst/>
                <a:latin typeface="+mn-lt"/>
                <a:ea typeface="+mn-ea"/>
                <a:cs typeface="+mn-cs"/>
              </a:rPr>
              <a:t>, components are redundant. The system works if </a:t>
            </a:r>
            <a:r>
              <a:rPr lang="en-US" sz="1200" b="1" i="0" kern="1200" dirty="0">
                <a:solidFill>
                  <a:schemeClr val="tx1"/>
                </a:solidFill>
                <a:effectLst/>
                <a:latin typeface="+mn-lt"/>
                <a:ea typeface="+mn-ea"/>
                <a:cs typeface="+mn-cs"/>
              </a:rPr>
              <a:t>ANY of the components</a:t>
            </a:r>
            <a:r>
              <a:rPr lang="en-US" sz="1200" b="0" i="0" kern="1200" dirty="0">
                <a:solidFill>
                  <a:schemeClr val="tx1"/>
                </a:solidFill>
                <a:effectLst/>
                <a:latin typeface="+mn-lt"/>
                <a:ea typeface="+mn-ea"/>
                <a:cs typeface="+mn-cs"/>
              </a:rPr>
              <a:t> work. Think: multiple web servers behind a load balancer. If one fails, others handle the traffic.</a:t>
            </a:r>
          </a:p>
          <a:p>
            <a:r>
              <a:rPr lang="en-US" sz="1200" b="0" i="0" kern="1200" dirty="0">
                <a:solidFill>
                  <a:schemeClr val="tx1"/>
                </a:solidFill>
                <a:effectLst/>
                <a:latin typeface="+mn-lt"/>
                <a:ea typeface="+mn-ea"/>
                <a:cs typeface="+mn-cs"/>
              </a:rPr>
              <a:t>The math here is much friendlier: </a:t>
            </a:r>
            <a:r>
              <a:rPr lang="en-US" sz="1200" b="1" i="0" kern="1200" dirty="0">
                <a:solidFill>
                  <a:schemeClr val="tx1"/>
                </a:solidFill>
                <a:effectLst/>
                <a:latin typeface="+mn-lt"/>
                <a:ea typeface="+mn-ea"/>
                <a:cs typeface="+mn-cs"/>
              </a:rPr>
              <a:t>Availability = 1 - (probability ALL fail)</a:t>
            </a:r>
            <a:r>
              <a:rPr lang="en-US" sz="1200" b="0" i="0" kern="1200" dirty="0">
                <a:solidFill>
                  <a:schemeClr val="tx1"/>
                </a:solidFill>
                <a:effectLst/>
                <a:latin typeface="+mn-lt"/>
                <a:ea typeface="+mn-ea"/>
                <a:cs typeface="+mn-cs"/>
              </a:rPr>
              <a:t>. With two components each at 99%, the probability both fail is 0.01 × 0.01 = 0.0001. So system availability is 1 - 0.0001 = 0.9999, or 99.99%!</a:t>
            </a:r>
          </a:p>
          <a:p>
            <a:r>
              <a:rPr lang="en-US" sz="1200" b="0" i="0" kern="1200" dirty="0">
                <a:solidFill>
                  <a:schemeClr val="tx1"/>
                </a:solidFill>
                <a:effectLst/>
                <a:latin typeface="+mn-lt"/>
                <a:ea typeface="+mn-ea"/>
                <a:cs typeface="+mn-cs"/>
              </a:rPr>
              <a:t>This is why we build redundancy into critical paths. We transform series dependencies into parallel ones wherever possible. Load balancers with multiple servers, database replicas, multiple network providers - these all create parallel paths that dramatically boost availability.</a:t>
            </a:r>
          </a:p>
          <a:p>
            <a:endParaRPr lang="en-IN" dirty="0"/>
          </a:p>
        </p:txBody>
      </p:sp>
      <p:sp>
        <p:nvSpPr>
          <p:cNvPr id="4" name="Slide Number Placeholder 3">
            <a:extLst>
              <a:ext uri="{FF2B5EF4-FFF2-40B4-BE49-F238E27FC236}">
                <a16:creationId xmlns:a16="http://schemas.microsoft.com/office/drawing/2014/main" id="{A86FFB30-60EC-8288-7FB5-7F9AD7C31685}"/>
              </a:ext>
            </a:extLst>
          </p:cNvPr>
          <p:cNvSpPr>
            <a:spLocks noGrp="1"/>
          </p:cNvSpPr>
          <p:nvPr>
            <p:ph type="sldNum" sz="quarter" idx="5"/>
          </p:nvPr>
        </p:nvSpPr>
        <p:spPr/>
        <p:txBody>
          <a:bodyPr/>
          <a:lstStyle/>
          <a:p>
            <a:fld id="{72853293-4F00-4813-B74A-3945ABE0C2FC}" type="slidenum">
              <a:rPr lang="en-IN" smtClean="0"/>
              <a:t>10</a:t>
            </a:fld>
            <a:endParaRPr lang="en-IN"/>
          </a:p>
        </p:txBody>
      </p:sp>
    </p:spTree>
    <p:extLst>
      <p:ext uri="{BB962C8B-B14F-4D97-AF65-F5344CB8AC3E}">
        <p14:creationId xmlns:p14="http://schemas.microsoft.com/office/powerpoint/2010/main" val="2436870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1C446-D9DB-8F7E-4067-C52ABC328B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F0010F-1AD3-841A-9810-CB4E745563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5B7C75-B26B-CFA8-E472-6A3F65DEEDA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033616-C27F-AE0F-4833-7D99177C2B9A}"/>
              </a:ext>
            </a:extLst>
          </p:cNvPr>
          <p:cNvSpPr>
            <a:spLocks noGrp="1"/>
          </p:cNvSpPr>
          <p:nvPr>
            <p:ph type="sldNum" sz="quarter" idx="5"/>
          </p:nvPr>
        </p:nvSpPr>
        <p:spPr/>
        <p:txBody>
          <a:bodyPr/>
          <a:lstStyle/>
          <a:p>
            <a:fld id="{72853293-4F00-4813-B74A-3945ABE0C2FC}" type="slidenum">
              <a:rPr lang="en-IN" smtClean="0"/>
              <a:t>11</a:t>
            </a:fld>
            <a:endParaRPr lang="en-IN"/>
          </a:p>
        </p:txBody>
      </p:sp>
    </p:spTree>
    <p:extLst>
      <p:ext uri="{BB962C8B-B14F-4D97-AF65-F5344CB8AC3E}">
        <p14:creationId xmlns:p14="http://schemas.microsoft.com/office/powerpoint/2010/main" val="23418773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CC68E-0736-0E7A-FDDB-C21E78F14C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AE1CC-635E-D7FA-C834-D530680B6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BBB982-A7D0-2564-FD3E-330B77BE1A45}"/>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Before diving into specific patterns, let's understand the fundamental concept of </a:t>
            </a:r>
            <a:r>
              <a:rPr lang="en-US" sz="1200" b="1" i="0" kern="1200" dirty="0">
                <a:solidFill>
                  <a:schemeClr val="tx1"/>
                </a:solidFill>
                <a:effectLst/>
                <a:latin typeface="+mn-lt"/>
                <a:ea typeface="+mn-ea"/>
                <a:cs typeface="+mn-cs"/>
              </a:rPr>
              <a:t>Failover</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Failover is the </a:t>
            </a:r>
            <a:r>
              <a:rPr lang="en-US" sz="1200" b="1" i="0" kern="1200" dirty="0">
                <a:solidFill>
                  <a:schemeClr val="tx1"/>
                </a:solidFill>
                <a:effectLst/>
                <a:latin typeface="+mn-lt"/>
                <a:ea typeface="+mn-ea"/>
                <a:cs typeface="+mn-cs"/>
              </a:rPr>
              <a:t>automatic process</a:t>
            </a:r>
            <a:r>
              <a:rPr lang="en-US" sz="1200" b="0" i="0" kern="1200" dirty="0">
                <a:solidFill>
                  <a:schemeClr val="tx1"/>
                </a:solidFill>
                <a:effectLst/>
                <a:latin typeface="+mn-lt"/>
                <a:ea typeface="+mn-ea"/>
                <a:cs typeface="+mn-cs"/>
              </a:rPr>
              <a:t> of switching to a backup or standby system when the primary system fails. The goal is simple: keep the service running even when individual components fail.</a:t>
            </a:r>
          </a:p>
          <a:p>
            <a:r>
              <a:rPr lang="en-US" sz="1200" b="0" i="0" kern="1200" dirty="0">
                <a:solidFill>
                  <a:schemeClr val="tx1"/>
                </a:solidFill>
                <a:effectLst/>
                <a:latin typeface="+mn-lt"/>
                <a:ea typeface="+mn-ea"/>
                <a:cs typeface="+mn-cs"/>
              </a:rPr>
              <a:t>Think of it like a spare tire in your car. When your main tire gets a flat, you don't abandon the car - you switch to the spare and continue driving. In systems, when our primary server fails, we automatically switch to a standby server so users can continue using the service.</a:t>
            </a:r>
          </a:p>
          <a:p>
            <a:r>
              <a:rPr lang="en-US" sz="1200" b="0" i="0" kern="1200" dirty="0">
                <a:solidFill>
                  <a:schemeClr val="tx1"/>
                </a:solidFill>
                <a:effectLst/>
                <a:latin typeface="+mn-lt"/>
                <a:ea typeface="+mn-ea"/>
                <a:cs typeface="+mn-cs"/>
              </a:rPr>
              <a:t>The process has four key steps: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First, </a:t>
            </a:r>
            <a:r>
              <a:rPr lang="en-US" sz="1200" b="1" i="0" kern="1200" dirty="0">
                <a:solidFill>
                  <a:schemeClr val="tx1"/>
                </a:solidFill>
                <a:effectLst/>
                <a:latin typeface="+mn-lt"/>
                <a:ea typeface="+mn-ea"/>
                <a:cs typeface="+mn-cs"/>
              </a:rPr>
              <a:t>continuous monitoring</a:t>
            </a:r>
            <a:r>
              <a:rPr lang="en-US" sz="1200" b="0" i="0" kern="1200" dirty="0">
                <a:solidFill>
                  <a:schemeClr val="tx1"/>
                </a:solidFill>
                <a:effectLst/>
                <a:latin typeface="+mn-lt"/>
                <a:ea typeface="+mn-ea"/>
                <a:cs typeface="+mn-cs"/>
              </a:rPr>
              <a:t> - we're constantly checking if the primary system is healthy.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Second, </a:t>
            </a:r>
            <a:r>
              <a:rPr lang="en-US" sz="1200" b="1" i="0" kern="1200" dirty="0">
                <a:solidFill>
                  <a:schemeClr val="tx1"/>
                </a:solidFill>
                <a:effectLst/>
                <a:latin typeface="+mn-lt"/>
                <a:ea typeface="+mn-ea"/>
                <a:cs typeface="+mn-cs"/>
              </a:rPr>
              <a:t>failure detection</a:t>
            </a:r>
            <a:r>
              <a:rPr lang="en-US" sz="1200" b="0" i="0" kern="1200" dirty="0">
                <a:solidFill>
                  <a:schemeClr val="tx1"/>
                </a:solidFill>
                <a:effectLst/>
                <a:latin typeface="+mn-lt"/>
                <a:ea typeface="+mn-ea"/>
                <a:cs typeface="+mn-cs"/>
              </a:rPr>
              <a:t> - we identify when something is wrong.</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Third, </a:t>
            </a:r>
            <a:r>
              <a:rPr lang="en-US" sz="1200" b="1" i="0" kern="1200" dirty="0">
                <a:solidFill>
                  <a:schemeClr val="tx1"/>
                </a:solidFill>
                <a:effectLst/>
                <a:latin typeface="+mn-lt"/>
                <a:ea typeface="+mn-ea"/>
                <a:cs typeface="+mn-cs"/>
              </a:rPr>
              <a:t>automatic switchover</a:t>
            </a:r>
            <a:r>
              <a:rPr lang="en-US" sz="1200" b="0" i="0" kern="1200" dirty="0">
                <a:solidFill>
                  <a:schemeClr val="tx1"/>
                </a:solidFill>
                <a:effectLst/>
                <a:latin typeface="+mn-lt"/>
                <a:ea typeface="+mn-ea"/>
                <a:cs typeface="+mn-cs"/>
              </a:rPr>
              <a:t> - we redirect traffic to the standby system.</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Fourth, </a:t>
            </a:r>
            <a:r>
              <a:rPr lang="en-US" sz="1200" b="1" i="0" kern="1200" dirty="0">
                <a:solidFill>
                  <a:schemeClr val="tx1"/>
                </a:solidFill>
                <a:effectLst/>
                <a:latin typeface="+mn-lt"/>
                <a:ea typeface="+mn-ea"/>
                <a:cs typeface="+mn-cs"/>
              </a:rPr>
              <a:t>recovery</a:t>
            </a:r>
            <a:r>
              <a:rPr lang="en-US" sz="1200" b="0" i="0" kern="1200" dirty="0">
                <a:solidFill>
                  <a:schemeClr val="tx1"/>
                </a:solidFill>
                <a:effectLst/>
                <a:latin typeface="+mn-lt"/>
                <a:ea typeface="+mn-ea"/>
                <a:cs typeface="+mn-cs"/>
              </a:rPr>
              <a:t> - we can fix the primary and bring it back online.</a:t>
            </a:r>
          </a:p>
          <a:p>
            <a:r>
              <a:rPr lang="en-US" sz="1200" b="0" i="0" kern="1200" dirty="0">
                <a:solidFill>
                  <a:schemeClr val="tx1"/>
                </a:solidFill>
                <a:effectLst/>
                <a:latin typeface="+mn-lt"/>
                <a:ea typeface="+mn-ea"/>
                <a:cs typeface="+mn-cs"/>
              </a:rPr>
              <a:t>This automatic detection and switching is what distinguishes failover from manual recovery. Without failover, every failure requires human intervention, causing longer outages.</a:t>
            </a:r>
          </a:p>
          <a:p>
            <a:r>
              <a:rPr lang="en-US" sz="1200" b="0" i="0" kern="1200" dirty="0">
                <a:solidFill>
                  <a:schemeClr val="tx1"/>
                </a:solidFill>
                <a:effectLst/>
                <a:latin typeface="+mn-lt"/>
                <a:ea typeface="+mn-ea"/>
                <a:cs typeface="+mn-cs"/>
              </a:rPr>
              <a:t>Failover addresses one of our core availability principles: </a:t>
            </a:r>
            <a:r>
              <a:rPr lang="en-US" sz="1200" b="1" i="0" kern="1200" dirty="0">
                <a:solidFill>
                  <a:schemeClr val="tx1"/>
                </a:solidFill>
                <a:effectLst/>
                <a:latin typeface="+mn-lt"/>
                <a:ea typeface="+mn-ea"/>
                <a:cs typeface="+mn-cs"/>
              </a:rPr>
              <a:t>eliminating single points of failure</a:t>
            </a:r>
            <a:r>
              <a:rPr lang="en-US" sz="1200" b="0" i="0" kern="1200" dirty="0">
                <a:solidFill>
                  <a:schemeClr val="tx1"/>
                </a:solidFill>
                <a:effectLst/>
                <a:latin typeface="+mn-lt"/>
                <a:ea typeface="+mn-ea"/>
                <a:cs typeface="+mn-cs"/>
              </a:rPr>
              <a:t>. If one component can take down your entire service, you need failover."</a:t>
            </a:r>
          </a:p>
          <a:p>
            <a:endParaRPr lang="en-IN" dirty="0"/>
          </a:p>
        </p:txBody>
      </p:sp>
      <p:sp>
        <p:nvSpPr>
          <p:cNvPr id="4" name="Slide Number Placeholder 3">
            <a:extLst>
              <a:ext uri="{FF2B5EF4-FFF2-40B4-BE49-F238E27FC236}">
                <a16:creationId xmlns:a16="http://schemas.microsoft.com/office/drawing/2014/main" id="{9A9024AD-9C6E-F144-F50B-57DABC5A80E5}"/>
              </a:ext>
            </a:extLst>
          </p:cNvPr>
          <p:cNvSpPr>
            <a:spLocks noGrp="1"/>
          </p:cNvSpPr>
          <p:nvPr>
            <p:ph type="sldNum" sz="quarter" idx="5"/>
          </p:nvPr>
        </p:nvSpPr>
        <p:spPr/>
        <p:txBody>
          <a:bodyPr/>
          <a:lstStyle/>
          <a:p>
            <a:fld id="{72853293-4F00-4813-B74A-3945ABE0C2FC}" type="slidenum">
              <a:rPr lang="en-IN" smtClean="0"/>
              <a:t>12</a:t>
            </a:fld>
            <a:endParaRPr lang="en-IN"/>
          </a:p>
        </p:txBody>
      </p:sp>
    </p:spTree>
    <p:extLst>
      <p:ext uri="{BB962C8B-B14F-4D97-AF65-F5344CB8AC3E}">
        <p14:creationId xmlns:p14="http://schemas.microsoft.com/office/powerpoint/2010/main" val="349363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63359-4E2C-E25A-C953-56971E871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D73A55-D738-54ED-8E82-FB1A4E0428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4C1B59-F889-2937-0570-57C68383AE31}"/>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Failover comes in different flavors depending on what's failing over and how.</a:t>
            </a:r>
          </a:p>
          <a:p>
            <a:r>
              <a:rPr lang="en-US" sz="1200" b="0" i="0" kern="1200" dirty="0">
                <a:solidFill>
                  <a:schemeClr val="tx1"/>
                </a:solidFill>
                <a:effectLst/>
                <a:latin typeface="+mn-lt"/>
                <a:ea typeface="+mn-ea"/>
                <a:cs typeface="+mn-cs"/>
              </a:rPr>
              <a:t>First, by </a:t>
            </a:r>
            <a:r>
              <a:rPr lang="en-US" sz="1200" b="1" i="0" kern="1200" dirty="0">
                <a:solidFill>
                  <a:schemeClr val="tx1"/>
                </a:solidFill>
                <a:effectLst/>
                <a:latin typeface="+mn-lt"/>
                <a:ea typeface="+mn-ea"/>
                <a:cs typeface="+mn-cs"/>
              </a:rPr>
              <a:t>scope</a:t>
            </a:r>
            <a:r>
              <a:rPr lang="en-US" sz="1200" b="0" i="0" kern="1200" dirty="0">
                <a:solidFill>
                  <a:schemeClr val="tx1"/>
                </a:solidFill>
                <a:effectLst/>
                <a:latin typeface="+mn-lt"/>
                <a:ea typeface="+mn-ea"/>
                <a:cs typeface="+mn-cs"/>
              </a:rPr>
              <a:t>: We have </a:t>
            </a:r>
            <a:r>
              <a:rPr lang="en-US" sz="1200" b="1" i="0" kern="1200" dirty="0">
                <a:solidFill>
                  <a:schemeClr val="tx1"/>
                </a:solidFill>
                <a:effectLst/>
                <a:latin typeface="+mn-lt"/>
                <a:ea typeface="+mn-ea"/>
                <a:cs typeface="+mn-cs"/>
              </a:rPr>
              <a:t>system-level</a:t>
            </a:r>
            <a:r>
              <a:rPr lang="en-US" sz="1200" b="0" i="0" kern="1200" dirty="0">
                <a:solidFill>
                  <a:schemeClr val="tx1"/>
                </a:solidFill>
                <a:effectLst/>
                <a:latin typeface="+mn-lt"/>
                <a:ea typeface="+mn-ea"/>
                <a:cs typeface="+mn-cs"/>
              </a:rPr>
              <a:t> failover where an entire server or virtual machine moves to backup hardware. This is common in virtualization platforms. Then </a:t>
            </a:r>
            <a:r>
              <a:rPr lang="en-US" sz="1200" b="1" i="0" kern="1200" dirty="0">
                <a:solidFill>
                  <a:schemeClr val="tx1"/>
                </a:solidFill>
                <a:effectLst/>
                <a:latin typeface="+mn-lt"/>
                <a:ea typeface="+mn-ea"/>
                <a:cs typeface="+mn-cs"/>
              </a:rPr>
              <a:t>service-level</a:t>
            </a:r>
            <a:r>
              <a:rPr lang="en-US" sz="1200" b="0" i="0" kern="1200" dirty="0">
                <a:solidFill>
                  <a:schemeClr val="tx1"/>
                </a:solidFill>
                <a:effectLst/>
                <a:latin typeface="+mn-lt"/>
                <a:ea typeface="+mn-ea"/>
                <a:cs typeface="+mn-cs"/>
              </a:rPr>
              <a:t> failover where just a specific service - like our database - moves to another node while other services stay put. And </a:t>
            </a:r>
            <a:r>
              <a:rPr lang="en-US" sz="1200" b="1" i="0" kern="1200" dirty="0">
                <a:solidFill>
                  <a:schemeClr val="tx1"/>
                </a:solidFill>
                <a:effectLst/>
                <a:latin typeface="+mn-lt"/>
                <a:ea typeface="+mn-ea"/>
                <a:cs typeface="+mn-cs"/>
              </a:rPr>
              <a:t>component-level</a:t>
            </a:r>
            <a:r>
              <a:rPr lang="en-US" sz="1200" b="0" i="0" kern="1200" dirty="0">
                <a:solidFill>
                  <a:schemeClr val="tx1"/>
                </a:solidFill>
                <a:effectLst/>
                <a:latin typeface="+mn-lt"/>
                <a:ea typeface="+mn-ea"/>
                <a:cs typeface="+mn-cs"/>
              </a:rPr>
              <a:t> failover for individual hardware pieces like network cards or storage arrays.</a:t>
            </a:r>
          </a:p>
          <a:p>
            <a:r>
              <a:rPr lang="en-US" sz="1200" b="0" i="0" kern="1200" dirty="0">
                <a:solidFill>
                  <a:schemeClr val="tx1"/>
                </a:solidFill>
                <a:effectLst/>
                <a:latin typeface="+mn-lt"/>
                <a:ea typeface="+mn-ea"/>
                <a:cs typeface="+mn-cs"/>
              </a:rPr>
              <a:t>Second, by </a:t>
            </a:r>
            <a:r>
              <a:rPr lang="en-US" sz="1200" b="1" i="0" kern="1200" dirty="0">
                <a:solidFill>
                  <a:schemeClr val="tx1"/>
                </a:solidFill>
                <a:effectLst/>
                <a:latin typeface="+mn-lt"/>
                <a:ea typeface="+mn-ea"/>
                <a:cs typeface="+mn-cs"/>
              </a:rPr>
              <a:t>timing</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Automatic</a:t>
            </a:r>
            <a:r>
              <a:rPr lang="en-US" sz="1200" b="0" i="0" kern="1200" dirty="0">
                <a:solidFill>
                  <a:schemeClr val="tx1"/>
                </a:solidFill>
                <a:effectLst/>
                <a:latin typeface="+mn-lt"/>
                <a:ea typeface="+mn-ea"/>
                <a:cs typeface="+mn-cs"/>
              </a:rPr>
              <a:t> failover happens immediately when failure is detected - no human needed. </a:t>
            </a:r>
            <a:r>
              <a:rPr lang="en-US" sz="1200" b="1" i="0" kern="1200" dirty="0">
                <a:solidFill>
                  <a:schemeClr val="tx1"/>
                </a:solidFill>
                <a:effectLst/>
                <a:latin typeface="+mn-lt"/>
                <a:ea typeface="+mn-ea"/>
                <a:cs typeface="+mn-cs"/>
              </a:rPr>
              <a:t>Manual</a:t>
            </a:r>
            <a:r>
              <a:rPr lang="en-US" sz="1200" b="0" i="0" kern="1200" dirty="0">
                <a:solidFill>
                  <a:schemeClr val="tx1"/>
                </a:solidFill>
                <a:effectLst/>
                <a:latin typeface="+mn-lt"/>
                <a:ea typeface="+mn-ea"/>
                <a:cs typeface="+mn-cs"/>
              </a:rPr>
              <a:t> failover requires an administrator to initiate the switch. </a:t>
            </a:r>
            <a:r>
              <a:rPr lang="en-US" sz="1200" b="1" i="0" kern="1200" dirty="0">
                <a:solidFill>
                  <a:schemeClr val="tx1"/>
                </a:solidFill>
                <a:effectLst/>
                <a:latin typeface="+mn-lt"/>
                <a:ea typeface="+mn-ea"/>
                <a:cs typeface="+mn-cs"/>
              </a:rPr>
              <a:t>Semi-automatic</a:t>
            </a:r>
            <a:r>
              <a:rPr lang="en-US" sz="1200" b="0" i="0" kern="1200" dirty="0">
                <a:solidFill>
                  <a:schemeClr val="tx1"/>
                </a:solidFill>
                <a:effectLst/>
                <a:latin typeface="+mn-lt"/>
                <a:ea typeface="+mn-ea"/>
                <a:cs typeface="+mn-cs"/>
              </a:rPr>
              <a:t> is a hybrid - the system detects the failure and suggests failover, but a human confirms.</a:t>
            </a:r>
          </a:p>
          <a:p>
            <a:r>
              <a:rPr lang="en-US" sz="1200" b="0" i="0" kern="1200" dirty="0">
                <a:solidFill>
                  <a:schemeClr val="tx1"/>
                </a:solidFill>
                <a:effectLst/>
                <a:latin typeface="+mn-lt"/>
                <a:ea typeface="+mn-ea"/>
                <a:cs typeface="+mn-cs"/>
              </a:rPr>
              <a:t>Third, by </a:t>
            </a:r>
            <a:r>
              <a:rPr lang="en-US" sz="1200" b="1" i="0" kern="1200" dirty="0">
                <a:solidFill>
                  <a:schemeClr val="tx1"/>
                </a:solidFill>
                <a:effectLst/>
                <a:latin typeface="+mn-lt"/>
                <a:ea typeface="+mn-ea"/>
                <a:cs typeface="+mn-cs"/>
              </a:rPr>
              <a:t>direction</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Unidirectional</a:t>
            </a:r>
            <a:r>
              <a:rPr lang="en-US" sz="1200" b="0" i="0" kern="1200" dirty="0">
                <a:solidFill>
                  <a:schemeClr val="tx1"/>
                </a:solidFill>
                <a:effectLst/>
                <a:latin typeface="+mn-lt"/>
                <a:ea typeface="+mn-ea"/>
                <a:cs typeface="+mn-cs"/>
              </a:rPr>
              <a:t> failover goes one way - from primary to backup. </a:t>
            </a:r>
            <a:r>
              <a:rPr lang="en-US" sz="1200" b="1" i="0" kern="1200" dirty="0">
                <a:solidFill>
                  <a:schemeClr val="tx1"/>
                </a:solidFill>
                <a:effectLst/>
                <a:latin typeface="+mn-lt"/>
                <a:ea typeface="+mn-ea"/>
                <a:cs typeface="+mn-cs"/>
              </a:rPr>
              <a:t>Bidirectional</a:t>
            </a:r>
            <a:r>
              <a:rPr lang="en-US" sz="1200" b="0" i="0" kern="1200" dirty="0">
                <a:solidFill>
                  <a:schemeClr val="tx1"/>
                </a:solidFill>
                <a:effectLst/>
                <a:latin typeface="+mn-lt"/>
                <a:ea typeface="+mn-ea"/>
                <a:cs typeface="+mn-cs"/>
              </a:rPr>
              <a:t> means we can fail back to the original once it's repaired.</a:t>
            </a:r>
          </a:p>
          <a:p>
            <a:r>
              <a:rPr lang="en-US" sz="1200" b="0" i="0" kern="1200" dirty="0">
                <a:solidFill>
                  <a:schemeClr val="tx1"/>
                </a:solidFill>
                <a:effectLst/>
                <a:latin typeface="+mn-lt"/>
                <a:ea typeface="+mn-ea"/>
                <a:cs typeface="+mn-cs"/>
              </a:rPr>
              <a:t>The choice depends on your requirements: How fast must recovery be? How critical is the service? What resources are available for monitoring and automation?</a:t>
            </a:r>
          </a:p>
          <a:p>
            <a:endParaRPr lang="en-IN" dirty="0"/>
          </a:p>
        </p:txBody>
      </p:sp>
      <p:sp>
        <p:nvSpPr>
          <p:cNvPr id="4" name="Slide Number Placeholder 3">
            <a:extLst>
              <a:ext uri="{FF2B5EF4-FFF2-40B4-BE49-F238E27FC236}">
                <a16:creationId xmlns:a16="http://schemas.microsoft.com/office/drawing/2014/main" id="{5E9792E3-5CD7-373D-320A-C83BBB47FE6F}"/>
              </a:ext>
            </a:extLst>
          </p:cNvPr>
          <p:cNvSpPr>
            <a:spLocks noGrp="1"/>
          </p:cNvSpPr>
          <p:nvPr>
            <p:ph type="sldNum" sz="quarter" idx="5"/>
          </p:nvPr>
        </p:nvSpPr>
        <p:spPr/>
        <p:txBody>
          <a:bodyPr/>
          <a:lstStyle/>
          <a:p>
            <a:fld id="{72853293-4F00-4813-B74A-3945ABE0C2FC}" type="slidenum">
              <a:rPr lang="en-IN" smtClean="0"/>
              <a:t>13</a:t>
            </a:fld>
            <a:endParaRPr lang="en-IN"/>
          </a:p>
        </p:txBody>
      </p:sp>
    </p:spTree>
    <p:extLst>
      <p:ext uri="{BB962C8B-B14F-4D97-AF65-F5344CB8AC3E}">
        <p14:creationId xmlns:p14="http://schemas.microsoft.com/office/powerpoint/2010/main" val="58952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that we understand failover basics, let's examine the two fundamental architectures: </a:t>
            </a:r>
            <a:r>
              <a:rPr lang="en-US" sz="1200" b="1" i="0" kern="1200" dirty="0">
                <a:solidFill>
                  <a:schemeClr val="tx1"/>
                </a:solidFill>
                <a:effectLst/>
                <a:latin typeface="+mn-lt"/>
                <a:ea typeface="+mn-ea"/>
                <a:cs typeface="+mn-cs"/>
              </a:rPr>
              <a:t>Active-Passive</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Active-Active</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Think of them like a sports team. In </a:t>
            </a:r>
            <a:r>
              <a:rPr lang="en-US" sz="1200" b="1" i="0" kern="1200" dirty="0">
                <a:solidFill>
                  <a:schemeClr val="tx1"/>
                </a:solidFill>
                <a:effectLst/>
                <a:latin typeface="+mn-lt"/>
                <a:ea typeface="+mn-ea"/>
                <a:cs typeface="+mn-cs"/>
              </a:rPr>
              <a:t>Active-Passive</a:t>
            </a:r>
            <a:r>
              <a:rPr lang="en-US" sz="1200" b="0" i="0" kern="1200" dirty="0">
                <a:solidFill>
                  <a:schemeClr val="tx1"/>
                </a:solidFill>
                <a:effectLst/>
                <a:latin typeface="+mn-lt"/>
                <a:ea typeface="+mn-ea"/>
                <a:cs typeface="+mn-cs"/>
              </a:rPr>
              <a:t>, you have a starting player and a substitute on the bench. The starter plays the whole game unless injured, then the substitute jumps in. One is active, one is passive.</a:t>
            </a:r>
          </a:p>
          <a:p>
            <a:r>
              <a:rPr lang="en-US" sz="1200" b="0" i="0" kern="1200" dirty="0">
                <a:solidFill>
                  <a:schemeClr val="tx1"/>
                </a:solidFill>
                <a:effectLst/>
                <a:latin typeface="+mn-lt"/>
                <a:ea typeface="+mn-ea"/>
                <a:cs typeface="+mn-cs"/>
              </a:rPr>
              <a:t>In </a:t>
            </a:r>
            <a:r>
              <a:rPr lang="en-US" sz="1200" b="1" i="0" kern="1200" dirty="0">
                <a:solidFill>
                  <a:schemeClr val="tx1"/>
                </a:solidFill>
                <a:effectLst/>
                <a:latin typeface="+mn-lt"/>
                <a:ea typeface="+mn-ea"/>
                <a:cs typeface="+mn-cs"/>
              </a:rPr>
              <a:t>Active-Active</a:t>
            </a:r>
            <a:r>
              <a:rPr lang="en-US" sz="1200" b="0" i="0" kern="1200" dirty="0">
                <a:solidFill>
                  <a:schemeClr val="tx1"/>
                </a:solidFill>
                <a:effectLst/>
                <a:latin typeface="+mn-lt"/>
                <a:ea typeface="+mn-ea"/>
                <a:cs typeface="+mn-cs"/>
              </a:rPr>
              <a:t>, you have multiple players on the court simultaneously, all contributing. If one gets tired or injured, the others cover and take on more load. All are active.</a:t>
            </a:r>
          </a:p>
          <a:p>
            <a:r>
              <a:rPr lang="en-US" sz="1200" b="0" i="0" kern="1200" dirty="0">
                <a:solidFill>
                  <a:schemeClr val="tx1"/>
                </a:solidFill>
                <a:effectLst/>
                <a:latin typeface="+mn-lt"/>
                <a:ea typeface="+mn-ea"/>
                <a:cs typeface="+mn-cs"/>
              </a:rPr>
              <a:t>Both achieve failover but with different approaches and trade-offs. </a:t>
            </a:r>
            <a:r>
              <a:rPr lang="en-US" sz="1200" b="0" i="0" kern="1200">
                <a:solidFill>
                  <a:schemeClr val="tx1"/>
                </a:solidFill>
                <a:effectLst/>
                <a:latin typeface="+mn-lt"/>
                <a:ea typeface="+mn-ea"/>
                <a:cs typeface="+mn-cs"/>
              </a:rPr>
              <a:t>Let's explore each in detail.</a:t>
            </a:r>
          </a:p>
          <a:p>
            <a:endParaRPr lang="en-IN"/>
          </a:p>
        </p:txBody>
      </p:sp>
      <p:sp>
        <p:nvSpPr>
          <p:cNvPr id="4" name="Slide Number Placeholder 3"/>
          <p:cNvSpPr>
            <a:spLocks noGrp="1"/>
          </p:cNvSpPr>
          <p:nvPr>
            <p:ph type="sldNum" sz="quarter" idx="5"/>
          </p:nvPr>
        </p:nvSpPr>
        <p:spPr/>
        <p:txBody>
          <a:bodyPr/>
          <a:lstStyle/>
          <a:p>
            <a:fld id="{72853293-4F00-4813-B74A-3945ABE0C2FC}" type="slidenum">
              <a:rPr lang="en-IN" smtClean="0"/>
              <a:t>14</a:t>
            </a:fld>
            <a:endParaRPr lang="en-IN"/>
          </a:p>
        </p:txBody>
      </p:sp>
    </p:spTree>
    <p:extLst>
      <p:ext uri="{BB962C8B-B14F-4D97-AF65-F5344CB8AC3E}">
        <p14:creationId xmlns:p14="http://schemas.microsoft.com/office/powerpoint/2010/main" val="1361816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007711" y="3176893"/>
            <a:ext cx="562610" cy="0"/>
          </a:xfrm>
          <a:custGeom>
            <a:avLst/>
            <a:gdLst/>
            <a:ahLst/>
            <a:cxnLst/>
            <a:rect l="l" t="t" r="r" b="b"/>
            <a:pathLst>
              <a:path w="562609">
                <a:moveTo>
                  <a:pt x="0" y="0"/>
                </a:moveTo>
                <a:lnTo>
                  <a:pt x="562198" y="0"/>
                </a:lnTo>
              </a:path>
            </a:pathLst>
          </a:custGeom>
          <a:ln w="76199">
            <a:solidFill>
              <a:srgbClr val="B3A77C"/>
            </a:solidFill>
          </a:ln>
        </p:spPr>
        <p:txBody>
          <a:bodyPr wrap="square" lIns="0" tIns="0" rIns="0" bIns="0" rtlCol="0"/>
          <a:lstStyle/>
          <a:p>
            <a:endParaRPr/>
          </a:p>
        </p:txBody>
      </p:sp>
      <p:sp>
        <p:nvSpPr>
          <p:cNvPr id="17" name="bg object 17"/>
          <p:cNvSpPr/>
          <p:nvPr/>
        </p:nvSpPr>
        <p:spPr>
          <a:xfrm>
            <a:off x="1575031" y="3158243"/>
            <a:ext cx="562610" cy="0"/>
          </a:xfrm>
          <a:custGeom>
            <a:avLst/>
            <a:gdLst/>
            <a:ahLst/>
            <a:cxnLst/>
            <a:rect l="l" t="t" r="r" b="b"/>
            <a:pathLst>
              <a:path w="562610">
                <a:moveTo>
                  <a:pt x="0" y="0"/>
                </a:moveTo>
                <a:lnTo>
                  <a:pt x="562198" y="0"/>
                </a:lnTo>
              </a:path>
            </a:pathLst>
          </a:custGeom>
          <a:ln w="76199">
            <a:solidFill>
              <a:srgbClr val="B3A77C"/>
            </a:solidFill>
          </a:ln>
        </p:spPr>
        <p:txBody>
          <a:bodyPr wrap="square" lIns="0" tIns="0" rIns="0" bIns="0" rtlCol="0"/>
          <a:lstStyle/>
          <a:p>
            <a:endParaRPr/>
          </a:p>
        </p:txBody>
      </p:sp>
      <p:sp>
        <p:nvSpPr>
          <p:cNvPr id="18" name="bg object 18"/>
          <p:cNvSpPr/>
          <p:nvPr/>
        </p:nvSpPr>
        <p:spPr>
          <a:xfrm>
            <a:off x="1004142" y="1022022"/>
            <a:ext cx="7136765" cy="0"/>
          </a:xfrm>
          <a:custGeom>
            <a:avLst/>
            <a:gdLst/>
            <a:ahLst/>
            <a:cxnLst/>
            <a:rect l="l" t="t" r="r" b="b"/>
            <a:pathLst>
              <a:path w="7136765">
                <a:moveTo>
                  <a:pt x="7136640" y="0"/>
                </a:moveTo>
                <a:lnTo>
                  <a:pt x="0" y="0"/>
                </a:lnTo>
              </a:path>
            </a:pathLst>
          </a:custGeom>
          <a:ln w="76199">
            <a:solidFill>
              <a:srgbClr val="4DB6AC"/>
            </a:solidFill>
          </a:ln>
        </p:spPr>
        <p:txBody>
          <a:bodyPr wrap="square" lIns="0" tIns="0" rIns="0" bIns="0" rtlCol="0"/>
          <a:lstStyle/>
          <a:p>
            <a:endParaRPr/>
          </a:p>
        </p:txBody>
      </p:sp>
      <p:sp>
        <p:nvSpPr>
          <p:cNvPr id="19" name="bg object 19"/>
          <p:cNvSpPr/>
          <p:nvPr/>
        </p:nvSpPr>
        <p:spPr>
          <a:xfrm>
            <a:off x="1004142" y="1174422"/>
            <a:ext cx="7136765" cy="0"/>
          </a:xfrm>
          <a:custGeom>
            <a:avLst/>
            <a:gdLst/>
            <a:ahLst/>
            <a:cxnLst/>
            <a:rect l="l" t="t" r="r" b="b"/>
            <a:pathLst>
              <a:path w="7136765">
                <a:moveTo>
                  <a:pt x="7136640" y="0"/>
                </a:moveTo>
                <a:lnTo>
                  <a:pt x="0" y="0"/>
                </a:lnTo>
              </a:path>
            </a:pathLst>
          </a:custGeom>
          <a:ln w="9524">
            <a:solidFill>
              <a:srgbClr val="4DB6AC"/>
            </a:solidFill>
          </a:ln>
        </p:spPr>
        <p:txBody>
          <a:bodyPr wrap="square" lIns="0" tIns="0" rIns="0" bIns="0" rtlCol="0"/>
          <a:lstStyle/>
          <a:p>
            <a:endParaRPr/>
          </a:p>
        </p:txBody>
      </p:sp>
      <p:sp>
        <p:nvSpPr>
          <p:cNvPr id="20" name="bg object 20"/>
          <p:cNvSpPr/>
          <p:nvPr/>
        </p:nvSpPr>
        <p:spPr>
          <a:xfrm>
            <a:off x="1004148" y="4121491"/>
            <a:ext cx="7136765" cy="0"/>
          </a:xfrm>
          <a:custGeom>
            <a:avLst/>
            <a:gdLst/>
            <a:ahLst/>
            <a:cxnLst/>
            <a:rect l="l" t="t" r="r" b="b"/>
            <a:pathLst>
              <a:path w="7136765">
                <a:moveTo>
                  <a:pt x="0" y="0"/>
                </a:moveTo>
                <a:lnTo>
                  <a:pt x="7136660" y="0"/>
                </a:lnTo>
              </a:path>
            </a:pathLst>
          </a:custGeom>
          <a:ln w="76199">
            <a:solidFill>
              <a:srgbClr val="4DB6AC"/>
            </a:solidFill>
          </a:ln>
        </p:spPr>
        <p:txBody>
          <a:bodyPr wrap="square" lIns="0" tIns="0" rIns="0" bIns="0" rtlCol="0"/>
          <a:lstStyle/>
          <a:p>
            <a:endParaRPr/>
          </a:p>
        </p:txBody>
      </p:sp>
      <p:sp>
        <p:nvSpPr>
          <p:cNvPr id="21" name="bg object 21"/>
          <p:cNvSpPr/>
          <p:nvPr/>
        </p:nvSpPr>
        <p:spPr>
          <a:xfrm>
            <a:off x="1004148" y="3969091"/>
            <a:ext cx="7136765" cy="0"/>
          </a:xfrm>
          <a:custGeom>
            <a:avLst/>
            <a:gdLst/>
            <a:ahLst/>
            <a:cxnLst/>
            <a:rect l="l" t="t" r="r" b="b"/>
            <a:pathLst>
              <a:path w="7136765">
                <a:moveTo>
                  <a:pt x="0" y="0"/>
                </a:moveTo>
                <a:lnTo>
                  <a:pt x="7136660" y="0"/>
                </a:lnTo>
              </a:path>
            </a:pathLst>
          </a:custGeom>
          <a:ln w="9524">
            <a:solidFill>
              <a:srgbClr val="4DB6AC"/>
            </a:solidFill>
          </a:ln>
        </p:spPr>
        <p:txBody>
          <a:bodyPr wrap="square" lIns="0" tIns="0" rIns="0" bIns="0" rtlCol="0"/>
          <a:lstStyle/>
          <a:p>
            <a:endParaRPr/>
          </a:p>
        </p:txBody>
      </p:sp>
      <p:sp>
        <p:nvSpPr>
          <p:cNvPr id="2" name="Holder 2"/>
          <p:cNvSpPr>
            <a:spLocks noGrp="1"/>
          </p:cNvSpPr>
          <p:nvPr>
            <p:ph type="ctrTitle"/>
          </p:nvPr>
        </p:nvSpPr>
        <p:spPr>
          <a:xfrm>
            <a:off x="2075352" y="1815086"/>
            <a:ext cx="4993295" cy="690244"/>
          </a:xfrm>
          <a:prstGeom prst="rect">
            <a:avLst/>
          </a:prstGeom>
        </p:spPr>
        <p:txBody>
          <a:bodyPr wrap="square" lIns="0" tIns="0" rIns="0" bIns="0">
            <a:spAutoFit/>
          </a:bodyPr>
          <a:lstStyle>
            <a:lvl1pPr>
              <a:defRPr sz="3200" b="1" i="0">
                <a:solidFill>
                  <a:srgbClr val="EF6B00"/>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200" b="0" i="0">
                <a:solidFill>
                  <a:srgbClr val="695D4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200" b="0" i="0">
                <a:solidFill>
                  <a:srgbClr val="695D4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 y="5045689"/>
            <a:ext cx="9144000" cy="98425"/>
          </a:xfrm>
          <a:custGeom>
            <a:avLst/>
            <a:gdLst/>
            <a:ahLst/>
            <a:cxnLst/>
            <a:rect l="l" t="t" r="r" b="b"/>
            <a:pathLst>
              <a:path w="9144000" h="98425">
                <a:moveTo>
                  <a:pt x="9143981" y="97799"/>
                </a:moveTo>
                <a:lnTo>
                  <a:pt x="0" y="97799"/>
                </a:lnTo>
                <a:lnTo>
                  <a:pt x="0" y="0"/>
                </a:lnTo>
                <a:lnTo>
                  <a:pt x="9143981" y="0"/>
                </a:lnTo>
                <a:lnTo>
                  <a:pt x="9143981" y="97799"/>
                </a:lnTo>
                <a:close/>
              </a:path>
            </a:pathLst>
          </a:custGeom>
          <a:solidFill>
            <a:srgbClr val="4DB6AC"/>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498097" y="425399"/>
            <a:ext cx="6419816" cy="4599758"/>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 y="5045689"/>
            <a:ext cx="9144000" cy="98425"/>
          </a:xfrm>
          <a:custGeom>
            <a:avLst/>
            <a:gdLst/>
            <a:ahLst/>
            <a:cxnLst/>
            <a:rect l="l" t="t" r="r" b="b"/>
            <a:pathLst>
              <a:path w="9144000" h="98425">
                <a:moveTo>
                  <a:pt x="9143981" y="97799"/>
                </a:moveTo>
                <a:lnTo>
                  <a:pt x="0" y="97799"/>
                </a:lnTo>
                <a:lnTo>
                  <a:pt x="0" y="0"/>
                </a:lnTo>
                <a:lnTo>
                  <a:pt x="9143981" y="0"/>
                </a:lnTo>
                <a:lnTo>
                  <a:pt x="9143981" y="97799"/>
                </a:lnTo>
                <a:close/>
              </a:path>
            </a:pathLst>
          </a:custGeom>
          <a:solidFill>
            <a:srgbClr val="4DB6AC"/>
          </a:solidFill>
        </p:spPr>
        <p:txBody>
          <a:bodyPr wrap="square" lIns="0" tIns="0" rIns="0" bIns="0" rtlCol="0"/>
          <a:lstStyle/>
          <a:p>
            <a:endParaRPr/>
          </a:p>
        </p:txBody>
      </p:sp>
      <p:sp>
        <p:nvSpPr>
          <p:cNvPr id="2" name="Holder 2"/>
          <p:cNvSpPr>
            <a:spLocks noGrp="1"/>
          </p:cNvSpPr>
          <p:nvPr>
            <p:ph type="title"/>
          </p:nvPr>
        </p:nvSpPr>
        <p:spPr>
          <a:xfrm>
            <a:off x="384724" y="501589"/>
            <a:ext cx="4861560" cy="519430"/>
          </a:xfrm>
          <a:prstGeom prst="rect">
            <a:avLst/>
          </a:prstGeom>
        </p:spPr>
        <p:txBody>
          <a:bodyPr wrap="square" lIns="0" tIns="0" rIns="0" bIns="0">
            <a:spAutoFit/>
          </a:bodyPr>
          <a:lstStyle>
            <a:lvl1pPr>
              <a:defRPr sz="3200" b="1" i="0">
                <a:solidFill>
                  <a:srgbClr val="EF6B00"/>
                </a:solidFill>
                <a:latin typeface="Calibri"/>
                <a:cs typeface="Calibri"/>
              </a:defRPr>
            </a:lvl1pPr>
          </a:lstStyle>
          <a:p>
            <a:endParaRPr/>
          </a:p>
        </p:txBody>
      </p:sp>
      <p:sp>
        <p:nvSpPr>
          <p:cNvPr id="3" name="Holder 3"/>
          <p:cNvSpPr>
            <a:spLocks noGrp="1"/>
          </p:cNvSpPr>
          <p:nvPr>
            <p:ph type="body" idx="1"/>
          </p:nvPr>
        </p:nvSpPr>
        <p:spPr>
          <a:xfrm>
            <a:off x="521273" y="1333256"/>
            <a:ext cx="5205730" cy="3009900"/>
          </a:xfrm>
          <a:prstGeom prst="rect">
            <a:avLst/>
          </a:prstGeom>
        </p:spPr>
        <p:txBody>
          <a:bodyPr wrap="square" lIns="0" tIns="0" rIns="0" bIns="0">
            <a:spAutoFit/>
          </a:bodyPr>
          <a:lstStyle>
            <a:lvl1pPr>
              <a:defRPr sz="1200" b="0" i="0">
                <a:solidFill>
                  <a:srgbClr val="695D46"/>
                </a:solidFill>
                <a:latin typeface="Arial"/>
                <a:cs typeface="Aria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tackoverflow.com/questions/13121531/multi-client-server-common-way-for-2-way-connection-in"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90600" y="1815086"/>
            <a:ext cx="7162800" cy="683520"/>
          </a:xfrm>
          <a:prstGeom prst="rect">
            <a:avLst/>
          </a:prstGeom>
        </p:spPr>
        <p:txBody>
          <a:bodyPr vert="horz" wrap="square" lIns="0" tIns="13970" rIns="0" bIns="0" rtlCol="0">
            <a:spAutoFit/>
          </a:bodyPr>
          <a:lstStyle/>
          <a:p>
            <a:pPr marL="14604">
              <a:lnSpc>
                <a:spcPct val="100000"/>
              </a:lnSpc>
              <a:spcBef>
                <a:spcPts val="110"/>
              </a:spcBef>
            </a:pPr>
            <a:r>
              <a:rPr lang="en-IN" sz="4350" spc="-330" dirty="0"/>
              <a:t>Mastering Distributed</a:t>
            </a:r>
            <a:r>
              <a:rPr lang="en-IN" sz="4350" spc="-80" dirty="0"/>
              <a:t> </a:t>
            </a:r>
            <a:r>
              <a:rPr lang="en-IN" sz="4350" spc="-330" dirty="0"/>
              <a:t>System</a:t>
            </a:r>
            <a:r>
              <a:rPr lang="en-IN" sz="4350" spc="-65" dirty="0"/>
              <a:t> </a:t>
            </a:r>
            <a:r>
              <a:rPr lang="en-IN" sz="4350" spc="-275" dirty="0"/>
              <a:t>Design</a:t>
            </a:r>
            <a:endParaRPr sz="4350" dirty="0"/>
          </a:p>
        </p:txBody>
      </p:sp>
      <p:sp>
        <p:nvSpPr>
          <p:cNvPr id="3" name="object 3"/>
          <p:cNvSpPr txBox="1"/>
          <p:nvPr/>
        </p:nvSpPr>
        <p:spPr>
          <a:xfrm>
            <a:off x="1218341" y="2624935"/>
            <a:ext cx="6701790" cy="382156"/>
          </a:xfrm>
          <a:prstGeom prst="rect">
            <a:avLst/>
          </a:prstGeom>
        </p:spPr>
        <p:txBody>
          <a:bodyPr vert="horz" wrap="square" lIns="0" tIns="12700" rIns="0" bIns="0" rtlCol="0">
            <a:spAutoFit/>
          </a:bodyPr>
          <a:lstStyle/>
          <a:p>
            <a:pPr marL="12700" algn="ctr">
              <a:lnSpc>
                <a:spcPct val="100000"/>
              </a:lnSpc>
              <a:spcBef>
                <a:spcPts val="100"/>
              </a:spcBef>
            </a:pPr>
            <a:r>
              <a:rPr lang="en-IN" sz="2400" dirty="0">
                <a:solidFill>
                  <a:srgbClr val="695D46"/>
                </a:solidFill>
                <a:latin typeface="Arial"/>
                <a:cs typeface="Arial"/>
              </a:rPr>
              <a:t>Attributes of Distributed Systems</a:t>
            </a:r>
            <a:endParaRPr sz="24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330" dirty="0"/>
              <a:t>Attributes</a:t>
            </a:r>
            <a:endParaRPr spc="-150" dirty="0"/>
          </a:p>
        </p:txBody>
      </p:sp>
      <p:sp>
        <p:nvSpPr>
          <p:cNvPr id="4" name="object 4"/>
          <p:cNvSpPr txBox="1"/>
          <p:nvPr/>
        </p:nvSpPr>
        <p:spPr>
          <a:xfrm>
            <a:off x="475248" y="1289060"/>
            <a:ext cx="8363952" cy="3375283"/>
          </a:xfrm>
          <a:prstGeom prst="rect">
            <a:avLst/>
          </a:prstGeom>
        </p:spPr>
        <p:txBody>
          <a:bodyPr vert="horz" wrap="square" lIns="0" tIns="12700" rIns="0" bIns="0" rtlCol="0">
            <a:spAutoFit/>
          </a:bodyPr>
          <a:lstStyle/>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Communication</a:t>
            </a:r>
            <a:r>
              <a:rPr lang="en-US" sz="1800" dirty="0">
                <a:solidFill>
                  <a:schemeClr val="tx1"/>
                </a:solidFill>
                <a:latin typeface="Arial"/>
                <a:cs typeface="Arial"/>
              </a:rPr>
              <a:t> (</a:t>
            </a:r>
            <a:r>
              <a:rPr lang="en-US" sz="1800" i="1" dirty="0">
                <a:solidFill>
                  <a:schemeClr val="tx1"/>
                </a:solidFill>
                <a:latin typeface="Arial"/>
                <a:cs typeface="Arial"/>
              </a:rPr>
              <a:t>The fundamental challenge: how components talk</a:t>
            </a:r>
            <a:r>
              <a:rPr lang="en-US" sz="1800" dirty="0">
                <a:solidFill>
                  <a:schemeClr val="tx1"/>
                </a:solidFill>
                <a:latin typeface="Arial"/>
                <a:cs typeface="Arial"/>
              </a:rPr>
              <a:t>)</a:t>
            </a:r>
          </a:p>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Consistency</a:t>
            </a:r>
            <a:r>
              <a:rPr lang="en-US" sz="1800" dirty="0">
                <a:solidFill>
                  <a:schemeClr val="tx1"/>
                </a:solidFill>
                <a:latin typeface="Arial"/>
                <a:cs typeface="Arial"/>
              </a:rPr>
              <a:t> (</a:t>
            </a:r>
            <a:r>
              <a:rPr lang="en-US" sz="1800" i="1" dirty="0">
                <a:solidFill>
                  <a:schemeClr val="tx1"/>
                </a:solidFill>
                <a:latin typeface="Arial"/>
                <a:cs typeface="Arial"/>
              </a:rPr>
              <a:t>Everyone sees the same data at the same time</a:t>
            </a:r>
            <a:r>
              <a:rPr lang="en-US" sz="1800" dirty="0">
                <a:solidFill>
                  <a:schemeClr val="tx1"/>
                </a:solidFill>
                <a:latin typeface="Arial"/>
                <a:cs typeface="Arial"/>
              </a:rPr>
              <a:t>)</a:t>
            </a:r>
          </a:p>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Availability</a:t>
            </a:r>
            <a:r>
              <a:rPr lang="en-US" sz="1800" dirty="0">
                <a:solidFill>
                  <a:schemeClr val="tx1"/>
                </a:solidFill>
                <a:latin typeface="Arial"/>
                <a:cs typeface="Arial"/>
              </a:rPr>
              <a:t> (</a:t>
            </a:r>
            <a:r>
              <a:rPr lang="en-US" sz="1800" i="1" dirty="0">
                <a:solidFill>
                  <a:schemeClr val="tx1"/>
                </a:solidFill>
                <a:latin typeface="Arial"/>
                <a:cs typeface="Arial"/>
              </a:rPr>
              <a:t>Can you get a response, even if it's stale?)</a:t>
            </a:r>
          </a:p>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Reliability</a:t>
            </a:r>
            <a:r>
              <a:rPr lang="en-US" sz="1800" dirty="0">
                <a:solidFill>
                  <a:schemeClr val="tx1"/>
                </a:solidFill>
                <a:latin typeface="Arial"/>
                <a:cs typeface="Arial"/>
              </a:rPr>
              <a:t> (</a:t>
            </a:r>
            <a:r>
              <a:rPr lang="en-US" sz="1800" i="1" dirty="0">
                <a:solidFill>
                  <a:schemeClr val="tx1"/>
                </a:solidFill>
                <a:latin typeface="Arial"/>
                <a:cs typeface="Arial"/>
              </a:rPr>
              <a:t>Does the system behave correctly over time?)</a:t>
            </a:r>
          </a:p>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Fault Tolerance </a:t>
            </a:r>
            <a:r>
              <a:rPr lang="en-US" sz="1800" dirty="0">
                <a:solidFill>
                  <a:schemeClr val="tx1"/>
                </a:solidFill>
                <a:latin typeface="Arial"/>
                <a:cs typeface="Arial"/>
              </a:rPr>
              <a:t>(</a:t>
            </a:r>
            <a:r>
              <a:rPr lang="en-US" sz="1800" i="1" dirty="0">
                <a:solidFill>
                  <a:schemeClr val="tx1"/>
                </a:solidFill>
                <a:latin typeface="Arial"/>
                <a:cs typeface="Arial"/>
              </a:rPr>
              <a:t>How it achieves reliability despite failures</a:t>
            </a:r>
            <a:r>
              <a:rPr lang="en-US" sz="1800" dirty="0">
                <a:solidFill>
                  <a:schemeClr val="tx1"/>
                </a:solidFill>
                <a:latin typeface="Arial"/>
                <a:cs typeface="Arial"/>
              </a:rPr>
              <a:t>)</a:t>
            </a:r>
          </a:p>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Scalability</a:t>
            </a:r>
            <a:r>
              <a:rPr lang="en-US" sz="1800" dirty="0">
                <a:solidFill>
                  <a:schemeClr val="tx1"/>
                </a:solidFill>
                <a:latin typeface="Arial"/>
                <a:cs typeface="Arial"/>
              </a:rPr>
              <a:t> (</a:t>
            </a:r>
            <a:r>
              <a:rPr lang="en-US" sz="1800" i="1" dirty="0">
                <a:solidFill>
                  <a:schemeClr val="tx1"/>
                </a:solidFill>
                <a:latin typeface="Arial"/>
                <a:cs typeface="Arial"/>
              </a:rPr>
              <a:t>How it handles increased load</a:t>
            </a:r>
            <a:r>
              <a:rPr lang="en-US" sz="1800" dirty="0">
                <a:solidFill>
                  <a:schemeClr val="tx1"/>
                </a:solidFill>
                <a:latin typeface="Arial"/>
                <a:cs typeface="Arial"/>
              </a:rPr>
              <a:t>)</a:t>
            </a:r>
          </a:p>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Durability</a:t>
            </a:r>
            <a:r>
              <a:rPr lang="en-US" sz="1800" dirty="0">
                <a:solidFill>
                  <a:schemeClr val="tx1"/>
                </a:solidFill>
                <a:latin typeface="Arial"/>
                <a:cs typeface="Arial"/>
              </a:rPr>
              <a:t> (</a:t>
            </a:r>
            <a:r>
              <a:rPr lang="en-US" sz="1800" i="1" dirty="0">
                <a:solidFill>
                  <a:schemeClr val="tx1"/>
                </a:solidFill>
                <a:latin typeface="Arial"/>
                <a:cs typeface="Arial"/>
              </a:rPr>
              <a:t>The guarantee that your data must persist and not be lost</a:t>
            </a:r>
            <a:r>
              <a:rPr lang="en-US" sz="1800" dirty="0">
                <a:solidFill>
                  <a:schemeClr val="tx1"/>
                </a:solidFill>
                <a:latin typeface="Arial"/>
                <a:cs typeface="Arial"/>
              </a:rPr>
              <a:t>)</a:t>
            </a:r>
          </a:p>
          <a:p>
            <a:pPr marL="297815" marR="26670" indent="-285750">
              <a:lnSpc>
                <a:spcPct val="150000"/>
              </a:lnSpc>
              <a:spcBef>
                <a:spcPts val="100"/>
              </a:spcBef>
              <a:buFont typeface="Wingdings" panose="05000000000000000000" pitchFamily="2" charset="2"/>
              <a:buChar char="v"/>
              <a:tabLst>
                <a:tab pos="379095" algn="l"/>
              </a:tabLst>
            </a:pPr>
            <a:r>
              <a:rPr lang="en-US" sz="1800" b="1" dirty="0">
                <a:solidFill>
                  <a:schemeClr val="tx1"/>
                </a:solidFill>
                <a:latin typeface="Arial"/>
                <a:cs typeface="Arial"/>
              </a:rPr>
              <a:t>Maintainability</a:t>
            </a:r>
            <a:r>
              <a:rPr lang="en-US" sz="1800" dirty="0">
                <a:solidFill>
                  <a:schemeClr val="tx1"/>
                </a:solidFill>
                <a:latin typeface="Arial"/>
                <a:cs typeface="Arial"/>
              </a:rPr>
              <a:t> (</a:t>
            </a:r>
            <a:r>
              <a:rPr lang="en-US" sz="1800" i="1" dirty="0">
                <a:solidFill>
                  <a:schemeClr val="tx1"/>
                </a:solidFill>
                <a:latin typeface="Arial"/>
                <a:cs typeface="Arial"/>
              </a:rPr>
              <a:t>How we manage the system's evolution</a:t>
            </a:r>
            <a:r>
              <a:rPr lang="en-US" sz="1800" dirty="0">
                <a:solidFill>
                  <a:schemeClr val="tx1"/>
                </a:solidFill>
                <a:latin typeface="Arial"/>
                <a:cs typeface="Arial"/>
              </a:rPr>
              <a:t>)</a:t>
            </a:r>
            <a:endParaRPr sz="1800" dirty="0">
              <a:solidFill>
                <a:schemeClr val="tx1"/>
              </a:solidFill>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Communication</a:t>
            </a:r>
            <a:endParaRPr spc="-155" dirty="0"/>
          </a:p>
        </p:txBody>
      </p:sp>
      <p:sp>
        <p:nvSpPr>
          <p:cNvPr id="4" name="object 4"/>
          <p:cNvSpPr txBox="1"/>
          <p:nvPr/>
        </p:nvSpPr>
        <p:spPr>
          <a:xfrm>
            <a:off x="475248" y="1289060"/>
            <a:ext cx="8135351" cy="1161857"/>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dirty="0"/>
              <a:t>Communication is the first, foundational challenge of distributed systems.</a:t>
            </a:r>
          </a:p>
          <a:p>
            <a:pPr marL="285750" indent="-285750">
              <a:buFont typeface="Wingdings" panose="05000000000000000000" pitchFamily="2" charset="2"/>
              <a:buChar char="v"/>
            </a:pPr>
            <a:r>
              <a:rPr lang="en-US" dirty="0"/>
              <a:t>All interaction happens over a network—an imperfect &amp; unreliable medium.</a:t>
            </a:r>
          </a:p>
          <a:p>
            <a:pPr marL="285750" indent="-285750">
              <a:buFont typeface="Wingdings" panose="05000000000000000000" pitchFamily="2" charset="2"/>
              <a:buChar char="v"/>
            </a:pPr>
            <a:r>
              <a:rPr lang="en-US" b="1" dirty="0"/>
              <a:t>Example:</a:t>
            </a:r>
            <a:r>
              <a:rPr lang="en-US" dirty="0"/>
              <a:t> A web browser sending an HTTP request to a server.</a:t>
            </a:r>
          </a:p>
          <a:p>
            <a:endParaRPr lang="en-US" dirty="0"/>
          </a:p>
        </p:txBody>
      </p:sp>
      <p:pic>
        <p:nvPicPr>
          <p:cNvPr id="6" name="Picture 5">
            <a:extLst>
              <a:ext uri="{FF2B5EF4-FFF2-40B4-BE49-F238E27FC236}">
                <a16:creationId xmlns:a16="http://schemas.microsoft.com/office/drawing/2014/main" id="{07537487-D67D-D180-8C2A-1218F5D5B32A}"/>
              </a:ext>
            </a:extLst>
          </p:cNvPr>
          <p:cNvPicPr>
            <a:picLocks noChangeAspect="1"/>
          </p:cNvPicPr>
          <p:nvPr/>
        </p:nvPicPr>
        <p:blipFill>
          <a:blip r:embed="rId3">
            <a:grayscl/>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07575" y="2561936"/>
            <a:ext cx="6934200" cy="1914525"/>
          </a:xfrm>
          <a:prstGeom prst="rect">
            <a:avLst/>
          </a:prstGeom>
          <a:ln>
            <a:noFill/>
          </a:ln>
          <a:effectLst>
            <a:outerShdw blurRad="190500" algn="tl" rotWithShape="0">
              <a:srgbClr val="000000">
                <a:alpha val="70000"/>
              </a:srgbClr>
            </a:outerShdw>
          </a:effectLst>
        </p:spPr>
      </p:pic>
      <p:sp>
        <p:nvSpPr>
          <p:cNvPr id="7" name="TextBox 6">
            <a:extLst>
              <a:ext uri="{FF2B5EF4-FFF2-40B4-BE49-F238E27FC236}">
                <a16:creationId xmlns:a16="http://schemas.microsoft.com/office/drawing/2014/main" id="{AB2A8313-850E-F654-5C6B-D7928EB74B13}"/>
              </a:ext>
            </a:extLst>
          </p:cNvPr>
          <p:cNvSpPr txBox="1"/>
          <p:nvPr/>
        </p:nvSpPr>
        <p:spPr>
          <a:xfrm>
            <a:off x="685800" y="5143500"/>
            <a:ext cx="6562725" cy="230832"/>
          </a:xfrm>
          <a:prstGeom prst="rect">
            <a:avLst/>
          </a:prstGeom>
          <a:noFill/>
        </p:spPr>
        <p:txBody>
          <a:bodyPr wrap="square" rtlCol="0">
            <a:spAutoFit/>
          </a:bodyPr>
          <a:lstStyle/>
          <a:p>
            <a:endParaRPr lang="en-IN"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39ECD-5D20-7F54-D463-07E71F370DF2}"/>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1427B9E-CEE0-915F-2F61-86EB0047DF12}"/>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Communication Types</a:t>
            </a:r>
            <a:endParaRPr spc="-155" dirty="0"/>
          </a:p>
        </p:txBody>
      </p:sp>
      <p:sp>
        <p:nvSpPr>
          <p:cNvPr id="4" name="object 4">
            <a:extLst>
              <a:ext uri="{FF2B5EF4-FFF2-40B4-BE49-F238E27FC236}">
                <a16:creationId xmlns:a16="http://schemas.microsoft.com/office/drawing/2014/main" id="{9C5A3A54-1AF2-AF3C-4C1B-BB23EE086674}"/>
              </a:ext>
            </a:extLst>
          </p:cNvPr>
          <p:cNvSpPr txBox="1"/>
          <p:nvPr/>
        </p:nvSpPr>
        <p:spPr>
          <a:xfrm>
            <a:off x="475249" y="1289060"/>
            <a:ext cx="4477751" cy="1715854"/>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b="1" dirty="0"/>
              <a:t>Synchronous:</a:t>
            </a:r>
            <a:r>
              <a:rPr lang="en-US" dirty="0"/>
              <a:t> Sender waits for a response (like HTTP).</a:t>
            </a:r>
          </a:p>
          <a:p>
            <a:pPr marL="285750" indent="-285750">
              <a:buFont typeface="Wingdings" panose="05000000000000000000" pitchFamily="2" charset="2"/>
              <a:buChar char="v"/>
            </a:pPr>
            <a:r>
              <a:rPr lang="en-US" b="1" dirty="0"/>
              <a:t>Asynchronous:</a:t>
            </a:r>
            <a:r>
              <a:rPr lang="en-US" dirty="0"/>
              <a:t> Sender sends a message and moves on (like messaging queues).</a:t>
            </a:r>
          </a:p>
          <a:p>
            <a:endParaRPr lang="en-US" dirty="0"/>
          </a:p>
        </p:txBody>
      </p:sp>
      <p:pic>
        <p:nvPicPr>
          <p:cNvPr id="3076" name="Picture 4" descr="please generate a image where a computer sending request to server and servere sending respone back. please use simple icons  like laotop and terdisinal servere icon with arrow defind communication direction. please generate two compie image where async and sync communication for asycn use queue between.  add async and sync text befor each image not top of image&#10;&#10;&#10;">
            <a:extLst>
              <a:ext uri="{FF2B5EF4-FFF2-40B4-BE49-F238E27FC236}">
                <a16:creationId xmlns:a16="http://schemas.microsoft.com/office/drawing/2014/main" id="{BFE6383A-FE40-CC46-0EE9-8E86602C0F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927161"/>
            <a:ext cx="3714750" cy="371475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3110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AE349-A2DD-D279-DC52-48168AFD768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84C2447-BC61-B869-B9FF-8F29314E9F45}"/>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Coordination</a:t>
            </a:r>
            <a:endParaRPr spc="-155" dirty="0"/>
          </a:p>
        </p:txBody>
      </p:sp>
      <p:sp>
        <p:nvSpPr>
          <p:cNvPr id="4" name="object 4">
            <a:extLst>
              <a:ext uri="{FF2B5EF4-FFF2-40B4-BE49-F238E27FC236}">
                <a16:creationId xmlns:a16="http://schemas.microsoft.com/office/drawing/2014/main" id="{1F984221-ADF7-E697-90CA-A4207300E894}"/>
              </a:ext>
            </a:extLst>
          </p:cNvPr>
          <p:cNvSpPr txBox="1"/>
          <p:nvPr/>
        </p:nvSpPr>
        <p:spPr>
          <a:xfrm>
            <a:off x="475249" y="1289060"/>
            <a:ext cx="5011152" cy="1438855"/>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dirty="0"/>
              <a:t>Coordination is how nodes make collective decisions and maintain consistent state.</a:t>
            </a:r>
          </a:p>
          <a:p>
            <a:pPr marL="285750" indent="-285750">
              <a:buFont typeface="Wingdings" panose="05000000000000000000" pitchFamily="2" charset="2"/>
              <a:buChar char="v"/>
            </a:pPr>
            <a:r>
              <a:rPr lang="en-US" dirty="0"/>
              <a:t>It's essential for </a:t>
            </a:r>
            <a:r>
              <a:rPr lang="en-US" b="1" dirty="0"/>
              <a:t>Reliability</a:t>
            </a:r>
            <a:r>
              <a:rPr lang="en-US" dirty="0"/>
              <a:t> (correct behavior) but often conflicts with </a:t>
            </a:r>
            <a:r>
              <a:rPr lang="en-US" b="1" dirty="0"/>
              <a:t>Scalability</a:t>
            </a:r>
            <a:r>
              <a:rPr lang="en-US" dirty="0"/>
              <a:t>.</a:t>
            </a:r>
          </a:p>
          <a:p>
            <a:endParaRPr lang="en-US" dirty="0"/>
          </a:p>
        </p:txBody>
      </p:sp>
      <p:pic>
        <p:nvPicPr>
          <p:cNvPr id="2050" name="Picture 2" descr="Minimalist vector illustration of multiple cars of different colors (blue, red, yellow) orderly crossing a four-way intersection with clear traffic signals. The cars are in separate lanes, synchronized in movement. Clean, flat design with a tech/architectural feel, white background. No text.. Image 4 of 4">
            <a:extLst>
              <a:ext uri="{FF2B5EF4-FFF2-40B4-BE49-F238E27FC236}">
                <a16:creationId xmlns:a16="http://schemas.microsoft.com/office/drawing/2014/main" id="{7F9A2FC3-98DB-5BB2-5132-2F3EB33BE5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900112"/>
            <a:ext cx="3343275" cy="334327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590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87FDE-9799-6907-3195-DEAACA62762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2B9B315-2E5B-1DCD-DF7A-9412B012AD82}"/>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Consistency</a:t>
            </a:r>
            <a:endParaRPr spc="-155" dirty="0"/>
          </a:p>
        </p:txBody>
      </p:sp>
      <p:sp>
        <p:nvSpPr>
          <p:cNvPr id="4" name="object 4">
            <a:extLst>
              <a:ext uri="{FF2B5EF4-FFF2-40B4-BE49-F238E27FC236}">
                <a16:creationId xmlns:a16="http://schemas.microsoft.com/office/drawing/2014/main" id="{50929A4A-6A8A-5659-D77F-626ED20CAA6E}"/>
              </a:ext>
            </a:extLst>
          </p:cNvPr>
          <p:cNvSpPr txBox="1"/>
          <p:nvPr/>
        </p:nvSpPr>
        <p:spPr>
          <a:xfrm>
            <a:off x="475249" y="1289060"/>
            <a:ext cx="4771035" cy="3377848"/>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b="1" dirty="0"/>
              <a:t>Definition:</a:t>
            </a:r>
            <a:r>
              <a:rPr lang="en-US" dirty="0"/>
              <a:t> The guarantee that all users see the same data at the same time.</a:t>
            </a:r>
          </a:p>
          <a:p>
            <a:pPr marL="285750" indent="-285750">
              <a:buFont typeface="Wingdings" panose="05000000000000000000" pitchFamily="2" charset="2"/>
              <a:buChar char="v"/>
            </a:pPr>
            <a:r>
              <a:rPr lang="en-US" b="1" dirty="0"/>
              <a:t>Core Problem:</a:t>
            </a:r>
            <a:r>
              <a:rPr lang="en-US" dirty="0"/>
              <a:t> Data is replicated across multiple nodes for reliability and performance.</a:t>
            </a:r>
          </a:p>
          <a:p>
            <a:pPr marL="285750" indent="-285750">
              <a:buFont typeface="Wingdings" panose="05000000000000000000" pitchFamily="2" charset="2"/>
              <a:buChar char="v"/>
            </a:pPr>
            <a:r>
              <a:rPr lang="en-US" b="1" dirty="0"/>
              <a:t>The Challenge:</a:t>
            </a:r>
            <a:r>
              <a:rPr lang="en-US" dirty="0"/>
              <a:t> How do we keep all copies synchronized when updates occur?</a:t>
            </a:r>
          </a:p>
          <a:p>
            <a:pPr marL="285750" indent="-285750">
              <a:buFont typeface="Wingdings" panose="05000000000000000000" pitchFamily="2" charset="2"/>
              <a:buChar char="v"/>
            </a:pPr>
            <a:r>
              <a:rPr lang="en-US" b="1" dirty="0"/>
              <a:t>The Goal:</a:t>
            </a:r>
            <a:r>
              <a:rPr lang="en-US" dirty="0"/>
              <a:t> Make the distributed system behave like a </a:t>
            </a:r>
            <a:r>
              <a:rPr lang="en-US" b="1" dirty="0"/>
              <a:t>single source of truth</a:t>
            </a:r>
            <a:r>
              <a:rPr lang="en-US" dirty="0"/>
              <a:t>.</a:t>
            </a:r>
          </a:p>
          <a:p>
            <a:pPr marL="285750" indent="-285750">
              <a:buFont typeface="Wingdings" panose="05000000000000000000" pitchFamily="2" charset="2"/>
              <a:buChar char="v"/>
            </a:pPr>
            <a:r>
              <a:rPr lang="en-US" b="1" dirty="0"/>
              <a:t>Real-World Example:</a:t>
            </a:r>
            <a:r>
              <a:rPr lang="en-US" dirty="0"/>
              <a:t> Your bank balance must be consistent across all ATMs, apps, and branches.</a:t>
            </a:r>
          </a:p>
        </p:txBody>
      </p:sp>
      <p:pic>
        <p:nvPicPr>
          <p:cNvPr id="9" name="Picture 8" descr="A person looking at a couple of phones">
            <a:extLst>
              <a:ext uri="{FF2B5EF4-FFF2-40B4-BE49-F238E27FC236}">
                <a16:creationId xmlns:a16="http://schemas.microsoft.com/office/drawing/2014/main" id="{E9556886-0A8E-7490-976C-41C4B6FB8C62}"/>
              </a:ext>
            </a:extLst>
          </p:cNvPr>
          <p:cNvPicPr>
            <a:picLocks noChangeAspect="1"/>
          </p:cNvPicPr>
          <p:nvPr/>
        </p:nvPicPr>
        <p:blipFill>
          <a:blip r:embed="rId3"/>
          <a:stretch>
            <a:fillRect/>
          </a:stretch>
        </p:blipFill>
        <p:spPr>
          <a:xfrm>
            <a:off x="5334001" y="819150"/>
            <a:ext cx="3597972" cy="35052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971922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43A9A-3310-C69C-1ABE-3799D40D6FE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E7F193E-1988-F027-ED93-D0791F6F3E9A}"/>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Consistency Models</a:t>
            </a:r>
            <a:endParaRPr spc="-155" dirty="0"/>
          </a:p>
        </p:txBody>
      </p:sp>
      <p:sp>
        <p:nvSpPr>
          <p:cNvPr id="4" name="object 4">
            <a:extLst>
              <a:ext uri="{FF2B5EF4-FFF2-40B4-BE49-F238E27FC236}">
                <a16:creationId xmlns:a16="http://schemas.microsoft.com/office/drawing/2014/main" id="{4AAADCC6-AB6A-5FB0-4E25-0C0170ECCDFD}"/>
              </a:ext>
            </a:extLst>
          </p:cNvPr>
          <p:cNvSpPr txBox="1"/>
          <p:nvPr/>
        </p:nvSpPr>
        <p:spPr>
          <a:xfrm>
            <a:off x="475250" y="1123950"/>
            <a:ext cx="4861560" cy="3377848"/>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b="1" dirty="0"/>
              <a:t>Strong Consistency</a:t>
            </a:r>
            <a:endParaRPr lang="en-US" dirty="0"/>
          </a:p>
          <a:p>
            <a:pPr marL="285750" lvl="8" indent="-285750">
              <a:buFont typeface="Courier New" panose="02070309020205020404" pitchFamily="49" charset="0"/>
              <a:buChar char="o"/>
            </a:pPr>
            <a:r>
              <a:rPr lang="en-US" b="1" dirty="0"/>
              <a:t>All</a:t>
            </a:r>
            <a:r>
              <a:rPr lang="en-US" dirty="0"/>
              <a:t> nodes see the </a:t>
            </a:r>
            <a:r>
              <a:rPr lang="en-US" b="1" dirty="0"/>
              <a:t>latest</a:t>
            </a:r>
            <a:r>
              <a:rPr lang="en-US" dirty="0"/>
              <a:t> write </a:t>
            </a:r>
            <a:r>
              <a:rPr lang="en-US" b="1" dirty="0"/>
              <a:t>immediately</a:t>
            </a:r>
            <a:r>
              <a:rPr lang="en-US" dirty="0"/>
              <a:t>.</a:t>
            </a:r>
          </a:p>
          <a:p>
            <a:pPr marL="285750" lvl="8" indent="-285750">
              <a:buFont typeface="Courier New" panose="02070309020205020404" pitchFamily="49" charset="0"/>
              <a:buChar char="o"/>
            </a:pPr>
            <a:r>
              <a:rPr lang="en-US" dirty="0"/>
              <a:t>The system acts like a single, up-to-date copy.</a:t>
            </a:r>
          </a:p>
          <a:p>
            <a:pPr marL="285750" lvl="8" indent="-285750">
              <a:buFont typeface="Courier New" panose="02070309020205020404" pitchFamily="49" charset="0"/>
              <a:buChar char="o"/>
            </a:pPr>
            <a:r>
              <a:rPr lang="en-US" dirty="0"/>
              <a:t>Can be slower and may reduce availability during failures.</a:t>
            </a:r>
          </a:p>
          <a:p>
            <a:pPr marL="285750" indent="-285750">
              <a:buFont typeface="Wingdings" panose="05000000000000000000" pitchFamily="2" charset="2"/>
              <a:buChar char="v"/>
            </a:pPr>
            <a:r>
              <a:rPr lang="en-US" b="1" dirty="0"/>
              <a:t>Eventual Consistency</a:t>
            </a:r>
            <a:endParaRPr lang="en-US" dirty="0"/>
          </a:p>
          <a:p>
            <a:pPr marL="285750" indent="-285750">
              <a:buFont typeface="Courier New" panose="02070309020205020404" pitchFamily="49" charset="0"/>
              <a:buChar char="o"/>
            </a:pPr>
            <a:r>
              <a:rPr lang="en-US" dirty="0"/>
              <a:t>Given </a:t>
            </a:r>
            <a:r>
              <a:rPr lang="en-US" b="1" dirty="0"/>
              <a:t>no new updates</a:t>
            </a:r>
            <a:r>
              <a:rPr lang="en-US" dirty="0"/>
              <a:t>, </a:t>
            </a:r>
            <a:r>
              <a:rPr lang="en-US" b="1" dirty="0"/>
              <a:t>all</a:t>
            </a:r>
            <a:r>
              <a:rPr lang="en-US" dirty="0"/>
              <a:t> nodes will </a:t>
            </a:r>
            <a:r>
              <a:rPr lang="en-US" b="1" dirty="0"/>
              <a:t>eventually</a:t>
            </a:r>
            <a:r>
              <a:rPr lang="en-US" dirty="0"/>
              <a:t> see the same value.</a:t>
            </a:r>
          </a:p>
          <a:p>
            <a:pPr marL="285750" indent="-285750">
              <a:buFont typeface="Courier New" panose="02070309020205020404" pitchFamily="49" charset="0"/>
              <a:buChar char="o"/>
            </a:pPr>
            <a:r>
              <a:rPr lang="en-US" dirty="0"/>
              <a:t>Temporary inconsistencies are allowed; they resolve over time.</a:t>
            </a:r>
          </a:p>
          <a:p>
            <a:pPr marL="285750" indent="-285750">
              <a:buFont typeface="Courier New" panose="02070309020205020404" pitchFamily="49" charset="0"/>
              <a:buChar char="o"/>
            </a:pPr>
            <a:r>
              <a:rPr lang="en-US" dirty="0"/>
              <a:t>Higher availability and better performance.</a:t>
            </a:r>
          </a:p>
        </p:txBody>
      </p:sp>
      <p:pic>
        <p:nvPicPr>
          <p:cNvPr id="4098" name="Picture 2" descr="please generate data consistency models image for stronge and eventually consistencly only">
            <a:extLst>
              <a:ext uri="{FF2B5EF4-FFF2-40B4-BE49-F238E27FC236}">
                <a16:creationId xmlns:a16="http://schemas.microsoft.com/office/drawing/2014/main" id="{0568A380-347B-7817-04CB-98FA65CBCB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761304"/>
            <a:ext cx="3714750" cy="371475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8308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59E83-5489-7418-05FA-B01D7325DE3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690328E-3850-BF7F-13FF-82CB8E6439A7}"/>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Availability</a:t>
            </a:r>
            <a:endParaRPr spc="-155" dirty="0"/>
          </a:p>
        </p:txBody>
      </p:sp>
      <p:sp>
        <p:nvSpPr>
          <p:cNvPr id="4" name="object 4">
            <a:extLst>
              <a:ext uri="{FF2B5EF4-FFF2-40B4-BE49-F238E27FC236}">
                <a16:creationId xmlns:a16="http://schemas.microsoft.com/office/drawing/2014/main" id="{79F70281-E339-E458-B69C-B14F74737FAA}"/>
              </a:ext>
            </a:extLst>
          </p:cNvPr>
          <p:cNvSpPr txBox="1"/>
          <p:nvPr/>
        </p:nvSpPr>
        <p:spPr>
          <a:xfrm>
            <a:off x="475250" y="1123950"/>
            <a:ext cx="6611350" cy="1161857"/>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dirty="0"/>
              <a:t>A measure of whether a system is </a:t>
            </a:r>
            <a:r>
              <a:rPr lang="en-US" b="1" dirty="0"/>
              <a:t>operational and able to respond</a:t>
            </a:r>
            <a:r>
              <a:rPr lang="en-US" dirty="0"/>
              <a:t> to requests.</a:t>
            </a:r>
          </a:p>
          <a:p>
            <a:pPr marL="285750" indent="-285750">
              <a:buFont typeface="Wingdings" panose="05000000000000000000" pitchFamily="2" charset="2"/>
              <a:buChar char="v"/>
            </a:pPr>
            <a:r>
              <a:rPr lang="en-US" dirty="0"/>
              <a:t>The system can </a:t>
            </a:r>
            <a:r>
              <a:rPr lang="en-US" b="1" dirty="0"/>
              <a:t>respond to requests</a:t>
            </a:r>
            <a:r>
              <a:rPr lang="en-US" dirty="0"/>
              <a:t> (even if with degraded performance).</a:t>
            </a:r>
          </a:p>
        </p:txBody>
      </p:sp>
      <p:sp>
        <p:nvSpPr>
          <p:cNvPr id="5" name="TextBox 4">
            <a:extLst>
              <a:ext uri="{FF2B5EF4-FFF2-40B4-BE49-F238E27FC236}">
                <a16:creationId xmlns:a16="http://schemas.microsoft.com/office/drawing/2014/main" id="{ACD04A37-E8A7-7FBB-62A8-CA01B8EC3BE2}"/>
              </a:ext>
            </a:extLst>
          </p:cNvPr>
          <p:cNvSpPr txBox="1"/>
          <p:nvPr/>
        </p:nvSpPr>
        <p:spPr>
          <a:xfrm>
            <a:off x="171450" y="3257550"/>
            <a:ext cx="7677150" cy="369332"/>
          </a:xfrm>
          <a:prstGeom prst="rect">
            <a:avLst/>
          </a:prstGeom>
          <a:noFill/>
        </p:spPr>
        <p:txBody>
          <a:bodyPr wrap="square">
            <a:spAutoFit/>
          </a:bodyPr>
          <a:lstStyle/>
          <a:p>
            <a:r>
              <a:rPr lang="en-IN" dirty="0"/>
              <a:t>Availability (%) = [(Total Time - Total Downtime) / Total Time] × 100</a:t>
            </a:r>
          </a:p>
        </p:txBody>
      </p:sp>
    </p:spTree>
    <p:extLst>
      <p:ext uri="{BB962C8B-B14F-4D97-AF65-F5344CB8AC3E}">
        <p14:creationId xmlns:p14="http://schemas.microsoft.com/office/powerpoint/2010/main" val="45446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C90E6-497C-4C50-A25A-6D5F7F36B27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3020D90-0A8D-A10E-F2DD-8C4990669A3E}"/>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Measuring Availability</a:t>
            </a:r>
            <a:endParaRPr spc="-155" dirty="0"/>
          </a:p>
        </p:txBody>
      </p:sp>
      <p:graphicFrame>
        <p:nvGraphicFramePr>
          <p:cNvPr id="2" name="Table 1">
            <a:extLst>
              <a:ext uri="{FF2B5EF4-FFF2-40B4-BE49-F238E27FC236}">
                <a16:creationId xmlns:a16="http://schemas.microsoft.com/office/drawing/2014/main" id="{F95B5B22-37C1-7840-8EFD-5F87CBA80A6D}"/>
              </a:ext>
            </a:extLst>
          </p:cNvPr>
          <p:cNvGraphicFramePr>
            <a:graphicFrameLocks noGrp="1"/>
          </p:cNvGraphicFramePr>
          <p:nvPr>
            <p:extLst>
              <p:ext uri="{D42A27DB-BD31-4B8C-83A1-F6EECF244321}">
                <p14:modId xmlns:p14="http://schemas.microsoft.com/office/powerpoint/2010/main" val="1639037685"/>
              </p:ext>
            </p:extLst>
          </p:nvPr>
        </p:nvGraphicFramePr>
        <p:xfrm>
          <a:off x="384724" y="1110286"/>
          <a:ext cx="8374553" cy="3061664"/>
        </p:xfrm>
        <a:graphic>
          <a:graphicData uri="http://schemas.openxmlformats.org/drawingml/2006/table">
            <a:tbl>
              <a:tblPr/>
              <a:tblGrid>
                <a:gridCol w="1910699">
                  <a:extLst>
                    <a:ext uri="{9D8B030D-6E8A-4147-A177-3AD203B41FA5}">
                      <a16:colId xmlns:a16="http://schemas.microsoft.com/office/drawing/2014/main" val="390564009"/>
                    </a:ext>
                  </a:extLst>
                </a:gridCol>
                <a:gridCol w="2154618">
                  <a:extLst>
                    <a:ext uri="{9D8B030D-6E8A-4147-A177-3AD203B41FA5}">
                      <a16:colId xmlns:a16="http://schemas.microsoft.com/office/drawing/2014/main" val="377576045"/>
                    </a:ext>
                  </a:extLst>
                </a:gridCol>
                <a:gridCol w="2154618">
                  <a:extLst>
                    <a:ext uri="{9D8B030D-6E8A-4147-A177-3AD203B41FA5}">
                      <a16:colId xmlns:a16="http://schemas.microsoft.com/office/drawing/2014/main" val="5736298"/>
                    </a:ext>
                  </a:extLst>
                </a:gridCol>
                <a:gridCol w="2154618">
                  <a:extLst>
                    <a:ext uri="{9D8B030D-6E8A-4147-A177-3AD203B41FA5}">
                      <a16:colId xmlns:a16="http://schemas.microsoft.com/office/drawing/2014/main" val="977510982"/>
                    </a:ext>
                  </a:extLst>
                </a:gridCol>
              </a:tblGrid>
              <a:tr h="454668">
                <a:tc>
                  <a:txBody>
                    <a:bodyPr/>
                    <a:lstStyle/>
                    <a:p>
                      <a:pPr algn="l">
                        <a:lnSpc>
                          <a:spcPts val="1875"/>
                        </a:lnSpc>
                        <a:buNone/>
                      </a:pPr>
                      <a:r>
                        <a:rPr lang="en-IN" sz="1300" b="1">
                          <a:effectLst/>
                          <a:latin typeface="quote-cjk-patch"/>
                        </a:rPr>
                        <a:t>Availability %</a:t>
                      </a:r>
                      <a:endParaRPr lang="en-IN" sz="1300" b="0">
                        <a:effectLst/>
                        <a:latin typeface="quote-cjk-patch"/>
                      </a:endParaRPr>
                    </a:p>
                  </a:txBody>
                  <a:tcPr marL="65472" marR="87296" marT="54560" marB="54560" anchor="ctr">
                    <a:lnL>
                      <a:noFill/>
                    </a:lnL>
                    <a:lnR>
                      <a:noFill/>
                    </a:lnR>
                    <a:lnT>
                      <a:noFill/>
                    </a:lnT>
                    <a:lnB>
                      <a:noFill/>
                    </a:lnB>
                    <a:noFill/>
                  </a:tcPr>
                </a:tc>
                <a:tc>
                  <a:txBody>
                    <a:bodyPr/>
                    <a:lstStyle/>
                    <a:p>
                      <a:pPr algn="l">
                        <a:lnSpc>
                          <a:spcPts val="1875"/>
                        </a:lnSpc>
                        <a:buNone/>
                      </a:pPr>
                      <a:r>
                        <a:rPr lang="en-IN" sz="1300" b="1">
                          <a:effectLst/>
                          <a:latin typeface="quote-cjk-patch"/>
                        </a:rPr>
                        <a:t>"Nines"</a:t>
                      </a:r>
                      <a:endParaRPr lang="en-IN" sz="1300" b="0">
                        <a:effectLst/>
                        <a:latin typeface="quote-cjk-patch"/>
                      </a:endParaRPr>
                    </a:p>
                  </a:txBody>
                  <a:tcPr marL="87296" marR="87296" marT="54560" marB="54560" anchor="ctr">
                    <a:lnL>
                      <a:noFill/>
                    </a:lnL>
                    <a:lnR>
                      <a:noFill/>
                    </a:lnR>
                    <a:lnT>
                      <a:noFill/>
                    </a:lnT>
                    <a:lnB>
                      <a:noFill/>
                    </a:lnB>
                    <a:noFill/>
                  </a:tcPr>
                </a:tc>
                <a:tc>
                  <a:txBody>
                    <a:bodyPr/>
                    <a:lstStyle/>
                    <a:p>
                      <a:pPr algn="l">
                        <a:lnSpc>
                          <a:spcPts val="1875"/>
                        </a:lnSpc>
                        <a:buNone/>
                      </a:pPr>
                      <a:r>
                        <a:rPr lang="en-IN" sz="1300" b="1">
                          <a:effectLst/>
                          <a:latin typeface="quote-cjk-patch"/>
                        </a:rPr>
                        <a:t>Downtime per Year</a:t>
                      </a:r>
                      <a:endParaRPr lang="en-IN" sz="1300" b="0">
                        <a:effectLst/>
                        <a:latin typeface="quote-cjk-patch"/>
                      </a:endParaRPr>
                    </a:p>
                  </a:txBody>
                  <a:tcPr marL="87296" marR="87296" marT="54560" marB="54560" anchor="ctr">
                    <a:lnL>
                      <a:noFill/>
                    </a:lnL>
                    <a:lnR>
                      <a:noFill/>
                    </a:lnR>
                    <a:lnT>
                      <a:noFill/>
                    </a:lnT>
                    <a:lnB>
                      <a:noFill/>
                    </a:lnB>
                    <a:noFill/>
                  </a:tcPr>
                </a:tc>
                <a:tc>
                  <a:txBody>
                    <a:bodyPr/>
                    <a:lstStyle/>
                    <a:p>
                      <a:pPr algn="l">
                        <a:lnSpc>
                          <a:spcPts val="1875"/>
                        </a:lnSpc>
                        <a:buNone/>
                      </a:pPr>
                      <a:r>
                        <a:rPr lang="en-IN" sz="1300" b="1">
                          <a:effectLst/>
                          <a:latin typeface="quote-cjk-patch"/>
                        </a:rPr>
                        <a:t>Downtime per Month</a:t>
                      </a:r>
                      <a:endParaRPr lang="en-IN" sz="1300" b="0">
                        <a:effectLst/>
                        <a:latin typeface="quote-cjk-patch"/>
                      </a:endParaRPr>
                    </a:p>
                  </a:txBody>
                  <a:tcPr marL="87296" marR="87296" marT="54560" marB="54560" anchor="ctr">
                    <a:lnL>
                      <a:noFill/>
                    </a:lnL>
                    <a:lnR>
                      <a:noFill/>
                    </a:lnR>
                    <a:lnT>
                      <a:noFill/>
                    </a:lnT>
                    <a:lnB>
                      <a:noFill/>
                    </a:lnB>
                    <a:noFill/>
                  </a:tcPr>
                </a:tc>
                <a:extLst>
                  <a:ext uri="{0D108BD9-81ED-4DB2-BD59-A6C34878D82A}">
                    <a16:rowId xmlns:a16="http://schemas.microsoft.com/office/drawing/2014/main" val="2092171703"/>
                  </a:ext>
                </a:extLst>
              </a:tr>
              <a:tr h="281894">
                <a:tc>
                  <a:txBody>
                    <a:bodyPr/>
                    <a:lstStyle/>
                    <a:p>
                      <a:pPr>
                        <a:lnSpc>
                          <a:spcPts val="1875"/>
                        </a:lnSpc>
                        <a:buNone/>
                      </a:pPr>
                      <a:r>
                        <a:rPr lang="en-IN" sz="1300" b="0">
                          <a:effectLst/>
                          <a:latin typeface="quote-cjk-patch"/>
                        </a:rPr>
                        <a:t>99%</a:t>
                      </a:r>
                    </a:p>
                  </a:txBody>
                  <a:tcPr marL="65472"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Two Nines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3.65 days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7.3 hours</a:t>
                      </a:r>
                    </a:p>
                  </a:txBody>
                  <a:tcPr marL="87296" marR="65472" marT="54560" marB="54560" anchor="ctr">
                    <a:lnL>
                      <a:noFill/>
                    </a:lnL>
                    <a:lnR>
                      <a:noFill/>
                    </a:lnR>
                    <a:lnT>
                      <a:noFill/>
                    </a:lnT>
                    <a:lnB>
                      <a:noFill/>
                    </a:lnB>
                    <a:noFill/>
                  </a:tcPr>
                </a:tc>
                <a:extLst>
                  <a:ext uri="{0D108BD9-81ED-4DB2-BD59-A6C34878D82A}">
                    <a16:rowId xmlns:a16="http://schemas.microsoft.com/office/drawing/2014/main" val="1451665471"/>
                  </a:ext>
                </a:extLst>
              </a:tr>
              <a:tr h="454668">
                <a:tc>
                  <a:txBody>
                    <a:bodyPr/>
                    <a:lstStyle/>
                    <a:p>
                      <a:pPr>
                        <a:lnSpc>
                          <a:spcPts val="1875"/>
                        </a:lnSpc>
                        <a:buNone/>
                      </a:pPr>
                      <a:r>
                        <a:rPr lang="en-IN" sz="1300" b="0">
                          <a:effectLst/>
                          <a:latin typeface="quote-cjk-patch"/>
                        </a:rPr>
                        <a:t>99.9%</a:t>
                      </a:r>
                    </a:p>
                  </a:txBody>
                  <a:tcPr marL="65472" marR="87296" marT="54560" marB="54560" anchor="ctr">
                    <a:lnL>
                      <a:noFill/>
                    </a:lnL>
                    <a:lnR>
                      <a:noFill/>
                    </a:lnR>
                    <a:lnT>
                      <a:noFill/>
                    </a:lnT>
                    <a:lnB>
                      <a:noFill/>
                    </a:lnB>
                    <a:noFill/>
                  </a:tcPr>
                </a:tc>
                <a:tc>
                  <a:txBody>
                    <a:bodyPr/>
                    <a:lstStyle/>
                    <a:p>
                      <a:pPr>
                        <a:lnSpc>
                          <a:spcPts val="1875"/>
                        </a:lnSpc>
                        <a:buNone/>
                      </a:pPr>
                      <a:r>
                        <a:rPr lang="en-IN" sz="1300" b="0" dirty="0">
                          <a:effectLst/>
                          <a:latin typeface="quote-cjk-patch"/>
                        </a:rPr>
                        <a:t>Three Nines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8.76 hours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43.8 minutes</a:t>
                      </a:r>
                    </a:p>
                  </a:txBody>
                  <a:tcPr marL="87296" marR="65472" marT="54560" marB="54560" anchor="ctr">
                    <a:lnL>
                      <a:noFill/>
                    </a:lnL>
                    <a:lnR>
                      <a:noFill/>
                    </a:lnR>
                    <a:lnT>
                      <a:noFill/>
                    </a:lnT>
                    <a:lnB>
                      <a:noFill/>
                    </a:lnB>
                    <a:noFill/>
                  </a:tcPr>
                </a:tc>
                <a:extLst>
                  <a:ext uri="{0D108BD9-81ED-4DB2-BD59-A6C34878D82A}">
                    <a16:rowId xmlns:a16="http://schemas.microsoft.com/office/drawing/2014/main" val="2403092957"/>
                  </a:ext>
                </a:extLst>
              </a:tr>
              <a:tr h="454668">
                <a:tc>
                  <a:txBody>
                    <a:bodyPr/>
                    <a:lstStyle/>
                    <a:p>
                      <a:pPr>
                        <a:lnSpc>
                          <a:spcPts val="1875"/>
                        </a:lnSpc>
                        <a:buNone/>
                      </a:pPr>
                      <a:r>
                        <a:rPr lang="en-IN" sz="1300" b="0">
                          <a:effectLst/>
                          <a:latin typeface="quote-cjk-patch"/>
                        </a:rPr>
                        <a:t>99.99%</a:t>
                      </a:r>
                    </a:p>
                  </a:txBody>
                  <a:tcPr marL="65472" marR="87296" marT="54560" marB="54560" anchor="ctr">
                    <a:lnL>
                      <a:noFill/>
                    </a:lnL>
                    <a:lnR>
                      <a:noFill/>
                    </a:lnR>
                    <a:lnT>
                      <a:noFill/>
                    </a:lnT>
                    <a:lnB>
                      <a:noFill/>
                    </a:lnB>
                    <a:noFill/>
                  </a:tcPr>
                </a:tc>
                <a:tc>
                  <a:txBody>
                    <a:bodyPr/>
                    <a:lstStyle/>
                    <a:p>
                      <a:pPr>
                        <a:lnSpc>
                          <a:spcPts val="1875"/>
                        </a:lnSpc>
                        <a:buNone/>
                      </a:pPr>
                      <a:r>
                        <a:rPr lang="en-IN" sz="1300" b="0" dirty="0">
                          <a:effectLst/>
                          <a:latin typeface="quote-cjk-patch"/>
                        </a:rPr>
                        <a:t>Four Nines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52.6 minutes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4.38 minutes</a:t>
                      </a:r>
                    </a:p>
                  </a:txBody>
                  <a:tcPr marL="87296" marR="65472" marT="54560" marB="54560" anchor="ctr">
                    <a:lnL>
                      <a:noFill/>
                    </a:lnL>
                    <a:lnR>
                      <a:noFill/>
                    </a:lnR>
                    <a:lnT>
                      <a:noFill/>
                    </a:lnT>
                    <a:lnB>
                      <a:noFill/>
                    </a:lnB>
                    <a:noFill/>
                  </a:tcPr>
                </a:tc>
                <a:extLst>
                  <a:ext uri="{0D108BD9-81ED-4DB2-BD59-A6C34878D82A}">
                    <a16:rowId xmlns:a16="http://schemas.microsoft.com/office/drawing/2014/main" val="656858895"/>
                  </a:ext>
                </a:extLst>
              </a:tr>
              <a:tr h="454668">
                <a:tc>
                  <a:txBody>
                    <a:bodyPr/>
                    <a:lstStyle/>
                    <a:p>
                      <a:pPr>
                        <a:lnSpc>
                          <a:spcPts val="1875"/>
                        </a:lnSpc>
                        <a:buNone/>
                      </a:pPr>
                      <a:r>
                        <a:rPr lang="en-IN" sz="1300" b="0">
                          <a:effectLst/>
                          <a:latin typeface="quote-cjk-patch"/>
                        </a:rPr>
                        <a:t>99.999%</a:t>
                      </a:r>
                    </a:p>
                  </a:txBody>
                  <a:tcPr marL="65472"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Five Nines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5.26 minutes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25.9 seconds</a:t>
                      </a:r>
                    </a:p>
                  </a:txBody>
                  <a:tcPr marL="87296" marR="65472" marT="54560" marB="54560" anchor="ctr">
                    <a:lnL>
                      <a:noFill/>
                    </a:lnL>
                    <a:lnR>
                      <a:noFill/>
                    </a:lnR>
                    <a:lnT>
                      <a:noFill/>
                    </a:lnT>
                    <a:lnB>
                      <a:noFill/>
                    </a:lnB>
                    <a:noFill/>
                  </a:tcPr>
                </a:tc>
                <a:extLst>
                  <a:ext uri="{0D108BD9-81ED-4DB2-BD59-A6C34878D82A}">
                    <a16:rowId xmlns:a16="http://schemas.microsoft.com/office/drawing/2014/main" val="1707358857"/>
                  </a:ext>
                </a:extLst>
              </a:tr>
              <a:tr h="454668">
                <a:tc>
                  <a:txBody>
                    <a:bodyPr/>
                    <a:lstStyle/>
                    <a:p>
                      <a:pPr>
                        <a:lnSpc>
                          <a:spcPts val="1875"/>
                        </a:lnSpc>
                        <a:buNone/>
                      </a:pPr>
                      <a:r>
                        <a:rPr lang="en-IN" sz="1300" b="0">
                          <a:effectLst/>
                          <a:latin typeface="quote-cjk-patch"/>
                        </a:rPr>
                        <a:t>99.9999%</a:t>
                      </a:r>
                    </a:p>
                  </a:txBody>
                  <a:tcPr marL="65472"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Six Nines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31.5 seconds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2.59 seconds</a:t>
                      </a:r>
                    </a:p>
                  </a:txBody>
                  <a:tcPr marL="87296" marR="65472" marT="54560" marB="54560" anchor="ctr">
                    <a:lnL>
                      <a:noFill/>
                    </a:lnL>
                    <a:lnR>
                      <a:noFill/>
                    </a:lnR>
                    <a:lnT>
                      <a:noFill/>
                    </a:lnT>
                    <a:lnB>
                      <a:noFill/>
                    </a:lnB>
                    <a:noFill/>
                  </a:tcPr>
                </a:tc>
                <a:extLst>
                  <a:ext uri="{0D108BD9-81ED-4DB2-BD59-A6C34878D82A}">
                    <a16:rowId xmlns:a16="http://schemas.microsoft.com/office/drawing/2014/main" val="1124076528"/>
                  </a:ext>
                </a:extLst>
              </a:tr>
              <a:tr h="454668">
                <a:tc>
                  <a:txBody>
                    <a:bodyPr/>
                    <a:lstStyle/>
                    <a:p>
                      <a:pPr>
                        <a:lnSpc>
                          <a:spcPts val="1875"/>
                        </a:lnSpc>
                        <a:buNone/>
                      </a:pPr>
                      <a:r>
                        <a:rPr lang="en-IN" sz="1300" b="0">
                          <a:effectLst/>
                          <a:latin typeface="quote-cjk-patch"/>
                        </a:rPr>
                        <a:t>99.99999%</a:t>
                      </a:r>
                    </a:p>
                  </a:txBody>
                  <a:tcPr marL="65472"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Seven Nines</a:t>
                      </a:r>
                    </a:p>
                  </a:txBody>
                  <a:tcPr marL="87296" marR="87296" marT="54560" marB="54560" anchor="ctr">
                    <a:lnL>
                      <a:noFill/>
                    </a:lnL>
                    <a:lnR>
                      <a:noFill/>
                    </a:lnR>
                    <a:lnT>
                      <a:noFill/>
                    </a:lnT>
                    <a:lnB>
                      <a:noFill/>
                    </a:lnB>
                    <a:noFill/>
                  </a:tcPr>
                </a:tc>
                <a:tc>
                  <a:txBody>
                    <a:bodyPr/>
                    <a:lstStyle/>
                    <a:p>
                      <a:pPr>
                        <a:lnSpc>
                          <a:spcPts val="1875"/>
                        </a:lnSpc>
                        <a:buNone/>
                      </a:pPr>
                      <a:r>
                        <a:rPr lang="en-IN" sz="1300" b="0">
                          <a:effectLst/>
                          <a:latin typeface="quote-cjk-patch"/>
                        </a:rPr>
                        <a:t>3.15 seconds</a:t>
                      </a:r>
                    </a:p>
                  </a:txBody>
                  <a:tcPr marL="87296" marR="87296" marT="54560" marB="54560" anchor="ctr">
                    <a:lnL>
                      <a:noFill/>
                    </a:lnL>
                    <a:lnR>
                      <a:noFill/>
                    </a:lnR>
                    <a:lnT>
                      <a:noFill/>
                    </a:lnT>
                    <a:lnB>
                      <a:noFill/>
                    </a:lnB>
                    <a:noFill/>
                  </a:tcPr>
                </a:tc>
                <a:tc>
                  <a:txBody>
                    <a:bodyPr/>
                    <a:lstStyle/>
                    <a:p>
                      <a:pPr>
                        <a:lnSpc>
                          <a:spcPts val="1875"/>
                        </a:lnSpc>
                        <a:buNone/>
                      </a:pPr>
                      <a:r>
                        <a:rPr lang="en-IN" sz="1300" b="0" dirty="0">
                          <a:effectLst/>
                          <a:latin typeface="quote-cjk-patch"/>
                        </a:rPr>
                        <a:t>0.26 seconds</a:t>
                      </a:r>
                    </a:p>
                  </a:txBody>
                  <a:tcPr marL="87296" marR="65472" marT="54560" marB="54560" anchor="ctr">
                    <a:lnL>
                      <a:noFill/>
                    </a:lnL>
                    <a:lnR>
                      <a:noFill/>
                    </a:lnR>
                    <a:lnT>
                      <a:noFill/>
                    </a:lnT>
                    <a:lnB>
                      <a:noFill/>
                    </a:lnB>
                    <a:noFill/>
                  </a:tcPr>
                </a:tc>
                <a:extLst>
                  <a:ext uri="{0D108BD9-81ED-4DB2-BD59-A6C34878D82A}">
                    <a16:rowId xmlns:a16="http://schemas.microsoft.com/office/drawing/2014/main" val="1815043835"/>
                  </a:ext>
                </a:extLst>
              </a:tr>
            </a:tbl>
          </a:graphicData>
        </a:graphic>
      </p:graphicFrame>
    </p:spTree>
    <p:extLst>
      <p:ext uri="{BB962C8B-B14F-4D97-AF65-F5344CB8AC3E}">
        <p14:creationId xmlns:p14="http://schemas.microsoft.com/office/powerpoint/2010/main" val="197537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E4CEC-F066-9149-8757-2F9D9011EE9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523BAA8-D18F-682E-9255-A8FCE1347D1C}"/>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US" spc="-235" dirty="0"/>
              <a:t>Availability in Sequence  vs Parallel</a:t>
            </a:r>
            <a:endParaRPr spc="-155" dirty="0"/>
          </a:p>
        </p:txBody>
      </p:sp>
      <p:sp>
        <p:nvSpPr>
          <p:cNvPr id="6" name="TextBox 5">
            <a:extLst>
              <a:ext uri="{FF2B5EF4-FFF2-40B4-BE49-F238E27FC236}">
                <a16:creationId xmlns:a16="http://schemas.microsoft.com/office/drawing/2014/main" id="{3CDDEC94-76BC-9C2B-CEBC-5FAB20D7BDED}"/>
              </a:ext>
            </a:extLst>
          </p:cNvPr>
          <p:cNvSpPr txBox="1"/>
          <p:nvPr/>
        </p:nvSpPr>
        <p:spPr>
          <a:xfrm>
            <a:off x="441036" y="2343150"/>
            <a:ext cx="4572000" cy="646331"/>
          </a:xfrm>
          <a:prstGeom prst="rect">
            <a:avLst/>
          </a:prstGeom>
          <a:noFill/>
        </p:spPr>
        <p:txBody>
          <a:bodyPr wrap="square">
            <a:spAutoFit/>
          </a:bodyPr>
          <a:lstStyle/>
          <a:p>
            <a:r>
              <a:rPr lang="en-IN" dirty="0" err="1"/>
              <a:t>A_series</a:t>
            </a:r>
            <a:r>
              <a:rPr lang="en-IN" dirty="0"/>
              <a:t> = A1 × A2 × A3 × ... × An</a:t>
            </a:r>
          </a:p>
          <a:p>
            <a:r>
              <a:rPr lang="en-IN" dirty="0"/>
              <a:t>Example: 0.99 × 0.99 × 0.99 = 0.97 (97%)</a:t>
            </a:r>
          </a:p>
        </p:txBody>
      </p:sp>
      <p:sp>
        <p:nvSpPr>
          <p:cNvPr id="8" name="TextBox 7">
            <a:extLst>
              <a:ext uri="{FF2B5EF4-FFF2-40B4-BE49-F238E27FC236}">
                <a16:creationId xmlns:a16="http://schemas.microsoft.com/office/drawing/2014/main" id="{C5410279-6352-24B5-4A74-78ADEE51B02D}"/>
              </a:ext>
            </a:extLst>
          </p:cNvPr>
          <p:cNvSpPr txBox="1"/>
          <p:nvPr/>
        </p:nvSpPr>
        <p:spPr>
          <a:xfrm>
            <a:off x="457200" y="3333750"/>
            <a:ext cx="4572000" cy="646331"/>
          </a:xfrm>
          <a:prstGeom prst="rect">
            <a:avLst/>
          </a:prstGeom>
          <a:noFill/>
        </p:spPr>
        <p:txBody>
          <a:bodyPr wrap="square">
            <a:spAutoFit/>
          </a:bodyPr>
          <a:lstStyle/>
          <a:p>
            <a:r>
              <a:rPr lang="en-IN" dirty="0" err="1"/>
              <a:t>A_series</a:t>
            </a:r>
            <a:r>
              <a:rPr lang="en-IN" dirty="0"/>
              <a:t> = A1 × A2 × A3 × ... × An</a:t>
            </a:r>
          </a:p>
          <a:p>
            <a:r>
              <a:rPr lang="en-IN" dirty="0"/>
              <a:t>Example: 0.99 × 0.99 × 0.99 = 0.97 (97%)</a:t>
            </a:r>
          </a:p>
        </p:txBody>
      </p:sp>
      <p:pic>
        <p:nvPicPr>
          <p:cNvPr id="7170" name="Picture 2" descr="please generate distributed system Availability image but keep it simple instead of complex. Availability in sequence vs Parallel">
            <a:extLst>
              <a:ext uri="{FF2B5EF4-FFF2-40B4-BE49-F238E27FC236}">
                <a16:creationId xmlns:a16="http://schemas.microsoft.com/office/drawing/2014/main" id="{1D0AEA81-4AF7-7695-3CC3-2B654B568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1021019"/>
            <a:ext cx="3409950" cy="340995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5963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A3F0E-A7FF-E144-C3AE-89CD49B59A2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5DBD1D3-C9CD-C7CB-31AC-E187818DD3F3}"/>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Availability Patterns</a:t>
            </a:r>
            <a:endParaRPr spc="-155" dirty="0"/>
          </a:p>
        </p:txBody>
      </p:sp>
      <p:sp>
        <p:nvSpPr>
          <p:cNvPr id="4" name="object 4">
            <a:extLst>
              <a:ext uri="{FF2B5EF4-FFF2-40B4-BE49-F238E27FC236}">
                <a16:creationId xmlns:a16="http://schemas.microsoft.com/office/drawing/2014/main" id="{7A4646D7-AFAA-E7A0-FB7D-07D635B74EF0}"/>
              </a:ext>
            </a:extLst>
          </p:cNvPr>
          <p:cNvSpPr txBox="1"/>
          <p:nvPr/>
        </p:nvSpPr>
        <p:spPr>
          <a:xfrm>
            <a:off x="475250" y="1123950"/>
            <a:ext cx="6611350" cy="607859"/>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dirty="0"/>
              <a:t>Failover</a:t>
            </a:r>
          </a:p>
          <a:p>
            <a:pPr marL="285750" indent="-285750">
              <a:buFont typeface="Wingdings" panose="05000000000000000000" pitchFamily="2" charset="2"/>
              <a:buChar char="v"/>
            </a:pPr>
            <a:r>
              <a:rPr lang="en-US" dirty="0"/>
              <a:t>Replication</a:t>
            </a:r>
          </a:p>
        </p:txBody>
      </p:sp>
    </p:spTree>
    <p:extLst>
      <p:ext uri="{BB962C8B-B14F-4D97-AF65-F5344CB8AC3E}">
        <p14:creationId xmlns:p14="http://schemas.microsoft.com/office/powerpoint/2010/main" val="1200053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444F6-38EB-C881-075B-295DAB402B1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1B91935-FCEA-BE3A-13CD-649D346E3FB6}"/>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Understanding Failover</a:t>
            </a:r>
            <a:endParaRPr spc="-155" dirty="0"/>
          </a:p>
        </p:txBody>
      </p:sp>
      <p:sp>
        <p:nvSpPr>
          <p:cNvPr id="4" name="object 4">
            <a:extLst>
              <a:ext uri="{FF2B5EF4-FFF2-40B4-BE49-F238E27FC236}">
                <a16:creationId xmlns:a16="http://schemas.microsoft.com/office/drawing/2014/main" id="{5CC43F0D-BBED-845C-ECCA-3A46B17FBD1B}"/>
              </a:ext>
            </a:extLst>
          </p:cNvPr>
          <p:cNvSpPr txBox="1"/>
          <p:nvPr/>
        </p:nvSpPr>
        <p:spPr>
          <a:xfrm>
            <a:off x="475250" y="1123950"/>
            <a:ext cx="6611350" cy="607859"/>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US" dirty="0"/>
              <a:t>The automatic process of switching to a standby system when the primary system fails</a:t>
            </a:r>
          </a:p>
        </p:txBody>
      </p:sp>
    </p:spTree>
    <p:extLst>
      <p:ext uri="{BB962C8B-B14F-4D97-AF65-F5344CB8AC3E}">
        <p14:creationId xmlns:p14="http://schemas.microsoft.com/office/powerpoint/2010/main" val="1867520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37A59-A583-DB4F-EF8B-C943BC1050D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F673EE8-E19C-5E1D-47A6-37846CD0B43D}"/>
              </a:ext>
            </a:extLst>
          </p:cNvPr>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lang="en-IN" spc="-235" dirty="0"/>
              <a:t>Types of Failover</a:t>
            </a:r>
            <a:endParaRPr spc="-155" dirty="0"/>
          </a:p>
        </p:txBody>
      </p:sp>
      <p:sp>
        <p:nvSpPr>
          <p:cNvPr id="4" name="object 4">
            <a:extLst>
              <a:ext uri="{FF2B5EF4-FFF2-40B4-BE49-F238E27FC236}">
                <a16:creationId xmlns:a16="http://schemas.microsoft.com/office/drawing/2014/main" id="{5B54F72A-A4E7-1D69-3071-16CEF1363DBB}"/>
              </a:ext>
            </a:extLst>
          </p:cNvPr>
          <p:cNvSpPr txBox="1"/>
          <p:nvPr/>
        </p:nvSpPr>
        <p:spPr>
          <a:xfrm>
            <a:off x="475250" y="1123950"/>
            <a:ext cx="8059150" cy="884858"/>
          </a:xfrm>
          <a:prstGeom prst="rect">
            <a:avLst/>
          </a:prstGeom>
        </p:spPr>
        <p:txBody>
          <a:bodyPr vert="horz" wrap="square" lIns="0" tIns="53340" rIns="0" bIns="0" rtlCol="0">
            <a:spAutoFit/>
          </a:bodyPr>
          <a:lstStyle/>
          <a:p>
            <a:pPr marL="285750" indent="-285750">
              <a:buFont typeface="Wingdings" panose="05000000000000000000" pitchFamily="2" charset="2"/>
              <a:buChar char="v"/>
            </a:pPr>
            <a:r>
              <a:rPr lang="en-IN" b="1" dirty="0"/>
              <a:t>System-Level Failover - </a:t>
            </a:r>
            <a:r>
              <a:rPr lang="en-IN" dirty="0"/>
              <a:t>Entire server or VM fails over</a:t>
            </a:r>
          </a:p>
          <a:p>
            <a:pPr marL="285750" indent="-285750">
              <a:buFont typeface="Wingdings" panose="05000000000000000000" pitchFamily="2" charset="2"/>
              <a:buChar char="v"/>
            </a:pPr>
            <a:r>
              <a:rPr lang="en-IN" b="1" dirty="0"/>
              <a:t>Service-Level Failover - </a:t>
            </a:r>
            <a:r>
              <a:rPr lang="en-IN" dirty="0"/>
              <a:t>Specific service fails over</a:t>
            </a:r>
          </a:p>
          <a:p>
            <a:pPr marL="285750" indent="-285750">
              <a:buFont typeface="Wingdings" panose="05000000000000000000" pitchFamily="2" charset="2"/>
              <a:buChar char="v"/>
            </a:pPr>
            <a:r>
              <a:rPr lang="en-IN" b="1" dirty="0"/>
              <a:t>Component-Level Failover - </a:t>
            </a:r>
            <a:r>
              <a:rPr lang="en-IN" dirty="0"/>
              <a:t>Specific component fails over</a:t>
            </a:r>
          </a:p>
        </p:txBody>
      </p:sp>
    </p:spTree>
    <p:extLst>
      <p:ext uri="{BB962C8B-B14F-4D97-AF65-F5344CB8AC3E}">
        <p14:creationId xmlns:p14="http://schemas.microsoft.com/office/powerpoint/2010/main" val="693224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CD6AF-738D-A662-6EBB-2219CBCCF42C}"/>
              </a:ext>
            </a:extLst>
          </p:cNvPr>
          <p:cNvSpPr>
            <a:spLocks noGrp="1"/>
          </p:cNvSpPr>
          <p:nvPr>
            <p:ph type="title"/>
          </p:nvPr>
        </p:nvSpPr>
        <p:spPr>
          <a:xfrm>
            <a:off x="384724" y="501589"/>
            <a:ext cx="8302076" cy="546161"/>
          </a:xfrm>
        </p:spPr>
        <p:txBody>
          <a:bodyPr/>
          <a:lstStyle/>
          <a:p>
            <a:r>
              <a:rPr lang="en-IN" dirty="0"/>
              <a:t>Failover Flavors: Active-Passive vs Active-Active</a:t>
            </a:r>
          </a:p>
        </p:txBody>
      </p:sp>
      <p:sp>
        <p:nvSpPr>
          <p:cNvPr id="3" name="Content Placeholder 2">
            <a:extLst>
              <a:ext uri="{FF2B5EF4-FFF2-40B4-BE49-F238E27FC236}">
                <a16:creationId xmlns:a16="http://schemas.microsoft.com/office/drawing/2014/main" id="{CD9B7F1B-0E1D-E60B-74B1-ED01AC6F1669}"/>
              </a:ext>
            </a:extLst>
          </p:cNvPr>
          <p:cNvSpPr>
            <a:spLocks noGrp="1"/>
          </p:cNvSpPr>
          <p:nvPr>
            <p:ph sz="half" idx="2"/>
          </p:nvPr>
        </p:nvSpPr>
        <p:spPr>
          <a:xfrm>
            <a:off x="457200" y="1183005"/>
            <a:ext cx="3977640" cy="1107996"/>
          </a:xfrm>
        </p:spPr>
        <p:txBody>
          <a:bodyPr/>
          <a:lstStyle/>
          <a:p>
            <a:r>
              <a:rPr lang="en-US" b="1" dirty="0"/>
              <a:t>Active-Passive</a:t>
            </a:r>
            <a:endParaRPr lang="en-US" dirty="0"/>
          </a:p>
          <a:p>
            <a:r>
              <a:rPr lang="en-US" dirty="0"/>
              <a:t>Primary: 🟢 ACTIVE (handling 100% traffic)</a:t>
            </a:r>
          </a:p>
          <a:p>
            <a:r>
              <a:rPr lang="en-US" dirty="0"/>
              <a:t>Secondary: 🔵 STANDBY (idle, ready)</a:t>
            </a:r>
          </a:p>
          <a:p>
            <a:r>
              <a:rPr lang="en-US" dirty="0"/>
              <a:t>Arrow: Traffic → Primary only</a:t>
            </a:r>
          </a:p>
          <a:p>
            <a:r>
              <a:rPr lang="en-US" dirty="0"/>
              <a:t>Failure: Switch to Standby</a:t>
            </a:r>
          </a:p>
          <a:p>
            <a:endParaRPr lang="en-IN" dirty="0"/>
          </a:p>
        </p:txBody>
      </p:sp>
      <p:sp>
        <p:nvSpPr>
          <p:cNvPr id="4" name="Content Placeholder 3">
            <a:extLst>
              <a:ext uri="{FF2B5EF4-FFF2-40B4-BE49-F238E27FC236}">
                <a16:creationId xmlns:a16="http://schemas.microsoft.com/office/drawing/2014/main" id="{A59805E5-A0A4-5778-E36B-97237CBF04D4}"/>
              </a:ext>
            </a:extLst>
          </p:cNvPr>
          <p:cNvSpPr>
            <a:spLocks noGrp="1"/>
          </p:cNvSpPr>
          <p:nvPr>
            <p:ph sz="half" idx="3"/>
          </p:nvPr>
        </p:nvSpPr>
        <p:spPr>
          <a:xfrm>
            <a:off x="4709160" y="1183005"/>
            <a:ext cx="3977640" cy="1107996"/>
          </a:xfrm>
        </p:spPr>
        <p:txBody>
          <a:bodyPr/>
          <a:lstStyle/>
          <a:p>
            <a:r>
              <a:rPr lang="en-US" b="1" dirty="0"/>
              <a:t>Active-Active</a:t>
            </a:r>
            <a:endParaRPr lang="en-US" dirty="0"/>
          </a:p>
          <a:p>
            <a:r>
              <a:rPr lang="en-US" dirty="0"/>
              <a:t>Server A: 🟢 ACTIVE (handling 50% traffic)</a:t>
            </a:r>
          </a:p>
          <a:p>
            <a:r>
              <a:rPr lang="en-US" dirty="0"/>
              <a:t>Server B: 🟢 ACTIVE (handling 50% traffic)</a:t>
            </a:r>
          </a:p>
          <a:p>
            <a:r>
              <a:rPr lang="en-US" dirty="0"/>
              <a:t>Load Balancer: Distributes traffic</a:t>
            </a:r>
          </a:p>
          <a:p>
            <a:r>
              <a:rPr lang="en-US" dirty="0"/>
              <a:t>Failure: Redistribute to remaining servers</a:t>
            </a:r>
          </a:p>
          <a:p>
            <a:endParaRPr lang="en-IN" dirty="0"/>
          </a:p>
        </p:txBody>
      </p:sp>
    </p:spTree>
    <p:extLst>
      <p:ext uri="{BB962C8B-B14F-4D97-AF65-F5344CB8AC3E}">
        <p14:creationId xmlns:p14="http://schemas.microsoft.com/office/powerpoint/2010/main" val="15401671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215</TotalTime>
  <Words>3414</Words>
  <Application>Microsoft Office PowerPoint</Application>
  <PresentationFormat>On-screen Show (16:9)</PresentationFormat>
  <Paragraphs>206</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Courier New</vt:lpstr>
      <vt:lpstr>quote-cjk-patch</vt:lpstr>
      <vt:lpstr>Wingdings</vt:lpstr>
      <vt:lpstr>Office Theme</vt:lpstr>
      <vt:lpstr>Mastering Distributed System Design</vt:lpstr>
      <vt:lpstr>Attributes</vt:lpstr>
      <vt:lpstr>Communication</vt:lpstr>
      <vt:lpstr>Communication Types</vt:lpstr>
      <vt:lpstr>Coordination</vt:lpstr>
      <vt:lpstr>Consistency</vt:lpstr>
      <vt:lpstr>Consistency Models</vt:lpstr>
      <vt:lpstr>Availability</vt:lpstr>
      <vt:lpstr>Measuring Availability</vt:lpstr>
      <vt:lpstr>Availability in Sequence  vs Parallel</vt:lpstr>
      <vt:lpstr>Availability Patterns</vt:lpstr>
      <vt:lpstr>Understanding Failover</vt:lpstr>
      <vt:lpstr>Types of Failover</vt:lpstr>
      <vt:lpstr>Failover Flavors: Active-Passive vs Active-Active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Design - Section 22</dc:title>
  <cp:lastModifiedBy>vikash chauhan</cp:lastModifiedBy>
  <cp:revision>109</cp:revision>
  <dcterms:created xsi:type="dcterms:W3CDTF">2026-01-01T13:02:46Z</dcterms:created>
  <dcterms:modified xsi:type="dcterms:W3CDTF">2026-01-02T15:04:48Z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2026-01-01T00:00:00Z</vt:filetime>
  </property>
  <property fmtid="{D5CDD505-2E9C-101B-9397-08002B2CF9AE}" pid="3" name="Creator">
    <vt:lpwstr>Google</vt:lpwstr>
  </property>
  <property fmtid="{D5CDD505-2E9C-101B-9397-08002B2CF9AE}" pid="4" name="LastSaved">
    <vt:filetime>2026-01-01T00:00:00Z</vt:filetime>
  </property>
  <property fmtid="{D5CDD505-2E9C-101B-9397-08002B2CF9AE}" pid="5" name="Producer">
    <vt:lpwstr>3-Heights(TM) PDF Security Shell 4.8.25.2 (http://www.pdf-tools.com)</vt:lpwstr>
  </property>
</Properties>
</file>