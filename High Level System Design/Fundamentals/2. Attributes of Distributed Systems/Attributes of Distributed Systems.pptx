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601" autoAdjust="0"/>
  </p:normalViewPr>
  <p:slideViewPr>
    <p:cSldViewPr>
      <p:cViewPr varScale="1">
        <p:scale>
          <a:sx n="83" d="100"/>
          <a:sy n="83" d="100"/>
        </p:scale>
        <p:origin x="1450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0FC2B5-BEBA-4547-9143-EECB12969261}" type="datetimeFigureOut">
              <a:rPr lang="en-IN" smtClean="0"/>
              <a:t>02-01-2026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853293-4F00-4813-B74A-3945ABE0C2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939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So, we understand the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the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system design. We know we're focusing on High-Level Design for distributed systems.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this raises a critical question: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makes a distributed system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What are the actual goals we are designing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a single, simple application, success might be 'it works.' But in a distributed world, 'working' isn't enough. The system must work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millions of users hit it at once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It must work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a critical server catches fire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It must work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a user halfway across the globe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And it must continue to work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our team constantly changes and improves it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 aren't nice-to-haves. They are 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non-functional requirements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that become our primary design drivers. They are the qualities we measure, argue about, and optimize for in every architecture meeting.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design effectively, we need a shared vocabulary for these qualities. We need to define what we mean by a system that is robust, fast, and future-proof.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brings us to the core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 of Distributed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Think of these not as a checklist, but as a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framework for thought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—a set of interconnected, and sometimes competing, goals that will guide every single decision we make from here on out.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853293-4F00-4813-B74A-3945ABE0C2FC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05672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007711" y="3176893"/>
            <a:ext cx="562610" cy="0"/>
          </a:xfrm>
          <a:custGeom>
            <a:avLst/>
            <a:gdLst/>
            <a:ahLst/>
            <a:cxnLst/>
            <a:rect l="l" t="t" r="r" b="b"/>
            <a:pathLst>
              <a:path w="562609">
                <a:moveTo>
                  <a:pt x="0" y="0"/>
                </a:moveTo>
                <a:lnTo>
                  <a:pt x="562198" y="0"/>
                </a:lnTo>
              </a:path>
            </a:pathLst>
          </a:custGeom>
          <a:ln w="76199">
            <a:solidFill>
              <a:srgbClr val="B3A77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575031" y="3158243"/>
            <a:ext cx="562610" cy="0"/>
          </a:xfrm>
          <a:custGeom>
            <a:avLst/>
            <a:gdLst/>
            <a:ahLst/>
            <a:cxnLst/>
            <a:rect l="l" t="t" r="r" b="b"/>
            <a:pathLst>
              <a:path w="562610">
                <a:moveTo>
                  <a:pt x="0" y="0"/>
                </a:moveTo>
                <a:lnTo>
                  <a:pt x="562198" y="0"/>
                </a:lnTo>
              </a:path>
            </a:pathLst>
          </a:custGeom>
          <a:ln w="76199">
            <a:solidFill>
              <a:srgbClr val="B3A77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004142" y="1022022"/>
            <a:ext cx="7136765" cy="0"/>
          </a:xfrm>
          <a:custGeom>
            <a:avLst/>
            <a:gdLst/>
            <a:ahLst/>
            <a:cxnLst/>
            <a:rect l="l" t="t" r="r" b="b"/>
            <a:pathLst>
              <a:path w="7136765">
                <a:moveTo>
                  <a:pt x="7136640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4DB6A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1004142" y="1174422"/>
            <a:ext cx="7136765" cy="0"/>
          </a:xfrm>
          <a:custGeom>
            <a:avLst/>
            <a:gdLst/>
            <a:ahLst/>
            <a:cxnLst/>
            <a:rect l="l" t="t" r="r" b="b"/>
            <a:pathLst>
              <a:path w="7136765">
                <a:moveTo>
                  <a:pt x="7136640" y="0"/>
                </a:moveTo>
                <a:lnTo>
                  <a:pt x="0" y="0"/>
                </a:lnTo>
              </a:path>
            </a:pathLst>
          </a:custGeom>
          <a:ln w="9524">
            <a:solidFill>
              <a:srgbClr val="4DB6A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004148" y="4121491"/>
            <a:ext cx="7136765" cy="0"/>
          </a:xfrm>
          <a:custGeom>
            <a:avLst/>
            <a:gdLst/>
            <a:ahLst/>
            <a:cxnLst/>
            <a:rect l="l" t="t" r="r" b="b"/>
            <a:pathLst>
              <a:path w="7136765">
                <a:moveTo>
                  <a:pt x="0" y="0"/>
                </a:moveTo>
                <a:lnTo>
                  <a:pt x="7136660" y="0"/>
                </a:lnTo>
              </a:path>
            </a:pathLst>
          </a:custGeom>
          <a:ln w="76199">
            <a:solidFill>
              <a:srgbClr val="4DB6A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1004148" y="3969091"/>
            <a:ext cx="7136765" cy="0"/>
          </a:xfrm>
          <a:custGeom>
            <a:avLst/>
            <a:gdLst/>
            <a:ahLst/>
            <a:cxnLst/>
            <a:rect l="l" t="t" r="r" b="b"/>
            <a:pathLst>
              <a:path w="7136765">
                <a:moveTo>
                  <a:pt x="0" y="0"/>
                </a:moveTo>
                <a:lnTo>
                  <a:pt x="7136660" y="0"/>
                </a:lnTo>
              </a:path>
            </a:pathLst>
          </a:custGeom>
          <a:ln w="9524">
            <a:solidFill>
              <a:srgbClr val="4DB6A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075352" y="1815086"/>
            <a:ext cx="4993295" cy="6902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rgbClr val="EF6B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695D46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rgbClr val="EF6B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695D46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rgbClr val="EF6B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rgbClr val="EF6B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-74" y="5045689"/>
            <a:ext cx="9144000" cy="98425"/>
          </a:xfrm>
          <a:custGeom>
            <a:avLst/>
            <a:gdLst/>
            <a:ahLst/>
            <a:cxnLst/>
            <a:rect l="l" t="t" r="r" b="b"/>
            <a:pathLst>
              <a:path w="9144000" h="98425">
                <a:moveTo>
                  <a:pt x="9143981" y="97799"/>
                </a:moveTo>
                <a:lnTo>
                  <a:pt x="0" y="97799"/>
                </a:lnTo>
                <a:lnTo>
                  <a:pt x="0" y="0"/>
                </a:lnTo>
                <a:lnTo>
                  <a:pt x="9143981" y="0"/>
                </a:lnTo>
                <a:lnTo>
                  <a:pt x="9143981" y="97799"/>
                </a:lnTo>
                <a:close/>
              </a:path>
            </a:pathLst>
          </a:custGeom>
          <a:solidFill>
            <a:srgbClr val="4DB6AC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98097" y="425399"/>
            <a:ext cx="6419816" cy="459975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-74" y="5045689"/>
            <a:ext cx="9144000" cy="98425"/>
          </a:xfrm>
          <a:custGeom>
            <a:avLst/>
            <a:gdLst/>
            <a:ahLst/>
            <a:cxnLst/>
            <a:rect l="l" t="t" r="r" b="b"/>
            <a:pathLst>
              <a:path w="9144000" h="98425">
                <a:moveTo>
                  <a:pt x="9143981" y="97799"/>
                </a:moveTo>
                <a:lnTo>
                  <a:pt x="0" y="97799"/>
                </a:lnTo>
                <a:lnTo>
                  <a:pt x="0" y="0"/>
                </a:lnTo>
                <a:lnTo>
                  <a:pt x="9143981" y="0"/>
                </a:lnTo>
                <a:lnTo>
                  <a:pt x="9143981" y="97799"/>
                </a:lnTo>
                <a:close/>
              </a:path>
            </a:pathLst>
          </a:custGeom>
          <a:solidFill>
            <a:srgbClr val="4DB6A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4724" y="501589"/>
            <a:ext cx="4861560" cy="5194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rgbClr val="EF6B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21273" y="1333256"/>
            <a:ext cx="5205730" cy="3009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695D46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90600" y="1815086"/>
            <a:ext cx="7162800" cy="68352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4604">
              <a:lnSpc>
                <a:spcPct val="100000"/>
              </a:lnSpc>
              <a:spcBef>
                <a:spcPts val="110"/>
              </a:spcBef>
            </a:pPr>
            <a:r>
              <a:rPr lang="en-IN" sz="4350" spc="-330" dirty="0"/>
              <a:t>Mastering Distributed</a:t>
            </a:r>
            <a:r>
              <a:rPr lang="en-IN" sz="4350" spc="-80" dirty="0"/>
              <a:t> </a:t>
            </a:r>
            <a:r>
              <a:rPr lang="en-IN" sz="4350" spc="-330" dirty="0"/>
              <a:t>System</a:t>
            </a:r>
            <a:r>
              <a:rPr lang="en-IN" sz="4350" spc="-65" dirty="0"/>
              <a:t> </a:t>
            </a:r>
            <a:r>
              <a:rPr lang="en-IN" sz="4350" spc="-275" dirty="0"/>
              <a:t>Design</a:t>
            </a:r>
            <a:endParaRPr sz="4350" dirty="0"/>
          </a:p>
        </p:txBody>
      </p:sp>
      <p:sp>
        <p:nvSpPr>
          <p:cNvPr id="3" name="object 3"/>
          <p:cNvSpPr txBox="1"/>
          <p:nvPr/>
        </p:nvSpPr>
        <p:spPr>
          <a:xfrm>
            <a:off x="1218341" y="2624935"/>
            <a:ext cx="670179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sz="2400" dirty="0">
                <a:solidFill>
                  <a:srgbClr val="695D46"/>
                </a:solidFill>
                <a:latin typeface="Arial"/>
                <a:cs typeface="Arial"/>
              </a:rPr>
              <a:t>Attributes of Distributed Systems</a:t>
            </a:r>
            <a:endParaRPr sz="24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lang="en-IN" spc="-330" dirty="0"/>
              <a:t>Attributes</a:t>
            </a:r>
            <a:endParaRPr spc="-150" dirty="0"/>
          </a:p>
        </p:txBody>
      </p:sp>
      <p:sp>
        <p:nvSpPr>
          <p:cNvPr id="4" name="object 4"/>
          <p:cNvSpPr txBox="1"/>
          <p:nvPr/>
        </p:nvSpPr>
        <p:spPr>
          <a:xfrm>
            <a:off x="475248" y="1289060"/>
            <a:ext cx="8363952" cy="337528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marR="26670" indent="-285750">
              <a:lnSpc>
                <a:spcPct val="150000"/>
              </a:lnSpc>
              <a:spcBef>
                <a:spcPts val="100"/>
              </a:spcBef>
              <a:buFont typeface="Wingdings" panose="05000000000000000000" pitchFamily="2" charset="2"/>
              <a:buChar char="v"/>
              <a:tabLst>
                <a:tab pos="379095" algn="l"/>
              </a:tabLst>
            </a:pPr>
            <a:r>
              <a:rPr lang="en-US" sz="1800" b="1" dirty="0">
                <a:solidFill>
                  <a:srgbClr val="695D46"/>
                </a:solidFill>
                <a:latin typeface="Arial"/>
                <a:cs typeface="Arial"/>
              </a:rPr>
              <a:t>Communication</a:t>
            </a:r>
            <a:r>
              <a:rPr lang="en-US" sz="1800" dirty="0">
                <a:solidFill>
                  <a:srgbClr val="695D46"/>
                </a:solidFill>
                <a:latin typeface="Arial"/>
                <a:cs typeface="Arial"/>
              </a:rPr>
              <a:t> (</a:t>
            </a:r>
            <a:r>
              <a:rPr lang="en-US" sz="1800" i="1" dirty="0">
                <a:solidFill>
                  <a:srgbClr val="695D46"/>
                </a:solidFill>
                <a:latin typeface="Arial"/>
                <a:cs typeface="Arial"/>
              </a:rPr>
              <a:t>The fundamental challenge: how components talk</a:t>
            </a:r>
            <a:r>
              <a:rPr lang="en-US" sz="1800" dirty="0">
                <a:solidFill>
                  <a:srgbClr val="695D46"/>
                </a:solidFill>
                <a:latin typeface="Arial"/>
                <a:cs typeface="Arial"/>
              </a:rPr>
              <a:t>)</a:t>
            </a:r>
          </a:p>
          <a:p>
            <a:pPr marL="297815" marR="26670" indent="-285750">
              <a:lnSpc>
                <a:spcPct val="150000"/>
              </a:lnSpc>
              <a:spcBef>
                <a:spcPts val="100"/>
              </a:spcBef>
              <a:buFont typeface="Wingdings" panose="05000000000000000000" pitchFamily="2" charset="2"/>
              <a:buChar char="v"/>
              <a:tabLst>
                <a:tab pos="379095" algn="l"/>
              </a:tabLst>
            </a:pPr>
            <a:r>
              <a:rPr lang="en-US" sz="1800" b="1" dirty="0">
                <a:solidFill>
                  <a:srgbClr val="695D46"/>
                </a:solidFill>
                <a:latin typeface="Arial"/>
                <a:cs typeface="Arial"/>
              </a:rPr>
              <a:t>Consistency</a:t>
            </a:r>
            <a:r>
              <a:rPr lang="en-US" sz="1800" dirty="0">
                <a:solidFill>
                  <a:srgbClr val="695D46"/>
                </a:solidFill>
                <a:latin typeface="Arial"/>
                <a:cs typeface="Arial"/>
              </a:rPr>
              <a:t> (</a:t>
            </a:r>
            <a:r>
              <a:rPr lang="en-US" sz="1800" i="1" dirty="0">
                <a:solidFill>
                  <a:srgbClr val="695D46"/>
                </a:solidFill>
                <a:latin typeface="Arial"/>
                <a:cs typeface="Arial"/>
              </a:rPr>
              <a:t>Everyone sees the same data at the same time</a:t>
            </a:r>
            <a:r>
              <a:rPr lang="en-US" sz="1800" dirty="0">
                <a:solidFill>
                  <a:srgbClr val="695D46"/>
                </a:solidFill>
                <a:latin typeface="Arial"/>
                <a:cs typeface="Arial"/>
              </a:rPr>
              <a:t>)</a:t>
            </a:r>
          </a:p>
          <a:p>
            <a:pPr marL="297815" marR="26670" indent="-285750">
              <a:lnSpc>
                <a:spcPct val="150000"/>
              </a:lnSpc>
              <a:spcBef>
                <a:spcPts val="100"/>
              </a:spcBef>
              <a:buFont typeface="Wingdings" panose="05000000000000000000" pitchFamily="2" charset="2"/>
              <a:buChar char="v"/>
              <a:tabLst>
                <a:tab pos="379095" algn="l"/>
              </a:tabLst>
            </a:pPr>
            <a:r>
              <a:rPr lang="en-US" sz="1800" b="1" dirty="0">
                <a:solidFill>
                  <a:srgbClr val="695D46"/>
                </a:solidFill>
                <a:latin typeface="Arial"/>
                <a:cs typeface="Arial"/>
              </a:rPr>
              <a:t>Availability</a:t>
            </a:r>
            <a:r>
              <a:rPr lang="en-US" sz="1800" dirty="0">
                <a:solidFill>
                  <a:srgbClr val="695D46"/>
                </a:solidFill>
                <a:latin typeface="Arial"/>
                <a:cs typeface="Arial"/>
              </a:rPr>
              <a:t> (</a:t>
            </a:r>
            <a:r>
              <a:rPr lang="en-US" sz="1800" i="1" dirty="0">
                <a:solidFill>
                  <a:srgbClr val="695D46"/>
                </a:solidFill>
                <a:latin typeface="Arial"/>
                <a:cs typeface="Arial"/>
              </a:rPr>
              <a:t>Can you get a response, even if it's stale?)</a:t>
            </a:r>
          </a:p>
          <a:p>
            <a:pPr marL="297815" marR="26670" indent="-285750">
              <a:lnSpc>
                <a:spcPct val="150000"/>
              </a:lnSpc>
              <a:spcBef>
                <a:spcPts val="100"/>
              </a:spcBef>
              <a:buFont typeface="Wingdings" panose="05000000000000000000" pitchFamily="2" charset="2"/>
              <a:buChar char="v"/>
              <a:tabLst>
                <a:tab pos="379095" algn="l"/>
              </a:tabLst>
            </a:pPr>
            <a:r>
              <a:rPr lang="en-US" sz="1800" b="1" dirty="0">
                <a:solidFill>
                  <a:srgbClr val="695D46"/>
                </a:solidFill>
                <a:latin typeface="Arial"/>
                <a:cs typeface="Arial"/>
              </a:rPr>
              <a:t>Reliability</a:t>
            </a:r>
            <a:r>
              <a:rPr lang="en-US" sz="1800" dirty="0">
                <a:solidFill>
                  <a:srgbClr val="695D46"/>
                </a:solidFill>
                <a:latin typeface="Arial"/>
                <a:cs typeface="Arial"/>
              </a:rPr>
              <a:t> (</a:t>
            </a:r>
            <a:r>
              <a:rPr lang="en-US" sz="1800" i="1" dirty="0">
                <a:solidFill>
                  <a:srgbClr val="695D46"/>
                </a:solidFill>
                <a:latin typeface="Arial"/>
                <a:cs typeface="Arial"/>
              </a:rPr>
              <a:t>Does the system behave correctly over time?)</a:t>
            </a:r>
          </a:p>
          <a:p>
            <a:pPr marL="297815" marR="26670" indent="-285750">
              <a:lnSpc>
                <a:spcPct val="150000"/>
              </a:lnSpc>
              <a:spcBef>
                <a:spcPts val="100"/>
              </a:spcBef>
              <a:buFont typeface="Wingdings" panose="05000000000000000000" pitchFamily="2" charset="2"/>
              <a:buChar char="v"/>
              <a:tabLst>
                <a:tab pos="379095" algn="l"/>
              </a:tabLst>
            </a:pPr>
            <a:r>
              <a:rPr lang="en-US" sz="1800" b="1" dirty="0">
                <a:solidFill>
                  <a:srgbClr val="695D46"/>
                </a:solidFill>
                <a:latin typeface="Arial"/>
                <a:cs typeface="Arial"/>
              </a:rPr>
              <a:t>Fault Tolerance </a:t>
            </a:r>
            <a:r>
              <a:rPr lang="en-US" sz="1800" dirty="0">
                <a:solidFill>
                  <a:srgbClr val="695D46"/>
                </a:solidFill>
                <a:latin typeface="Arial"/>
                <a:cs typeface="Arial"/>
              </a:rPr>
              <a:t>(</a:t>
            </a:r>
            <a:r>
              <a:rPr lang="en-US" sz="1800" i="1" dirty="0">
                <a:solidFill>
                  <a:srgbClr val="695D46"/>
                </a:solidFill>
                <a:latin typeface="Arial"/>
                <a:cs typeface="Arial"/>
              </a:rPr>
              <a:t>How it achieves reliability despite failures</a:t>
            </a:r>
            <a:r>
              <a:rPr lang="en-US" sz="1800" dirty="0">
                <a:solidFill>
                  <a:srgbClr val="695D46"/>
                </a:solidFill>
                <a:latin typeface="Arial"/>
                <a:cs typeface="Arial"/>
              </a:rPr>
              <a:t>)</a:t>
            </a:r>
          </a:p>
          <a:p>
            <a:pPr marL="297815" marR="26670" indent="-285750">
              <a:lnSpc>
                <a:spcPct val="150000"/>
              </a:lnSpc>
              <a:spcBef>
                <a:spcPts val="100"/>
              </a:spcBef>
              <a:buFont typeface="Wingdings" panose="05000000000000000000" pitchFamily="2" charset="2"/>
              <a:buChar char="v"/>
              <a:tabLst>
                <a:tab pos="379095" algn="l"/>
              </a:tabLst>
            </a:pPr>
            <a:r>
              <a:rPr lang="en-US" sz="1800" b="1" dirty="0">
                <a:solidFill>
                  <a:srgbClr val="695D46"/>
                </a:solidFill>
                <a:latin typeface="Arial"/>
                <a:cs typeface="Arial"/>
              </a:rPr>
              <a:t>Scalability</a:t>
            </a:r>
            <a:r>
              <a:rPr lang="en-US" sz="1800" dirty="0">
                <a:solidFill>
                  <a:srgbClr val="695D46"/>
                </a:solidFill>
                <a:latin typeface="Arial"/>
                <a:cs typeface="Arial"/>
              </a:rPr>
              <a:t> (</a:t>
            </a:r>
            <a:r>
              <a:rPr lang="en-US" sz="1800" i="1" dirty="0">
                <a:solidFill>
                  <a:srgbClr val="695D46"/>
                </a:solidFill>
                <a:latin typeface="Arial"/>
                <a:cs typeface="Arial"/>
              </a:rPr>
              <a:t>How it handles increased load</a:t>
            </a:r>
            <a:r>
              <a:rPr lang="en-US" sz="1800" dirty="0">
                <a:solidFill>
                  <a:srgbClr val="695D46"/>
                </a:solidFill>
                <a:latin typeface="Arial"/>
                <a:cs typeface="Arial"/>
              </a:rPr>
              <a:t>)</a:t>
            </a:r>
          </a:p>
          <a:p>
            <a:pPr marL="297815" marR="26670" indent="-285750">
              <a:lnSpc>
                <a:spcPct val="150000"/>
              </a:lnSpc>
              <a:spcBef>
                <a:spcPts val="100"/>
              </a:spcBef>
              <a:buFont typeface="Wingdings" panose="05000000000000000000" pitchFamily="2" charset="2"/>
              <a:buChar char="v"/>
              <a:tabLst>
                <a:tab pos="379095" algn="l"/>
              </a:tabLst>
            </a:pPr>
            <a:r>
              <a:rPr lang="en-US" sz="1800" b="1" dirty="0">
                <a:solidFill>
                  <a:srgbClr val="695D46"/>
                </a:solidFill>
                <a:latin typeface="Arial"/>
                <a:cs typeface="Arial"/>
              </a:rPr>
              <a:t>Durability</a:t>
            </a:r>
            <a:r>
              <a:rPr lang="en-US" sz="1800" dirty="0">
                <a:solidFill>
                  <a:srgbClr val="695D46"/>
                </a:solidFill>
                <a:latin typeface="Arial"/>
                <a:cs typeface="Arial"/>
              </a:rPr>
              <a:t> (</a:t>
            </a:r>
            <a:r>
              <a:rPr lang="en-US" sz="1800" i="1" dirty="0">
                <a:solidFill>
                  <a:srgbClr val="695D46"/>
                </a:solidFill>
                <a:latin typeface="Arial"/>
                <a:cs typeface="Arial"/>
              </a:rPr>
              <a:t>The guarantee that your data must persist and not be lost</a:t>
            </a:r>
            <a:r>
              <a:rPr lang="en-US" sz="1800" dirty="0">
                <a:solidFill>
                  <a:srgbClr val="695D46"/>
                </a:solidFill>
                <a:latin typeface="Arial"/>
                <a:cs typeface="Arial"/>
              </a:rPr>
              <a:t>)</a:t>
            </a:r>
          </a:p>
          <a:p>
            <a:pPr marL="297815" marR="26670" indent="-285750">
              <a:lnSpc>
                <a:spcPct val="150000"/>
              </a:lnSpc>
              <a:spcBef>
                <a:spcPts val="100"/>
              </a:spcBef>
              <a:buFont typeface="Wingdings" panose="05000000000000000000" pitchFamily="2" charset="2"/>
              <a:buChar char="v"/>
              <a:tabLst>
                <a:tab pos="379095" algn="l"/>
              </a:tabLst>
            </a:pPr>
            <a:r>
              <a:rPr lang="en-US" sz="1800" b="1" dirty="0">
                <a:solidFill>
                  <a:srgbClr val="695D46"/>
                </a:solidFill>
                <a:latin typeface="Arial"/>
                <a:cs typeface="Arial"/>
              </a:rPr>
              <a:t>Maintainability</a:t>
            </a:r>
            <a:r>
              <a:rPr lang="en-US" sz="1800" dirty="0">
                <a:solidFill>
                  <a:srgbClr val="695D46"/>
                </a:solidFill>
                <a:latin typeface="Arial"/>
                <a:cs typeface="Arial"/>
              </a:rPr>
              <a:t> (</a:t>
            </a:r>
            <a:r>
              <a:rPr lang="en-US" sz="1800" i="1" dirty="0">
                <a:solidFill>
                  <a:srgbClr val="695D46"/>
                </a:solidFill>
                <a:latin typeface="Arial"/>
                <a:cs typeface="Arial"/>
              </a:rPr>
              <a:t>How we manage the system's evolution</a:t>
            </a:r>
            <a:r>
              <a:rPr lang="en-US" sz="1800" dirty="0">
                <a:solidFill>
                  <a:srgbClr val="695D46"/>
                </a:solidFill>
                <a:latin typeface="Arial"/>
                <a:cs typeface="Arial"/>
              </a:rPr>
              <a:t>)</a:t>
            </a:r>
            <a:endParaRPr sz="18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46063" y="4862190"/>
            <a:ext cx="3571908" cy="17339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pc="-204" dirty="0"/>
              <a:t>Functional</a:t>
            </a:r>
            <a:r>
              <a:rPr spc="35" dirty="0"/>
              <a:t> </a:t>
            </a:r>
            <a:r>
              <a:rPr spc="-225" dirty="0"/>
              <a:t>Requirements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75248" y="1316491"/>
            <a:ext cx="7242809" cy="3007360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379095" indent="-366395">
              <a:lnSpc>
                <a:spcPct val="100000"/>
              </a:lnSpc>
              <a:spcBef>
                <a:spcPts val="204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User</a:t>
            </a:r>
            <a:r>
              <a:rPr sz="1800" spc="6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Registration</a:t>
            </a:r>
            <a:r>
              <a:rPr sz="1800" spc="7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105" dirty="0">
                <a:solidFill>
                  <a:srgbClr val="695D46"/>
                </a:solidFill>
                <a:latin typeface="Arial"/>
                <a:cs typeface="Arial"/>
              </a:rPr>
              <a:t>&amp;</a:t>
            </a:r>
            <a:r>
              <a:rPr sz="1800" spc="7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Authentication</a:t>
            </a:r>
            <a:r>
              <a:rPr sz="1800" spc="7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(Buyers/Sellers)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110"/>
              </a:spcBef>
              <a:buChar char="●"/>
              <a:tabLst>
                <a:tab pos="379095" algn="l"/>
              </a:tabLst>
            </a:pPr>
            <a:r>
              <a:rPr sz="1800" spc="45" dirty="0">
                <a:solidFill>
                  <a:srgbClr val="695D46"/>
                </a:solidFill>
                <a:latin typeface="Arial"/>
                <a:cs typeface="Arial"/>
              </a:rPr>
              <a:t>Product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Catalog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45" dirty="0">
                <a:solidFill>
                  <a:srgbClr val="695D46"/>
                </a:solidFill>
                <a:latin typeface="Arial"/>
                <a:cs typeface="Arial"/>
              </a:rPr>
              <a:t>Management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105"/>
              </a:spcBef>
              <a:buChar char="●"/>
              <a:tabLst>
                <a:tab pos="379095" algn="l"/>
              </a:tabLst>
            </a:pP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Inventory</a:t>
            </a:r>
            <a:r>
              <a:rPr sz="1800" spc="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Consistency</a:t>
            </a:r>
            <a:r>
              <a:rPr sz="1800" spc="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70" dirty="0">
                <a:solidFill>
                  <a:srgbClr val="695D46"/>
                </a:solidFill>
                <a:latin typeface="Arial"/>
                <a:cs typeface="Arial"/>
              </a:rPr>
              <a:t>during</a:t>
            </a:r>
            <a:r>
              <a:rPr sz="1800" spc="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Checkout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110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Shopping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Cart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and </a:t>
            </a:r>
            <a:r>
              <a:rPr sz="1800" spc="65" dirty="0">
                <a:solidFill>
                  <a:srgbClr val="695D46"/>
                </a:solidFill>
                <a:latin typeface="Arial"/>
                <a:cs typeface="Arial"/>
              </a:rPr>
              <a:t>Order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45" dirty="0">
                <a:solidFill>
                  <a:srgbClr val="695D46"/>
                </a:solidFill>
                <a:latin typeface="Arial"/>
                <a:cs typeface="Arial"/>
              </a:rPr>
              <a:t>Management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110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Secure</a:t>
            </a:r>
            <a:r>
              <a:rPr sz="1800" spc="7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Payment</a:t>
            </a:r>
            <a:r>
              <a:rPr sz="18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Processing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105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Basic</a:t>
            </a:r>
            <a:r>
              <a:rPr sz="1800" spc="7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Fraud</a:t>
            </a:r>
            <a:r>
              <a:rPr sz="1800" spc="7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Detection</a:t>
            </a:r>
            <a:r>
              <a:rPr sz="18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and</a:t>
            </a:r>
            <a:r>
              <a:rPr sz="1800" spc="7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Alerts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110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Seller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Dashboard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20" dirty="0">
                <a:solidFill>
                  <a:srgbClr val="695D46"/>
                </a:solidFill>
                <a:latin typeface="Arial"/>
                <a:cs typeface="Arial"/>
              </a:rPr>
              <a:t>(sales,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products,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payouts)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105"/>
              </a:spcBef>
              <a:buChar char="●"/>
              <a:tabLst>
                <a:tab pos="379095" algn="l"/>
              </a:tabLst>
            </a:pP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Users:</a:t>
            </a:r>
            <a:endParaRPr sz="1800">
              <a:latin typeface="Arial"/>
              <a:cs typeface="Arial"/>
            </a:endParaRPr>
          </a:p>
          <a:p>
            <a:pPr marL="836294" lvl="1" indent="-335915">
              <a:lnSpc>
                <a:spcPct val="100000"/>
              </a:lnSpc>
              <a:spcBef>
                <a:spcPts val="125"/>
              </a:spcBef>
              <a:buChar char="○"/>
              <a:tabLst>
                <a:tab pos="836294" algn="l"/>
              </a:tabLst>
            </a:pP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Buyers:</a:t>
            </a: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Search,</a:t>
            </a: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browse,</a:t>
            </a:r>
            <a:r>
              <a:rPr sz="14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add 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to</a:t>
            </a: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cart,</a:t>
            </a:r>
            <a:r>
              <a:rPr sz="14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pay,</a:t>
            </a: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track</a:t>
            </a:r>
            <a:r>
              <a:rPr sz="14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orders.</a:t>
            </a:r>
            <a:endParaRPr sz="1400">
              <a:latin typeface="Arial"/>
              <a:cs typeface="Arial"/>
            </a:endParaRPr>
          </a:p>
          <a:p>
            <a:pPr marL="836294" lvl="1" indent="-335915">
              <a:lnSpc>
                <a:spcPct val="100000"/>
              </a:lnSpc>
              <a:spcBef>
                <a:spcPts val="85"/>
              </a:spcBef>
              <a:buChar char="○"/>
              <a:tabLst>
                <a:tab pos="836294" algn="l"/>
              </a:tabLst>
            </a:pP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Sellers:</a:t>
            </a:r>
            <a:r>
              <a:rPr sz="1400" spc="1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List</a:t>
            </a:r>
            <a:r>
              <a:rPr sz="1400" spc="1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products,</a:t>
            </a:r>
            <a:r>
              <a:rPr sz="1400" spc="1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manage</a:t>
            </a:r>
            <a:r>
              <a:rPr sz="1400" spc="1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stock,</a:t>
            </a:r>
            <a:r>
              <a:rPr sz="1400" spc="1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handle</a:t>
            </a:r>
            <a:r>
              <a:rPr sz="1400" spc="1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orders,</a:t>
            </a:r>
            <a:r>
              <a:rPr sz="1400" spc="1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track</a:t>
            </a:r>
            <a:r>
              <a:rPr sz="1400" spc="1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earnings.</a:t>
            </a:r>
            <a:endParaRPr sz="1400">
              <a:latin typeface="Arial"/>
              <a:cs typeface="Arial"/>
            </a:endParaRPr>
          </a:p>
          <a:p>
            <a:pPr marL="836294" lvl="1" indent="-335915">
              <a:lnSpc>
                <a:spcPct val="100000"/>
              </a:lnSpc>
              <a:spcBef>
                <a:spcPts val="85"/>
              </a:spcBef>
              <a:buChar char="○"/>
              <a:tabLst>
                <a:tab pos="836294" algn="l"/>
              </a:tabLst>
            </a:pPr>
            <a:r>
              <a:rPr sz="1400" spc="30" dirty="0">
                <a:solidFill>
                  <a:srgbClr val="695D46"/>
                </a:solidFill>
                <a:latin typeface="Arial"/>
                <a:cs typeface="Arial"/>
              </a:rPr>
              <a:t>Administrators:</a:t>
            </a:r>
            <a:r>
              <a:rPr sz="14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Moderate</a:t>
            </a:r>
            <a:r>
              <a:rPr sz="14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30" dirty="0">
                <a:solidFill>
                  <a:srgbClr val="695D46"/>
                </a:solidFill>
                <a:latin typeface="Arial"/>
                <a:cs typeface="Arial"/>
              </a:rPr>
              <a:t>content, 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monitor</a:t>
            </a:r>
            <a:r>
              <a:rPr sz="14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70" dirty="0">
                <a:solidFill>
                  <a:srgbClr val="695D46"/>
                </a:solidFill>
                <a:latin typeface="Arial"/>
                <a:cs typeface="Arial"/>
              </a:rPr>
              <a:t>platform</a:t>
            </a:r>
            <a:r>
              <a:rPr sz="1400" spc="30" dirty="0">
                <a:solidFill>
                  <a:srgbClr val="695D46"/>
                </a:solidFill>
                <a:latin typeface="Arial"/>
                <a:cs typeface="Arial"/>
              </a:rPr>
              <a:t> health,</a:t>
            </a:r>
            <a:r>
              <a:rPr sz="14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30" dirty="0">
                <a:solidFill>
                  <a:srgbClr val="695D46"/>
                </a:solidFill>
                <a:latin typeface="Arial"/>
                <a:cs typeface="Arial"/>
              </a:rPr>
              <a:t>resolve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disputes.</a:t>
            </a:r>
            <a:endParaRPr sz="1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46063" y="4862190"/>
            <a:ext cx="3571908" cy="17339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pc="-235" dirty="0"/>
              <a:t>Non-</a:t>
            </a:r>
            <a:r>
              <a:rPr spc="-204" dirty="0"/>
              <a:t>Functional</a:t>
            </a:r>
            <a:r>
              <a:rPr spc="65" dirty="0"/>
              <a:t> </a:t>
            </a:r>
            <a:r>
              <a:rPr spc="-229" dirty="0"/>
              <a:t>Requirements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54623" y="1349077"/>
            <a:ext cx="241826" cy="227602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54623" y="1742878"/>
            <a:ext cx="241826" cy="227602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96014" y="2282144"/>
            <a:ext cx="142875" cy="25907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500" spc="-50" dirty="0">
                <a:solidFill>
                  <a:srgbClr val="695D46"/>
                </a:solidFill>
                <a:latin typeface="Arial"/>
                <a:cs typeface="Arial"/>
              </a:rPr>
              <a:t>●</a:t>
            </a:r>
            <a:endParaRPr sz="150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54623" y="2308966"/>
            <a:ext cx="241826" cy="227602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979281" y="2507451"/>
            <a:ext cx="116839" cy="37909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ts val="1400"/>
              </a:lnSpc>
              <a:spcBef>
                <a:spcPts val="90"/>
              </a:spcBef>
            </a:pPr>
            <a:r>
              <a:rPr sz="1200" spc="-50" dirty="0">
                <a:solidFill>
                  <a:srgbClr val="695D46"/>
                </a:solidFill>
                <a:latin typeface="Arial"/>
                <a:cs typeface="Arial"/>
              </a:rPr>
              <a:t>○</a:t>
            </a:r>
            <a:endParaRPr sz="1200">
              <a:latin typeface="Arial"/>
              <a:cs typeface="Arial"/>
            </a:endParaRPr>
          </a:p>
          <a:p>
            <a:pPr marL="12700">
              <a:lnSpc>
                <a:spcPts val="1400"/>
              </a:lnSpc>
            </a:pPr>
            <a:r>
              <a:rPr sz="1200" spc="-50" dirty="0">
                <a:solidFill>
                  <a:srgbClr val="695D46"/>
                </a:solidFill>
                <a:latin typeface="Arial"/>
                <a:cs typeface="Arial"/>
              </a:rPr>
              <a:t>○</a:t>
            </a:r>
            <a:endParaRPr sz="12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96014" y="2848232"/>
            <a:ext cx="142875" cy="25907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500" spc="-50" dirty="0">
                <a:solidFill>
                  <a:srgbClr val="695D46"/>
                </a:solidFill>
                <a:latin typeface="Arial"/>
                <a:cs typeface="Arial"/>
              </a:rPr>
              <a:t>●</a:t>
            </a:r>
            <a:endParaRPr sz="150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54623" y="2875055"/>
            <a:ext cx="241826" cy="227602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79281" y="3073539"/>
            <a:ext cx="116839" cy="37909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ts val="1400"/>
              </a:lnSpc>
              <a:spcBef>
                <a:spcPts val="90"/>
              </a:spcBef>
            </a:pPr>
            <a:r>
              <a:rPr sz="1200" spc="-50" dirty="0">
                <a:solidFill>
                  <a:srgbClr val="695D46"/>
                </a:solidFill>
                <a:latin typeface="Arial"/>
                <a:cs typeface="Arial"/>
              </a:rPr>
              <a:t>○</a:t>
            </a:r>
            <a:endParaRPr sz="1200">
              <a:latin typeface="Arial"/>
              <a:cs typeface="Arial"/>
            </a:endParaRPr>
          </a:p>
          <a:p>
            <a:pPr marL="12700">
              <a:lnSpc>
                <a:spcPts val="1400"/>
              </a:lnSpc>
            </a:pPr>
            <a:r>
              <a:rPr sz="1200" spc="-50" dirty="0">
                <a:solidFill>
                  <a:srgbClr val="695D46"/>
                </a:solidFill>
                <a:latin typeface="Arial"/>
                <a:cs typeface="Arial"/>
              </a:rPr>
              <a:t>○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2" name="object 1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54623" y="3441144"/>
            <a:ext cx="241826" cy="227602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979281" y="3639628"/>
            <a:ext cx="116839" cy="2070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spc="-50" dirty="0">
                <a:solidFill>
                  <a:srgbClr val="695D46"/>
                </a:solidFill>
                <a:latin typeface="Arial"/>
                <a:cs typeface="Arial"/>
              </a:rPr>
              <a:t>○</a:t>
            </a:r>
            <a:endParaRPr sz="12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96014" y="3414321"/>
            <a:ext cx="142875" cy="652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500" spc="-50" dirty="0">
                <a:solidFill>
                  <a:srgbClr val="695D46"/>
                </a:solidFill>
                <a:latin typeface="Arial"/>
                <a:cs typeface="Arial"/>
              </a:rPr>
              <a:t>●</a:t>
            </a:r>
            <a:endParaRPr sz="15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300"/>
              </a:spcBef>
            </a:pPr>
            <a:r>
              <a:rPr sz="1500" spc="-50" dirty="0">
                <a:solidFill>
                  <a:srgbClr val="695D46"/>
                </a:solidFill>
                <a:latin typeface="Arial"/>
                <a:cs typeface="Arial"/>
              </a:rPr>
              <a:t>●</a:t>
            </a:r>
            <a:endParaRPr sz="1500">
              <a:latin typeface="Arial"/>
              <a:cs typeface="Arial"/>
            </a:endParaRPr>
          </a:p>
        </p:txBody>
      </p:sp>
      <p:pic>
        <p:nvPicPr>
          <p:cNvPr id="15" name="object 1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54623" y="3834944"/>
            <a:ext cx="241826" cy="227602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496014" y="1322252"/>
            <a:ext cx="5948045" cy="309054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650240" indent="-637540">
              <a:lnSpc>
                <a:spcPts val="1764"/>
              </a:lnSpc>
              <a:spcBef>
                <a:spcPts val="130"/>
              </a:spcBef>
              <a:buChar char="●"/>
              <a:tabLst>
                <a:tab pos="650240" algn="l"/>
              </a:tabLst>
            </a:pPr>
            <a:r>
              <a:rPr sz="1500" spc="-10" dirty="0">
                <a:solidFill>
                  <a:srgbClr val="695D46"/>
                </a:solidFill>
                <a:latin typeface="Arial"/>
                <a:cs typeface="Arial"/>
              </a:rPr>
              <a:t>Performance:</a:t>
            </a:r>
            <a:endParaRPr sz="1500">
              <a:latin typeface="Arial"/>
              <a:cs typeface="Arial"/>
            </a:endParaRPr>
          </a:p>
          <a:p>
            <a:pPr marL="815340" lvl="1" indent="-319405">
              <a:lnSpc>
                <a:spcPts val="1370"/>
              </a:lnSpc>
              <a:buChar char="○"/>
              <a:tabLst>
                <a:tab pos="815340" algn="l"/>
              </a:tabLst>
            </a:pPr>
            <a:r>
              <a:rPr sz="1200" spc="-20" dirty="0">
                <a:solidFill>
                  <a:srgbClr val="695D46"/>
                </a:solidFill>
                <a:latin typeface="Arial"/>
                <a:cs typeface="Arial"/>
              </a:rPr>
              <a:t>Fast</a:t>
            </a:r>
            <a:r>
              <a:rPr sz="12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45" dirty="0">
                <a:solidFill>
                  <a:srgbClr val="695D46"/>
                </a:solidFill>
                <a:latin typeface="Arial"/>
                <a:cs typeface="Arial"/>
              </a:rPr>
              <a:t>product</a:t>
            </a:r>
            <a:r>
              <a:rPr sz="12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search</a:t>
            </a:r>
            <a:r>
              <a:rPr sz="12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and</a:t>
            </a:r>
            <a:r>
              <a:rPr sz="12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browsing</a:t>
            </a:r>
            <a:r>
              <a:rPr sz="12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695D46"/>
                </a:solidFill>
                <a:latin typeface="Arial"/>
                <a:cs typeface="Arial"/>
              </a:rPr>
              <a:t>(&lt;</a:t>
            </a:r>
            <a:r>
              <a:rPr sz="12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300ms</a:t>
            </a:r>
            <a:r>
              <a:rPr sz="12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latency</a:t>
            </a:r>
            <a:r>
              <a:rPr sz="1200" spc="60" dirty="0">
                <a:solidFill>
                  <a:srgbClr val="695D46"/>
                </a:solidFill>
                <a:latin typeface="Arial"/>
                <a:cs typeface="Arial"/>
              </a:rPr>
              <a:t> for</a:t>
            </a:r>
            <a:r>
              <a:rPr sz="12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common</a:t>
            </a:r>
            <a:r>
              <a:rPr sz="12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queries)</a:t>
            </a:r>
            <a:endParaRPr sz="1200">
              <a:latin typeface="Arial"/>
              <a:cs typeface="Arial"/>
            </a:endParaRPr>
          </a:p>
          <a:p>
            <a:pPr marL="650240" indent="-637540">
              <a:lnSpc>
                <a:spcPts val="1730"/>
              </a:lnSpc>
              <a:buChar char="●"/>
              <a:tabLst>
                <a:tab pos="650240" algn="l"/>
              </a:tabLst>
            </a:pPr>
            <a:r>
              <a:rPr sz="1500" spc="-10" dirty="0">
                <a:solidFill>
                  <a:srgbClr val="695D46"/>
                </a:solidFill>
                <a:latin typeface="Arial"/>
                <a:cs typeface="Arial"/>
              </a:rPr>
              <a:t>Scalability:</a:t>
            </a:r>
            <a:endParaRPr sz="1500">
              <a:latin typeface="Arial"/>
              <a:cs typeface="Arial"/>
            </a:endParaRPr>
          </a:p>
          <a:p>
            <a:pPr marL="815340" lvl="1" indent="-319405">
              <a:lnSpc>
                <a:spcPts val="1365"/>
              </a:lnSpc>
              <a:buChar char="○"/>
              <a:tabLst>
                <a:tab pos="815340" algn="l"/>
              </a:tabLst>
            </a:pPr>
            <a:r>
              <a:rPr sz="1200" spc="10" dirty="0">
                <a:solidFill>
                  <a:srgbClr val="695D46"/>
                </a:solidFill>
                <a:latin typeface="Arial"/>
                <a:cs typeface="Arial"/>
              </a:rPr>
              <a:t>Handle</a:t>
            </a:r>
            <a:r>
              <a:rPr sz="12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10" dirty="0">
                <a:solidFill>
                  <a:srgbClr val="695D46"/>
                </a:solidFill>
                <a:latin typeface="Arial"/>
                <a:cs typeface="Arial"/>
              </a:rPr>
              <a:t>initial</a:t>
            </a:r>
            <a:r>
              <a:rPr sz="12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10" dirty="0">
                <a:solidFill>
                  <a:srgbClr val="695D46"/>
                </a:solidFill>
                <a:latin typeface="Arial"/>
                <a:cs typeface="Arial"/>
              </a:rPr>
              <a:t>load</a:t>
            </a:r>
            <a:r>
              <a:rPr sz="12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695D46"/>
                </a:solidFill>
                <a:latin typeface="Arial"/>
                <a:cs typeface="Arial"/>
              </a:rPr>
              <a:t>of</a:t>
            </a:r>
            <a:r>
              <a:rPr sz="12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~10,000</a:t>
            </a:r>
            <a:r>
              <a:rPr sz="12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10" dirty="0">
                <a:solidFill>
                  <a:srgbClr val="695D46"/>
                </a:solidFill>
                <a:latin typeface="Arial"/>
                <a:cs typeface="Arial"/>
              </a:rPr>
              <a:t>concurrent</a:t>
            </a:r>
            <a:r>
              <a:rPr sz="12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users</a:t>
            </a:r>
            <a:endParaRPr sz="1200">
              <a:latin typeface="Arial"/>
              <a:cs typeface="Arial"/>
            </a:endParaRPr>
          </a:p>
          <a:p>
            <a:pPr marL="815340" lvl="1" indent="-319405">
              <a:lnSpc>
                <a:spcPts val="1360"/>
              </a:lnSpc>
              <a:buChar char="○"/>
              <a:tabLst>
                <a:tab pos="815340" algn="l"/>
              </a:tabLst>
            </a:pP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Elastic</a:t>
            </a:r>
            <a:r>
              <a:rPr sz="12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growth</a:t>
            </a:r>
            <a:r>
              <a:rPr sz="12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as</a:t>
            </a:r>
            <a:r>
              <a:rPr sz="12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user</a:t>
            </a:r>
            <a:r>
              <a:rPr sz="12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base</a:t>
            </a:r>
            <a:r>
              <a:rPr sz="12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expands</a:t>
            </a:r>
            <a:endParaRPr sz="1200">
              <a:latin typeface="Arial"/>
              <a:cs typeface="Arial"/>
            </a:endParaRPr>
          </a:p>
          <a:p>
            <a:pPr marL="650240">
              <a:lnSpc>
                <a:spcPts val="1730"/>
              </a:lnSpc>
            </a:pPr>
            <a:r>
              <a:rPr sz="1500" spc="-10" dirty="0">
                <a:solidFill>
                  <a:srgbClr val="695D46"/>
                </a:solidFill>
                <a:latin typeface="Arial"/>
                <a:cs typeface="Arial"/>
              </a:rPr>
              <a:t>Availability:</a:t>
            </a:r>
            <a:endParaRPr sz="1500">
              <a:latin typeface="Arial"/>
              <a:cs typeface="Arial"/>
            </a:endParaRPr>
          </a:p>
          <a:p>
            <a:pPr marL="815340">
              <a:lnSpc>
                <a:spcPts val="1365"/>
              </a:lnSpc>
            </a:pP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99.9%</a:t>
            </a:r>
            <a:r>
              <a:rPr sz="1200" spc="-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695D46"/>
                </a:solidFill>
                <a:latin typeface="Arial"/>
                <a:cs typeface="Arial"/>
              </a:rPr>
              <a:t>uptime</a:t>
            </a:r>
            <a:r>
              <a:rPr sz="1200" spc="-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target</a:t>
            </a:r>
            <a:endParaRPr sz="1200">
              <a:latin typeface="Arial"/>
              <a:cs typeface="Arial"/>
            </a:endParaRPr>
          </a:p>
          <a:p>
            <a:pPr marL="815340">
              <a:lnSpc>
                <a:spcPts val="1360"/>
              </a:lnSpc>
            </a:pP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Fault-tolerant</a:t>
            </a:r>
            <a:r>
              <a:rPr sz="1200" spc="6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core</a:t>
            </a:r>
            <a:r>
              <a:rPr sz="1200" spc="6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services</a:t>
            </a:r>
            <a:r>
              <a:rPr sz="1200" spc="6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(catalog,</a:t>
            </a:r>
            <a:r>
              <a:rPr sz="1200" spc="6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cart,</a:t>
            </a:r>
            <a:r>
              <a:rPr sz="1200" spc="7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checkout)</a:t>
            </a:r>
            <a:endParaRPr sz="1200">
              <a:latin typeface="Arial"/>
              <a:cs typeface="Arial"/>
            </a:endParaRPr>
          </a:p>
          <a:p>
            <a:pPr marL="650240">
              <a:lnSpc>
                <a:spcPts val="1730"/>
              </a:lnSpc>
            </a:pPr>
            <a:r>
              <a:rPr sz="1500" spc="-10" dirty="0">
                <a:solidFill>
                  <a:srgbClr val="695D46"/>
                </a:solidFill>
                <a:latin typeface="Arial"/>
                <a:cs typeface="Arial"/>
              </a:rPr>
              <a:t>Security:</a:t>
            </a:r>
            <a:endParaRPr sz="1500">
              <a:latin typeface="Arial"/>
              <a:cs typeface="Arial"/>
            </a:endParaRPr>
          </a:p>
          <a:p>
            <a:pPr marL="815340">
              <a:lnSpc>
                <a:spcPts val="1365"/>
              </a:lnSpc>
            </a:pP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Secure</a:t>
            </a:r>
            <a:r>
              <a:rPr sz="1200" spc="17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user</a:t>
            </a:r>
            <a:r>
              <a:rPr sz="1200" spc="1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authentication</a:t>
            </a:r>
            <a:r>
              <a:rPr sz="1200" spc="1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(OAuth2/JWT)</a:t>
            </a:r>
            <a:endParaRPr sz="1200">
              <a:latin typeface="Arial"/>
              <a:cs typeface="Arial"/>
            </a:endParaRPr>
          </a:p>
          <a:p>
            <a:pPr marL="815340">
              <a:lnSpc>
                <a:spcPts val="1360"/>
              </a:lnSpc>
            </a:pP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Secure</a:t>
            </a:r>
            <a:r>
              <a:rPr sz="1200" spc="10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payment</a:t>
            </a:r>
            <a:r>
              <a:rPr sz="1200" spc="1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processing</a:t>
            </a:r>
            <a:r>
              <a:rPr sz="1200" spc="1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695D46"/>
                </a:solidFill>
                <a:latin typeface="Arial"/>
                <a:cs typeface="Arial"/>
              </a:rPr>
              <a:t>(PCI-</a:t>
            </a:r>
            <a:r>
              <a:rPr sz="1200" spc="-100" dirty="0">
                <a:solidFill>
                  <a:srgbClr val="695D46"/>
                </a:solidFill>
                <a:latin typeface="Arial"/>
                <a:cs typeface="Arial"/>
              </a:rPr>
              <a:t>DSS</a:t>
            </a:r>
            <a:r>
              <a:rPr sz="1200" spc="1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compliance</a:t>
            </a:r>
            <a:r>
              <a:rPr sz="1200" spc="10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best</a:t>
            </a:r>
            <a:r>
              <a:rPr sz="1200" spc="1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practices)</a:t>
            </a:r>
            <a:endParaRPr sz="1200">
              <a:latin typeface="Arial"/>
              <a:cs typeface="Arial"/>
            </a:endParaRPr>
          </a:p>
          <a:p>
            <a:pPr marL="650240">
              <a:lnSpc>
                <a:spcPts val="1730"/>
              </a:lnSpc>
            </a:pPr>
            <a:r>
              <a:rPr sz="1500" spc="-10" dirty="0">
                <a:solidFill>
                  <a:srgbClr val="695D46"/>
                </a:solidFill>
                <a:latin typeface="Arial"/>
                <a:cs typeface="Arial"/>
              </a:rPr>
              <a:t>Consistency:</a:t>
            </a:r>
            <a:endParaRPr sz="1500">
              <a:latin typeface="Arial"/>
              <a:cs typeface="Arial"/>
            </a:endParaRPr>
          </a:p>
          <a:p>
            <a:pPr marL="815340">
              <a:lnSpc>
                <a:spcPts val="1370"/>
              </a:lnSpc>
            </a:pPr>
            <a:r>
              <a:rPr sz="1200" spc="10" dirty="0">
                <a:solidFill>
                  <a:srgbClr val="695D46"/>
                </a:solidFill>
                <a:latin typeface="Arial"/>
                <a:cs typeface="Arial"/>
              </a:rPr>
              <a:t>Strong</a:t>
            </a:r>
            <a:r>
              <a:rPr sz="12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10" dirty="0">
                <a:solidFill>
                  <a:srgbClr val="695D46"/>
                </a:solidFill>
                <a:latin typeface="Arial"/>
                <a:cs typeface="Arial"/>
              </a:rPr>
              <a:t>consistency</a:t>
            </a:r>
            <a:r>
              <a:rPr sz="1200" spc="8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60" dirty="0">
                <a:solidFill>
                  <a:srgbClr val="695D46"/>
                </a:solidFill>
                <a:latin typeface="Arial"/>
                <a:cs typeface="Arial"/>
              </a:rPr>
              <a:t>for</a:t>
            </a:r>
            <a:r>
              <a:rPr sz="1200" spc="8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10" dirty="0">
                <a:solidFill>
                  <a:srgbClr val="695D46"/>
                </a:solidFill>
                <a:latin typeface="Arial"/>
                <a:cs typeface="Arial"/>
              </a:rPr>
              <a:t>inventory</a:t>
            </a:r>
            <a:r>
              <a:rPr sz="12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10" dirty="0">
                <a:solidFill>
                  <a:srgbClr val="695D46"/>
                </a:solidFill>
                <a:latin typeface="Arial"/>
                <a:cs typeface="Arial"/>
              </a:rPr>
              <a:t>updates</a:t>
            </a:r>
            <a:r>
              <a:rPr sz="1200" spc="8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10" dirty="0">
                <a:solidFill>
                  <a:srgbClr val="695D46"/>
                </a:solidFill>
                <a:latin typeface="Arial"/>
                <a:cs typeface="Arial"/>
              </a:rPr>
              <a:t>during</a:t>
            </a:r>
            <a:r>
              <a:rPr sz="1200" spc="8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checkout</a:t>
            </a:r>
            <a:endParaRPr sz="1200">
              <a:latin typeface="Arial"/>
              <a:cs typeface="Arial"/>
            </a:endParaRPr>
          </a:p>
          <a:p>
            <a:pPr marL="650240">
              <a:lnSpc>
                <a:spcPts val="1730"/>
              </a:lnSpc>
            </a:pPr>
            <a:r>
              <a:rPr sz="1500" spc="40" dirty="0">
                <a:solidFill>
                  <a:srgbClr val="695D46"/>
                </a:solidFill>
                <a:latin typeface="Arial"/>
                <a:cs typeface="Arial"/>
              </a:rPr>
              <a:t>Maintainability:</a:t>
            </a:r>
            <a:endParaRPr sz="1500">
              <a:latin typeface="Arial"/>
              <a:cs typeface="Arial"/>
            </a:endParaRPr>
          </a:p>
          <a:p>
            <a:pPr marL="815340" lvl="1" indent="-319405">
              <a:lnSpc>
                <a:spcPts val="1365"/>
              </a:lnSpc>
              <a:buChar char="○"/>
              <a:tabLst>
                <a:tab pos="815340" algn="l"/>
              </a:tabLst>
            </a:pPr>
            <a:r>
              <a:rPr sz="1200" spc="45" dirty="0">
                <a:solidFill>
                  <a:srgbClr val="695D46"/>
                </a:solidFill>
                <a:latin typeface="Arial"/>
                <a:cs typeface="Arial"/>
              </a:rPr>
              <a:t>Modular</a:t>
            </a:r>
            <a:r>
              <a:rPr sz="1200" spc="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service</a:t>
            </a:r>
            <a:r>
              <a:rPr sz="1200" spc="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design</a:t>
            </a:r>
            <a:r>
              <a:rPr sz="1200" spc="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695D46"/>
                </a:solidFill>
                <a:latin typeface="Arial"/>
                <a:cs typeface="Arial"/>
              </a:rPr>
              <a:t>(e.g.,</a:t>
            </a:r>
            <a:r>
              <a:rPr sz="1200" spc="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catalog</a:t>
            </a:r>
            <a:r>
              <a:rPr sz="1200" spc="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service,</a:t>
            </a:r>
            <a:r>
              <a:rPr sz="1200" spc="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payment</a:t>
            </a:r>
            <a:r>
              <a:rPr sz="1200" spc="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service)</a:t>
            </a:r>
            <a:endParaRPr sz="1200">
              <a:latin typeface="Arial"/>
              <a:cs typeface="Arial"/>
            </a:endParaRPr>
          </a:p>
          <a:p>
            <a:pPr marL="815340" lvl="1" indent="-319405">
              <a:lnSpc>
                <a:spcPts val="1400"/>
              </a:lnSpc>
              <a:buChar char="○"/>
              <a:tabLst>
                <a:tab pos="815340" algn="l"/>
              </a:tabLst>
            </a:pPr>
            <a:r>
              <a:rPr sz="1200" spc="-55" dirty="0">
                <a:solidFill>
                  <a:srgbClr val="695D46"/>
                </a:solidFill>
                <a:latin typeface="Arial"/>
                <a:cs typeface="Arial"/>
              </a:rPr>
              <a:t>Easy</a:t>
            </a:r>
            <a:r>
              <a:rPr sz="1200" spc="9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onboarding</a:t>
            </a:r>
            <a:r>
              <a:rPr sz="1200" spc="9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695D46"/>
                </a:solidFill>
                <a:latin typeface="Arial"/>
                <a:cs typeface="Arial"/>
              </a:rPr>
              <a:t>of</a:t>
            </a:r>
            <a:r>
              <a:rPr sz="1200" spc="9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new</a:t>
            </a:r>
            <a:r>
              <a:rPr sz="1200" spc="10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sellers</a:t>
            </a:r>
            <a:r>
              <a:rPr sz="1200" spc="9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and</a:t>
            </a:r>
            <a:r>
              <a:rPr sz="1200" spc="9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products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46063" y="4862190"/>
            <a:ext cx="3571908" cy="17339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pc="-235" dirty="0"/>
              <a:t>Key</a:t>
            </a:r>
            <a:r>
              <a:rPr spc="-140" dirty="0"/>
              <a:t> </a:t>
            </a:r>
            <a:r>
              <a:rPr spc="-229" dirty="0"/>
              <a:t>System</a:t>
            </a:r>
            <a:r>
              <a:rPr spc="-35" dirty="0"/>
              <a:t> </a:t>
            </a:r>
            <a:r>
              <a:rPr spc="-185" dirty="0"/>
              <a:t>Design</a:t>
            </a:r>
            <a:r>
              <a:rPr spc="-75" dirty="0"/>
              <a:t> </a:t>
            </a:r>
            <a:r>
              <a:rPr spc="-155" dirty="0"/>
              <a:t>Challenges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75248" y="1289060"/>
            <a:ext cx="7894955" cy="1602740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L="379095" indent="-366395">
              <a:lnSpc>
                <a:spcPct val="100000"/>
              </a:lnSpc>
              <a:spcBef>
                <a:spcPts val="420"/>
              </a:spcBef>
              <a:buChar char="●"/>
              <a:tabLst>
                <a:tab pos="379095" algn="l"/>
              </a:tabLst>
            </a:pP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Inventory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Accuracy: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Prevent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overselling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65" dirty="0">
                <a:solidFill>
                  <a:srgbClr val="695D46"/>
                </a:solidFill>
                <a:latin typeface="Arial"/>
                <a:cs typeface="Arial"/>
              </a:rPr>
              <a:t>at 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high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scale.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325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High</a:t>
            </a:r>
            <a:r>
              <a:rPr sz="1800" spc="10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Availability:</a:t>
            </a:r>
            <a:r>
              <a:rPr sz="1800" spc="9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Handle</a:t>
            </a:r>
            <a:r>
              <a:rPr sz="1800" spc="10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millions</a:t>
            </a:r>
            <a:r>
              <a:rPr sz="1800" spc="10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85" dirty="0">
                <a:solidFill>
                  <a:srgbClr val="695D46"/>
                </a:solidFill>
                <a:latin typeface="Arial"/>
                <a:cs typeface="Arial"/>
              </a:rPr>
              <a:t>of</a:t>
            </a:r>
            <a:r>
              <a:rPr sz="1800" spc="10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buyers</a:t>
            </a:r>
            <a:r>
              <a:rPr sz="1800" spc="10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and</a:t>
            </a:r>
            <a:r>
              <a:rPr sz="1800" spc="9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sellers</a:t>
            </a:r>
            <a:r>
              <a:rPr sz="1800" spc="10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online.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325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Secure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Payments: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Ensure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data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security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and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prevent 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fraud.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325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System</a:t>
            </a:r>
            <a:r>
              <a:rPr sz="1800" spc="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Scalability:</a:t>
            </a:r>
            <a:r>
              <a:rPr sz="1800" spc="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Grow</a:t>
            </a:r>
            <a:r>
              <a:rPr sz="1800" spc="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seamlessly</a:t>
            </a:r>
            <a:r>
              <a:rPr sz="1800" spc="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as</a:t>
            </a:r>
            <a:r>
              <a:rPr sz="1800" spc="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user</a:t>
            </a:r>
            <a:r>
              <a:rPr sz="1800" spc="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base</a:t>
            </a:r>
            <a:r>
              <a:rPr sz="1800" spc="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increases.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325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Efficient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Search: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Support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quick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80" dirty="0">
                <a:solidFill>
                  <a:srgbClr val="695D46"/>
                </a:solidFill>
                <a:latin typeface="Arial"/>
                <a:cs typeface="Arial"/>
              </a:rPr>
              <a:t>product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browsing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across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huge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catalogs.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46063" y="4862190"/>
            <a:ext cx="3571908" cy="17339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pc="-240" dirty="0"/>
              <a:t>Assumptions</a:t>
            </a:r>
            <a:r>
              <a:rPr spc="-20" dirty="0"/>
              <a:t> </a:t>
            </a:r>
            <a:r>
              <a:rPr spc="-270" dirty="0"/>
              <a:t>and</a:t>
            </a:r>
            <a:r>
              <a:rPr spc="-60" dirty="0"/>
              <a:t> </a:t>
            </a:r>
            <a:r>
              <a:rPr spc="-195" dirty="0"/>
              <a:t>Constraints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54623" y="1348455"/>
            <a:ext cx="284633" cy="26789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75248" y="2593296"/>
            <a:ext cx="1638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695D46"/>
                </a:solidFill>
                <a:latin typeface="Arial"/>
                <a:cs typeface="Arial"/>
              </a:rPr>
              <a:t>●</a:t>
            </a:r>
            <a:endParaRPr sz="1800">
              <a:latin typeface="Arial"/>
              <a:cs typeface="Arial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54623" y="2622512"/>
            <a:ext cx="284633" cy="267890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475248" y="1319235"/>
            <a:ext cx="8092440" cy="2994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22630" indent="-709930">
              <a:lnSpc>
                <a:spcPts val="2125"/>
              </a:lnSpc>
              <a:spcBef>
                <a:spcPts val="100"/>
              </a:spcBef>
              <a:buChar char="●"/>
              <a:tabLst>
                <a:tab pos="722630" algn="l"/>
              </a:tabLst>
            </a:pP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Assumptions:</a:t>
            </a:r>
            <a:endParaRPr sz="1800">
              <a:latin typeface="Arial"/>
              <a:cs typeface="Arial"/>
            </a:endParaRPr>
          </a:p>
          <a:p>
            <a:pPr marL="836294" lvl="1" indent="-335915">
              <a:lnSpc>
                <a:spcPts val="1600"/>
              </a:lnSpc>
              <a:buChar char="○"/>
              <a:tabLst>
                <a:tab pos="836294" algn="l"/>
              </a:tabLst>
            </a:pP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Users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have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stable</a:t>
            </a:r>
            <a:r>
              <a:rPr sz="1400" spc="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65" dirty="0">
                <a:solidFill>
                  <a:srgbClr val="695D46"/>
                </a:solidFill>
                <a:latin typeface="Arial"/>
                <a:cs typeface="Arial"/>
              </a:rPr>
              <a:t>internet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20" dirty="0">
                <a:solidFill>
                  <a:srgbClr val="695D46"/>
                </a:solidFill>
                <a:latin typeface="Arial"/>
                <a:cs typeface="Arial"/>
              </a:rPr>
              <a:t>access</a:t>
            </a:r>
            <a:r>
              <a:rPr sz="1400" spc="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(no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oﬄine</a:t>
            </a:r>
            <a:r>
              <a:rPr sz="1400" spc="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65" dirty="0">
                <a:solidFill>
                  <a:srgbClr val="695D46"/>
                </a:solidFill>
                <a:latin typeface="Arial"/>
                <a:cs typeface="Arial"/>
              </a:rPr>
              <a:t>mode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required).</a:t>
            </a:r>
            <a:endParaRPr sz="1400">
              <a:latin typeface="Arial"/>
              <a:cs typeface="Arial"/>
            </a:endParaRPr>
          </a:p>
          <a:p>
            <a:pPr marL="836294" lvl="1" indent="-335915">
              <a:lnSpc>
                <a:spcPts val="1595"/>
              </a:lnSpc>
              <a:buChar char="○"/>
              <a:tabLst>
                <a:tab pos="836294" algn="l"/>
              </a:tabLst>
            </a:pP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External</a:t>
            </a:r>
            <a:r>
              <a:rPr sz="14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45" dirty="0">
                <a:solidFill>
                  <a:srgbClr val="695D46"/>
                </a:solidFill>
                <a:latin typeface="Arial"/>
                <a:cs typeface="Arial"/>
              </a:rPr>
              <a:t>payment</a:t>
            </a:r>
            <a:r>
              <a:rPr sz="14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gateway</a:t>
            </a:r>
            <a:r>
              <a:rPr sz="14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20" dirty="0">
                <a:solidFill>
                  <a:srgbClr val="695D46"/>
                </a:solidFill>
                <a:latin typeface="Arial"/>
                <a:cs typeface="Arial"/>
              </a:rPr>
              <a:t>(e.g.,</a:t>
            </a:r>
            <a:r>
              <a:rPr sz="1400" spc="6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Stripe,</a:t>
            </a:r>
            <a:r>
              <a:rPr sz="14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Razorpay)</a:t>
            </a:r>
            <a:r>
              <a:rPr sz="14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will</a:t>
            </a:r>
            <a:r>
              <a:rPr sz="14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handle</a:t>
            </a:r>
            <a:r>
              <a:rPr sz="1400" spc="6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45" dirty="0">
                <a:solidFill>
                  <a:srgbClr val="695D46"/>
                </a:solidFill>
                <a:latin typeface="Arial"/>
                <a:cs typeface="Arial"/>
              </a:rPr>
              <a:t>payment</a:t>
            </a:r>
            <a:r>
              <a:rPr sz="14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processing.</a:t>
            </a:r>
            <a:endParaRPr sz="1400">
              <a:latin typeface="Arial"/>
              <a:cs typeface="Arial"/>
            </a:endParaRPr>
          </a:p>
          <a:p>
            <a:pPr marL="836294" lvl="1" indent="-335915">
              <a:lnSpc>
                <a:spcPts val="1595"/>
              </a:lnSpc>
              <a:buChar char="○"/>
              <a:tabLst>
                <a:tab pos="836294" algn="l"/>
              </a:tabLst>
            </a:pP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No</a:t>
            </a:r>
            <a:r>
              <a:rPr sz="1400" spc="8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warehouse</a:t>
            </a:r>
            <a:r>
              <a:rPr sz="1400" spc="8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or</a:t>
            </a:r>
            <a:r>
              <a:rPr sz="1400" spc="9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logistics</a:t>
            </a:r>
            <a:r>
              <a:rPr sz="1400" spc="8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management</a:t>
            </a:r>
            <a:r>
              <a:rPr sz="1400" spc="8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initially</a:t>
            </a:r>
            <a:r>
              <a:rPr sz="1400" spc="9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—</a:t>
            </a:r>
            <a:r>
              <a:rPr sz="1400" spc="8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sellers</a:t>
            </a:r>
            <a:r>
              <a:rPr sz="1400" spc="8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handle</a:t>
            </a:r>
            <a:r>
              <a:rPr sz="1400" spc="9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shipping.</a:t>
            </a:r>
            <a:endParaRPr sz="1400">
              <a:latin typeface="Arial"/>
              <a:cs typeface="Arial"/>
            </a:endParaRPr>
          </a:p>
          <a:p>
            <a:pPr marL="836294" lvl="1" indent="-335915">
              <a:lnSpc>
                <a:spcPts val="1595"/>
              </a:lnSpc>
              <a:buChar char="○"/>
              <a:tabLst>
                <a:tab pos="836294" algn="l"/>
              </a:tabLst>
            </a:pP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Product</a:t>
            </a:r>
            <a:r>
              <a:rPr sz="1400" spc="10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catalog</a:t>
            </a:r>
            <a:r>
              <a:rPr sz="1400" spc="1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size</a:t>
            </a:r>
            <a:r>
              <a:rPr sz="1400" spc="10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is</a:t>
            </a:r>
            <a:r>
              <a:rPr sz="1400" spc="1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manageable</a:t>
            </a:r>
            <a:r>
              <a:rPr sz="1400" spc="10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(~500K</a:t>
            </a:r>
            <a:r>
              <a:rPr sz="1400" spc="1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products</a:t>
            </a:r>
            <a:r>
              <a:rPr sz="1400" spc="10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initially).</a:t>
            </a:r>
            <a:endParaRPr sz="1400">
              <a:latin typeface="Arial"/>
              <a:cs typeface="Arial"/>
            </a:endParaRPr>
          </a:p>
          <a:p>
            <a:pPr marL="836294" lvl="1" indent="-335915">
              <a:lnSpc>
                <a:spcPts val="1580"/>
              </a:lnSpc>
              <a:buChar char="○"/>
              <a:tabLst>
                <a:tab pos="836294" algn="l"/>
              </a:tabLst>
            </a:pP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Fraud</a:t>
            </a:r>
            <a:r>
              <a:rPr sz="1400" spc="7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detection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is</a:t>
            </a:r>
            <a:r>
              <a:rPr sz="1400" spc="7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basic,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rule-based</a:t>
            </a:r>
            <a:r>
              <a:rPr sz="1400" spc="7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(no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ML-based</a:t>
            </a:r>
            <a:r>
              <a:rPr sz="1400" spc="7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advanced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detection</a:t>
            </a:r>
            <a:r>
              <a:rPr sz="1400" spc="7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yet).</a:t>
            </a:r>
            <a:endParaRPr sz="1400">
              <a:latin typeface="Arial"/>
              <a:cs typeface="Arial"/>
            </a:endParaRPr>
          </a:p>
          <a:p>
            <a:pPr marL="722630">
              <a:lnSpc>
                <a:spcPts val="2065"/>
              </a:lnSpc>
            </a:pP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Constraints:</a:t>
            </a:r>
            <a:endParaRPr sz="1800">
              <a:latin typeface="Arial"/>
              <a:cs typeface="Arial"/>
            </a:endParaRPr>
          </a:p>
          <a:p>
            <a:pPr marL="836294" lvl="1" indent="-335915">
              <a:lnSpc>
                <a:spcPts val="1600"/>
              </a:lnSpc>
              <a:buChar char="○"/>
              <a:tabLst>
                <a:tab pos="836294" algn="l"/>
              </a:tabLst>
            </a:pPr>
            <a:r>
              <a:rPr sz="1400" spc="-40" dirty="0">
                <a:solidFill>
                  <a:srgbClr val="695D46"/>
                </a:solidFill>
                <a:latin typeface="Arial"/>
                <a:cs typeface="Arial"/>
              </a:rPr>
              <a:t>MVP</a:t>
            </a:r>
            <a:r>
              <a:rPr sz="1400" spc="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60" dirty="0">
                <a:solidFill>
                  <a:srgbClr val="695D46"/>
                </a:solidFill>
                <a:latin typeface="Arial"/>
                <a:cs typeface="Arial"/>
              </a:rPr>
              <a:t>must</a:t>
            </a:r>
            <a:r>
              <a:rPr sz="1400" spc="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launch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65" dirty="0">
                <a:solidFill>
                  <a:srgbClr val="695D46"/>
                </a:solidFill>
                <a:latin typeface="Arial"/>
                <a:cs typeface="Arial"/>
              </a:rPr>
              <a:t>within</a:t>
            </a:r>
            <a:r>
              <a:rPr sz="1400" spc="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3–4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40" dirty="0">
                <a:solidFill>
                  <a:srgbClr val="695D46"/>
                </a:solidFill>
                <a:latin typeface="Arial"/>
                <a:cs typeface="Arial"/>
              </a:rPr>
              <a:t>months.</a:t>
            </a:r>
            <a:endParaRPr sz="1400">
              <a:latin typeface="Arial"/>
              <a:cs typeface="Arial"/>
            </a:endParaRPr>
          </a:p>
          <a:p>
            <a:pPr marL="836294" marR="5080" lvl="1" indent="-336550">
              <a:lnSpc>
                <a:spcPts val="1600"/>
              </a:lnSpc>
              <a:spcBef>
                <a:spcPts val="75"/>
              </a:spcBef>
              <a:buChar char="○"/>
              <a:tabLst>
                <a:tab pos="836294" algn="l"/>
              </a:tabLst>
            </a:pP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Budget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constraints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65" dirty="0">
                <a:solidFill>
                  <a:srgbClr val="695D46"/>
                </a:solidFill>
                <a:latin typeface="Arial"/>
                <a:cs typeface="Arial"/>
              </a:rPr>
              <a:t>limit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infrastructure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choices</a:t>
            </a:r>
            <a:r>
              <a:rPr sz="1400" spc="8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20" dirty="0">
                <a:solidFill>
                  <a:srgbClr val="695D46"/>
                </a:solidFill>
                <a:latin typeface="Arial"/>
                <a:cs typeface="Arial"/>
              </a:rPr>
              <a:t>(e.g.,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cloud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services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55" dirty="0">
                <a:solidFill>
                  <a:srgbClr val="695D46"/>
                </a:solidFill>
                <a:latin typeface="Arial"/>
                <a:cs typeface="Arial"/>
              </a:rPr>
              <a:t>preferred</a:t>
            </a:r>
            <a:r>
              <a:rPr sz="1400" spc="8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over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heavy </a:t>
            </a:r>
            <a:r>
              <a:rPr sz="1400" spc="55" dirty="0">
                <a:solidFill>
                  <a:srgbClr val="695D46"/>
                </a:solidFill>
                <a:latin typeface="Arial"/>
                <a:cs typeface="Arial"/>
              </a:rPr>
              <a:t>on-</a:t>
            </a:r>
            <a:r>
              <a:rPr sz="1400" spc="65" dirty="0">
                <a:solidFill>
                  <a:srgbClr val="695D46"/>
                </a:solidFill>
                <a:latin typeface="Arial"/>
                <a:cs typeface="Arial"/>
              </a:rPr>
              <a:t>prem</a:t>
            </a:r>
            <a:r>
              <a:rPr sz="1400" spc="-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setups).</a:t>
            </a:r>
            <a:endParaRPr sz="1400">
              <a:latin typeface="Arial"/>
              <a:cs typeface="Arial"/>
            </a:endParaRPr>
          </a:p>
          <a:p>
            <a:pPr marL="836294" lvl="1" indent="-335915">
              <a:lnSpc>
                <a:spcPts val="1510"/>
              </a:lnSpc>
              <a:buChar char="○"/>
              <a:tabLst>
                <a:tab pos="836294" algn="l"/>
              </a:tabLst>
            </a:pPr>
            <a:r>
              <a:rPr sz="1400" spc="55" dirty="0">
                <a:solidFill>
                  <a:srgbClr val="695D46"/>
                </a:solidFill>
                <a:latin typeface="Arial"/>
                <a:cs typeface="Arial"/>
              </a:rPr>
              <a:t>Minimal</a:t>
            </a:r>
            <a:r>
              <a:rPr sz="14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40" dirty="0">
                <a:solidFill>
                  <a:srgbClr val="695D46"/>
                </a:solidFill>
                <a:latin typeface="Arial"/>
                <a:cs typeface="Arial"/>
              </a:rPr>
              <a:t>DevOps/SRE</a:t>
            </a:r>
            <a:r>
              <a:rPr sz="14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60" dirty="0">
                <a:solidFill>
                  <a:srgbClr val="695D46"/>
                </a:solidFill>
                <a:latin typeface="Arial"/>
                <a:cs typeface="Arial"/>
              </a:rPr>
              <a:t>support</a:t>
            </a:r>
            <a:r>
              <a:rPr sz="14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—</a:t>
            </a:r>
            <a:r>
              <a:rPr sz="14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systems</a:t>
            </a:r>
            <a:r>
              <a:rPr sz="14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60" dirty="0">
                <a:solidFill>
                  <a:srgbClr val="695D46"/>
                </a:solidFill>
                <a:latin typeface="Arial"/>
                <a:cs typeface="Arial"/>
              </a:rPr>
              <a:t>must</a:t>
            </a:r>
            <a:r>
              <a:rPr sz="14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be</a:t>
            </a:r>
            <a:r>
              <a:rPr sz="14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simple</a:t>
            </a:r>
            <a:r>
              <a:rPr sz="14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to</a:t>
            </a:r>
            <a:r>
              <a:rPr sz="14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operate.</a:t>
            </a:r>
            <a:endParaRPr sz="1400">
              <a:latin typeface="Arial"/>
              <a:cs typeface="Arial"/>
            </a:endParaRPr>
          </a:p>
          <a:p>
            <a:pPr marL="836294" lvl="1" indent="-335915">
              <a:lnSpc>
                <a:spcPts val="1595"/>
              </a:lnSpc>
              <a:buChar char="○"/>
              <a:tabLst>
                <a:tab pos="836294" algn="l"/>
              </a:tabLst>
            </a:pPr>
            <a:r>
              <a:rPr sz="1400" spc="45" dirty="0">
                <a:solidFill>
                  <a:srgbClr val="695D46"/>
                </a:solidFill>
                <a:latin typeface="Arial"/>
                <a:cs typeface="Arial"/>
              </a:rPr>
              <a:t>Limited</a:t>
            </a:r>
            <a:r>
              <a:rPr sz="1400" spc="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20" dirty="0">
                <a:solidFill>
                  <a:srgbClr val="695D46"/>
                </a:solidFill>
                <a:latin typeface="Arial"/>
                <a:cs typeface="Arial"/>
              </a:rPr>
              <a:t>personalization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(search</a:t>
            </a:r>
            <a:r>
              <a:rPr sz="1400" spc="20" dirty="0">
                <a:solidFill>
                  <a:srgbClr val="695D46"/>
                </a:solidFill>
                <a:latin typeface="Arial"/>
                <a:cs typeface="Arial"/>
              </a:rPr>
              <a:t> is keyword-based,</a:t>
            </a:r>
            <a:r>
              <a:rPr sz="1400" spc="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65" dirty="0">
                <a:solidFill>
                  <a:srgbClr val="695D46"/>
                </a:solidFill>
                <a:latin typeface="Arial"/>
                <a:cs typeface="Arial"/>
              </a:rPr>
              <a:t>no</a:t>
            </a:r>
            <a:r>
              <a:rPr sz="1400" spc="20" dirty="0">
                <a:solidFill>
                  <a:srgbClr val="695D46"/>
                </a:solidFill>
                <a:latin typeface="Arial"/>
                <a:cs typeface="Arial"/>
              </a:rPr>
              <a:t> ML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recommendations).</a:t>
            </a:r>
            <a:endParaRPr sz="1400">
              <a:latin typeface="Arial"/>
              <a:cs typeface="Arial"/>
            </a:endParaRPr>
          </a:p>
          <a:p>
            <a:pPr marL="836294" marR="212725" lvl="1" indent="-336550">
              <a:lnSpc>
                <a:spcPts val="1600"/>
              </a:lnSpc>
              <a:spcBef>
                <a:spcPts val="80"/>
              </a:spcBef>
              <a:buChar char="○"/>
              <a:tabLst>
                <a:tab pos="836294" algn="l"/>
              </a:tabLst>
            </a:pP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Regulatory</a:t>
            </a:r>
            <a:r>
              <a:rPr sz="1400" spc="7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compliance</a:t>
            </a:r>
            <a:r>
              <a:rPr sz="1400" spc="7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60" dirty="0">
                <a:solidFill>
                  <a:srgbClr val="695D46"/>
                </a:solidFill>
                <a:latin typeface="Arial"/>
                <a:cs typeface="Arial"/>
              </a:rPr>
              <a:t>must</a:t>
            </a:r>
            <a:r>
              <a:rPr sz="1400" spc="7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be</a:t>
            </a:r>
            <a:r>
              <a:rPr sz="1400" spc="7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ensured</a:t>
            </a:r>
            <a:r>
              <a:rPr sz="1400" spc="7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for</a:t>
            </a:r>
            <a:r>
              <a:rPr sz="1400" spc="7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payments</a:t>
            </a:r>
            <a:r>
              <a:rPr sz="1400" spc="7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80" dirty="0">
                <a:solidFill>
                  <a:srgbClr val="695D46"/>
                </a:solidFill>
                <a:latin typeface="Arial"/>
                <a:cs typeface="Arial"/>
              </a:rPr>
              <a:t>(PCI</a:t>
            </a:r>
            <a:r>
              <a:rPr sz="1400" spc="7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25" dirty="0">
                <a:solidFill>
                  <a:srgbClr val="695D46"/>
                </a:solidFill>
                <a:latin typeface="Arial"/>
                <a:cs typeface="Arial"/>
              </a:rPr>
              <a:t>DSS</a:t>
            </a:r>
            <a:r>
              <a:rPr sz="1400" spc="7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basics,</a:t>
            </a:r>
            <a:r>
              <a:rPr sz="1400" spc="7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90" dirty="0">
                <a:solidFill>
                  <a:srgbClr val="695D46"/>
                </a:solidFill>
                <a:latin typeface="Arial"/>
                <a:cs typeface="Arial"/>
              </a:rPr>
              <a:t>GDPR</a:t>
            </a:r>
            <a:r>
              <a:rPr sz="1400" spc="7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for</a:t>
            </a:r>
            <a:r>
              <a:rPr sz="1400" spc="7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20" dirty="0">
                <a:solidFill>
                  <a:srgbClr val="695D46"/>
                </a:solidFill>
                <a:latin typeface="Arial"/>
                <a:cs typeface="Arial"/>
              </a:rPr>
              <a:t>user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data).</a:t>
            </a:r>
            <a:endParaRPr sz="1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294314" y="4832240"/>
            <a:ext cx="3838883" cy="17792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pc="-170" dirty="0"/>
              <a:t>Scale</a:t>
            </a:r>
            <a:r>
              <a:rPr spc="-30" dirty="0"/>
              <a:t> </a:t>
            </a:r>
            <a:r>
              <a:rPr spc="-190" dirty="0"/>
              <a:t>Estimations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75248" y="1289060"/>
            <a:ext cx="7808595" cy="1918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marR="5080" indent="-367030">
              <a:lnSpc>
                <a:spcPct val="114999"/>
              </a:lnSpc>
              <a:spcBef>
                <a:spcPts val="100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Users: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~1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65" dirty="0">
                <a:solidFill>
                  <a:srgbClr val="695D46"/>
                </a:solidFill>
                <a:latin typeface="Arial"/>
                <a:cs typeface="Arial"/>
              </a:rPr>
              <a:t>Million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registered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users;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~10,000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daily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active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users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45" dirty="0">
                <a:solidFill>
                  <a:srgbClr val="695D46"/>
                </a:solidFill>
                <a:latin typeface="Arial"/>
                <a:cs typeface="Arial"/>
              </a:rPr>
              <a:t>(DAUs)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35" dirty="0">
                <a:solidFill>
                  <a:srgbClr val="695D46"/>
                </a:solidFill>
                <a:latin typeface="Arial"/>
                <a:cs typeface="Arial"/>
              </a:rPr>
              <a:t>at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launch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320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Traffic:</a:t>
            </a:r>
            <a:r>
              <a:rPr sz="1800" spc="1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Peak</a:t>
            </a:r>
            <a:r>
              <a:rPr sz="1800" spc="1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~100</a:t>
            </a:r>
            <a:r>
              <a:rPr sz="1800" spc="1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requests/second</a:t>
            </a:r>
            <a:r>
              <a:rPr sz="1800" spc="1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70" dirty="0">
                <a:solidFill>
                  <a:srgbClr val="695D46"/>
                </a:solidFill>
                <a:latin typeface="Arial"/>
                <a:cs typeface="Arial"/>
              </a:rPr>
              <a:t>during</a:t>
            </a:r>
            <a:r>
              <a:rPr sz="1800" spc="1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sales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325"/>
              </a:spcBef>
              <a:buChar char="●"/>
              <a:tabLst>
                <a:tab pos="379095" algn="l"/>
              </a:tabLst>
            </a:pPr>
            <a:r>
              <a:rPr sz="1800" spc="45" dirty="0">
                <a:solidFill>
                  <a:srgbClr val="695D46"/>
                </a:solidFill>
                <a:latin typeface="Arial"/>
                <a:cs typeface="Arial"/>
              </a:rPr>
              <a:t>Product</a:t>
            </a:r>
            <a:r>
              <a:rPr sz="1800" spc="-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Catalog:</a:t>
            </a:r>
            <a:r>
              <a:rPr sz="1800" spc="-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~500,000</a:t>
            </a:r>
            <a:r>
              <a:rPr sz="1800" spc="-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products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325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Orders:</a:t>
            </a:r>
            <a:r>
              <a:rPr sz="1800" spc="7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~1,000</a:t>
            </a:r>
            <a:r>
              <a:rPr sz="1800" spc="7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orders/day</a:t>
            </a:r>
            <a:r>
              <a:rPr sz="1800" spc="7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initially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325"/>
              </a:spcBef>
              <a:buChar char="●"/>
              <a:tabLst>
                <a:tab pos="379095" algn="l"/>
              </a:tabLst>
            </a:pP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Sellers: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 ~5,000</a:t>
            </a:r>
            <a:r>
              <a:rPr sz="1800" spc="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active</a:t>
            </a:r>
            <a:r>
              <a:rPr sz="1800" spc="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sellers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294314" y="4832240"/>
            <a:ext cx="3838883" cy="17792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pc="-160" dirty="0"/>
              <a:t>Critical</a:t>
            </a:r>
            <a:r>
              <a:rPr spc="-20" dirty="0"/>
              <a:t> </a:t>
            </a:r>
            <a:r>
              <a:rPr spc="-229" dirty="0"/>
              <a:t>System</a:t>
            </a:r>
            <a:r>
              <a:rPr spc="-15" dirty="0"/>
              <a:t> </a:t>
            </a:r>
            <a:r>
              <a:rPr spc="-185" dirty="0"/>
              <a:t>Bottlenecks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75248" y="1289060"/>
            <a:ext cx="8078470" cy="1602740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L="379095" indent="-366395">
              <a:lnSpc>
                <a:spcPct val="100000"/>
              </a:lnSpc>
              <a:spcBef>
                <a:spcPts val="420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Search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and</a:t>
            </a:r>
            <a:r>
              <a:rPr sz="18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Browsing</a:t>
            </a:r>
            <a:r>
              <a:rPr sz="18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Latency:</a:t>
            </a:r>
            <a:r>
              <a:rPr sz="18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Need</a:t>
            </a:r>
            <a:r>
              <a:rPr sz="18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fast,</a:t>
            </a:r>
            <a:r>
              <a:rPr sz="18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scalable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80" dirty="0">
                <a:solidFill>
                  <a:srgbClr val="695D46"/>
                </a:solidFill>
                <a:latin typeface="Arial"/>
                <a:cs typeface="Arial"/>
              </a:rPr>
              <a:t>product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search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325"/>
              </a:spcBef>
              <a:buChar char="●"/>
              <a:tabLst>
                <a:tab pos="379095" algn="l"/>
              </a:tabLst>
            </a:pP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Inventory</a:t>
            </a:r>
            <a:r>
              <a:rPr sz="1800" spc="10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Consistency:</a:t>
            </a:r>
            <a:r>
              <a:rPr sz="1800" spc="10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Prevent</a:t>
            </a:r>
            <a:r>
              <a:rPr sz="1800" spc="10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overselling</a:t>
            </a:r>
            <a:r>
              <a:rPr sz="1800" spc="10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70" dirty="0">
                <a:solidFill>
                  <a:srgbClr val="695D46"/>
                </a:solidFill>
                <a:latin typeface="Arial"/>
                <a:cs typeface="Arial"/>
              </a:rPr>
              <a:t>during</a:t>
            </a:r>
            <a:r>
              <a:rPr sz="1800" spc="10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flash</a:t>
            </a:r>
            <a:r>
              <a:rPr sz="1800" spc="10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sales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325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Checkout</a:t>
            </a:r>
            <a:r>
              <a:rPr sz="18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and</a:t>
            </a:r>
            <a:r>
              <a:rPr sz="1800" spc="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Payment</a:t>
            </a:r>
            <a:r>
              <a:rPr sz="18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Flows:</a:t>
            </a:r>
            <a:r>
              <a:rPr sz="1800" spc="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Ensure</a:t>
            </a:r>
            <a:r>
              <a:rPr sz="18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reliability</a:t>
            </a:r>
            <a:r>
              <a:rPr sz="1800" spc="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75" dirty="0">
                <a:solidFill>
                  <a:srgbClr val="695D46"/>
                </a:solidFill>
                <a:latin typeface="Arial"/>
                <a:cs typeface="Arial"/>
              </a:rPr>
              <a:t>under</a:t>
            </a:r>
            <a:r>
              <a:rPr sz="1800" spc="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peak</a:t>
            </a:r>
            <a:r>
              <a:rPr sz="18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traffic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325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Database</a:t>
            </a:r>
            <a:r>
              <a:rPr sz="1800" spc="1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Hotspots:</a:t>
            </a:r>
            <a:r>
              <a:rPr sz="1800" spc="1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Popular</a:t>
            </a:r>
            <a:r>
              <a:rPr sz="1800" spc="1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products</a:t>
            </a:r>
            <a:r>
              <a:rPr sz="1800" spc="1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causing</a:t>
            </a:r>
            <a:r>
              <a:rPr sz="1800" spc="1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heavy</a:t>
            </a:r>
            <a:r>
              <a:rPr sz="1800" spc="1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40" dirty="0">
                <a:solidFill>
                  <a:srgbClr val="695D46"/>
                </a:solidFill>
                <a:latin typeface="Arial"/>
                <a:cs typeface="Arial"/>
              </a:rPr>
              <a:t>reads/writes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325"/>
              </a:spcBef>
              <a:buChar char="●"/>
              <a:tabLst>
                <a:tab pos="379095" algn="l"/>
              </a:tabLst>
            </a:pPr>
            <a:r>
              <a:rPr sz="1800" spc="10" dirty="0">
                <a:solidFill>
                  <a:srgbClr val="695D46"/>
                </a:solidFill>
                <a:latin typeface="Arial"/>
                <a:cs typeface="Arial"/>
              </a:rPr>
              <a:t>Fraud/Payment</a:t>
            </a:r>
            <a:r>
              <a:rPr sz="1800" spc="1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10" dirty="0">
                <a:solidFill>
                  <a:srgbClr val="695D46"/>
                </a:solidFill>
                <a:latin typeface="Arial"/>
                <a:cs typeface="Arial"/>
              </a:rPr>
              <a:t>Errors:</a:t>
            </a:r>
            <a:r>
              <a:rPr sz="1800" spc="1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10" dirty="0">
                <a:solidFill>
                  <a:srgbClr val="695D46"/>
                </a:solidFill>
                <a:latin typeface="Arial"/>
                <a:cs typeface="Arial"/>
              </a:rPr>
              <a:t>Detect</a:t>
            </a:r>
            <a:r>
              <a:rPr sz="1800" spc="1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and</a:t>
            </a:r>
            <a:r>
              <a:rPr sz="1800" spc="1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10" dirty="0">
                <a:solidFill>
                  <a:srgbClr val="695D46"/>
                </a:solidFill>
                <a:latin typeface="Arial"/>
                <a:cs typeface="Arial"/>
              </a:rPr>
              <a:t>handle</a:t>
            </a:r>
            <a:r>
              <a:rPr sz="1800" spc="1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70" dirty="0">
                <a:solidFill>
                  <a:srgbClr val="695D46"/>
                </a:solidFill>
                <a:latin typeface="Arial"/>
                <a:cs typeface="Arial"/>
              </a:rPr>
              <a:t>abnormal</a:t>
            </a:r>
            <a:r>
              <a:rPr sz="1800" spc="16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10" dirty="0">
                <a:solidFill>
                  <a:srgbClr val="695D46"/>
                </a:solidFill>
                <a:latin typeface="Arial"/>
                <a:cs typeface="Arial"/>
              </a:rPr>
              <a:t>transactions</a:t>
            </a:r>
            <a:r>
              <a:rPr sz="1800" spc="1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quickly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51040" y="4844990"/>
            <a:ext cx="4287890" cy="19697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pc="-260" dirty="0"/>
              <a:t>Core</a:t>
            </a:r>
            <a:r>
              <a:rPr spc="-20" dirty="0"/>
              <a:t> </a:t>
            </a:r>
            <a:r>
              <a:rPr spc="-190" dirty="0"/>
              <a:t>Services</a:t>
            </a:r>
            <a:r>
              <a:rPr spc="-15" dirty="0"/>
              <a:t> </a:t>
            </a:r>
            <a:r>
              <a:rPr spc="-280" dirty="0"/>
              <a:t>Breakdown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75248" y="1289060"/>
            <a:ext cx="7907655" cy="2233930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L="379095" indent="-366395">
              <a:lnSpc>
                <a:spcPct val="100000"/>
              </a:lnSpc>
              <a:spcBef>
                <a:spcPts val="420"/>
              </a:spcBef>
              <a:buFont typeface="Arial"/>
              <a:buChar char="●"/>
              <a:tabLst>
                <a:tab pos="379095" algn="l"/>
              </a:tabLst>
            </a:pPr>
            <a:r>
              <a:rPr sz="1800" spc="-135" dirty="0">
                <a:solidFill>
                  <a:srgbClr val="695D46"/>
                </a:solidFill>
                <a:latin typeface="Arial Black"/>
                <a:cs typeface="Arial Black"/>
              </a:rPr>
              <a:t>User</a:t>
            </a:r>
            <a:r>
              <a:rPr sz="1800" spc="-75" dirty="0">
                <a:solidFill>
                  <a:srgbClr val="695D46"/>
                </a:solidFill>
                <a:latin typeface="Arial Black"/>
                <a:cs typeface="Arial Black"/>
              </a:rPr>
              <a:t> </a:t>
            </a:r>
            <a:r>
              <a:rPr sz="1800" spc="-155" dirty="0">
                <a:solidFill>
                  <a:srgbClr val="695D46"/>
                </a:solidFill>
                <a:latin typeface="Arial Black"/>
                <a:cs typeface="Arial Black"/>
              </a:rPr>
              <a:t>Service</a:t>
            </a:r>
            <a:r>
              <a:rPr sz="1800" spc="-50" dirty="0">
                <a:solidFill>
                  <a:srgbClr val="695D46"/>
                </a:solidFill>
                <a:latin typeface="Arial Black"/>
                <a:cs typeface="Arial Black"/>
              </a:rPr>
              <a:t> </a:t>
            </a:r>
            <a:r>
              <a:rPr sz="1800" spc="-100" dirty="0">
                <a:solidFill>
                  <a:srgbClr val="695D46"/>
                </a:solidFill>
                <a:latin typeface="Arial"/>
                <a:cs typeface="Arial"/>
              </a:rPr>
              <a:t>–</a:t>
            </a:r>
            <a:r>
              <a:rPr sz="18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Manage</a:t>
            </a:r>
            <a:r>
              <a:rPr sz="1800" spc="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registration,</a:t>
            </a:r>
            <a:r>
              <a:rPr sz="1800" spc="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login,</a:t>
            </a:r>
            <a:r>
              <a:rPr sz="1800" spc="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45" dirty="0">
                <a:solidFill>
                  <a:srgbClr val="695D46"/>
                </a:solidFill>
                <a:latin typeface="Arial"/>
                <a:cs typeface="Arial"/>
              </a:rPr>
              <a:t>authentication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325"/>
              </a:spcBef>
              <a:buFont typeface="Arial"/>
              <a:buChar char="●"/>
              <a:tabLst>
                <a:tab pos="379095" algn="l"/>
              </a:tabLst>
            </a:pPr>
            <a:r>
              <a:rPr sz="1800" spc="-100" dirty="0">
                <a:solidFill>
                  <a:srgbClr val="695D46"/>
                </a:solidFill>
                <a:latin typeface="Arial Black"/>
                <a:cs typeface="Arial Black"/>
              </a:rPr>
              <a:t>Product</a:t>
            </a:r>
            <a:r>
              <a:rPr sz="1800" spc="-65" dirty="0">
                <a:solidFill>
                  <a:srgbClr val="695D46"/>
                </a:solidFill>
                <a:latin typeface="Arial Black"/>
                <a:cs typeface="Arial Black"/>
              </a:rPr>
              <a:t> </a:t>
            </a:r>
            <a:r>
              <a:rPr sz="1800" spc="-130" dirty="0">
                <a:solidFill>
                  <a:srgbClr val="695D46"/>
                </a:solidFill>
                <a:latin typeface="Arial Black"/>
                <a:cs typeface="Arial Black"/>
              </a:rPr>
              <a:t>Catalog</a:t>
            </a:r>
            <a:r>
              <a:rPr sz="1800" spc="-65" dirty="0">
                <a:solidFill>
                  <a:srgbClr val="695D46"/>
                </a:solidFill>
                <a:latin typeface="Arial Black"/>
                <a:cs typeface="Arial Black"/>
              </a:rPr>
              <a:t> </a:t>
            </a:r>
            <a:r>
              <a:rPr sz="1800" spc="-155" dirty="0">
                <a:solidFill>
                  <a:srgbClr val="695D46"/>
                </a:solidFill>
                <a:latin typeface="Arial Black"/>
                <a:cs typeface="Arial Black"/>
              </a:rPr>
              <a:t>Service</a:t>
            </a:r>
            <a:r>
              <a:rPr sz="1800" spc="-35" dirty="0">
                <a:solidFill>
                  <a:srgbClr val="695D46"/>
                </a:solidFill>
                <a:latin typeface="Arial Black"/>
                <a:cs typeface="Arial Black"/>
              </a:rPr>
              <a:t> </a:t>
            </a:r>
            <a:r>
              <a:rPr sz="1800" spc="-100" dirty="0">
                <a:solidFill>
                  <a:srgbClr val="695D46"/>
                </a:solidFill>
                <a:latin typeface="Arial"/>
                <a:cs typeface="Arial"/>
              </a:rPr>
              <a:t>–</a:t>
            </a:r>
            <a:r>
              <a:rPr sz="1800" spc="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Manage</a:t>
            </a:r>
            <a:r>
              <a:rPr sz="18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80" dirty="0">
                <a:solidFill>
                  <a:srgbClr val="695D46"/>
                </a:solidFill>
                <a:latin typeface="Arial"/>
                <a:cs typeface="Arial"/>
              </a:rPr>
              <a:t>product</a:t>
            </a:r>
            <a:r>
              <a:rPr sz="18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listings,</a:t>
            </a:r>
            <a:r>
              <a:rPr sz="1800" spc="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search,</a:t>
            </a:r>
            <a:r>
              <a:rPr sz="1800" spc="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categories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325"/>
              </a:spcBef>
              <a:buFont typeface="Arial"/>
              <a:buChar char="●"/>
              <a:tabLst>
                <a:tab pos="379095" algn="l"/>
              </a:tabLst>
            </a:pPr>
            <a:r>
              <a:rPr sz="1800" spc="-75" dirty="0">
                <a:solidFill>
                  <a:srgbClr val="695D46"/>
                </a:solidFill>
                <a:latin typeface="Arial Black"/>
                <a:cs typeface="Arial Black"/>
              </a:rPr>
              <a:t>Inventory</a:t>
            </a:r>
            <a:r>
              <a:rPr sz="1800" spc="-55" dirty="0">
                <a:solidFill>
                  <a:srgbClr val="695D46"/>
                </a:solidFill>
                <a:latin typeface="Arial Black"/>
                <a:cs typeface="Arial Black"/>
              </a:rPr>
              <a:t> </a:t>
            </a:r>
            <a:r>
              <a:rPr sz="1800" spc="-155" dirty="0">
                <a:solidFill>
                  <a:srgbClr val="695D46"/>
                </a:solidFill>
                <a:latin typeface="Arial Black"/>
                <a:cs typeface="Arial Black"/>
              </a:rPr>
              <a:t>Service</a:t>
            </a:r>
            <a:r>
              <a:rPr sz="1800" spc="-25" dirty="0">
                <a:solidFill>
                  <a:srgbClr val="695D46"/>
                </a:solidFill>
                <a:latin typeface="Arial Black"/>
                <a:cs typeface="Arial Black"/>
              </a:rPr>
              <a:t> </a:t>
            </a:r>
            <a:r>
              <a:rPr sz="1800" spc="-100" dirty="0">
                <a:solidFill>
                  <a:srgbClr val="695D46"/>
                </a:solidFill>
                <a:latin typeface="Arial"/>
                <a:cs typeface="Arial"/>
              </a:rPr>
              <a:t>–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Track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stock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levels,</a:t>
            </a:r>
            <a:r>
              <a:rPr sz="18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handle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stock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reservations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325"/>
              </a:spcBef>
              <a:buFont typeface="Arial"/>
              <a:buChar char="●"/>
              <a:tabLst>
                <a:tab pos="379095" algn="l"/>
              </a:tabLst>
            </a:pPr>
            <a:r>
              <a:rPr sz="1800" spc="-65" dirty="0">
                <a:solidFill>
                  <a:srgbClr val="695D46"/>
                </a:solidFill>
                <a:latin typeface="Arial Black"/>
                <a:cs typeface="Arial Black"/>
              </a:rPr>
              <a:t>Order</a:t>
            </a:r>
            <a:r>
              <a:rPr sz="1800" spc="-45" dirty="0">
                <a:solidFill>
                  <a:srgbClr val="695D46"/>
                </a:solidFill>
                <a:latin typeface="Arial Black"/>
                <a:cs typeface="Arial Black"/>
              </a:rPr>
              <a:t> </a:t>
            </a:r>
            <a:r>
              <a:rPr sz="1800" spc="-100" dirty="0">
                <a:solidFill>
                  <a:srgbClr val="695D46"/>
                </a:solidFill>
                <a:latin typeface="Arial Black"/>
                <a:cs typeface="Arial Black"/>
              </a:rPr>
              <a:t>Management</a:t>
            </a:r>
            <a:r>
              <a:rPr sz="1800" spc="-45" dirty="0">
                <a:solidFill>
                  <a:srgbClr val="695D46"/>
                </a:solidFill>
                <a:latin typeface="Arial Black"/>
                <a:cs typeface="Arial Black"/>
              </a:rPr>
              <a:t> </a:t>
            </a:r>
            <a:r>
              <a:rPr sz="1800" spc="-155" dirty="0">
                <a:solidFill>
                  <a:srgbClr val="695D46"/>
                </a:solidFill>
                <a:latin typeface="Arial Black"/>
                <a:cs typeface="Arial Black"/>
              </a:rPr>
              <a:t>Service</a:t>
            </a:r>
            <a:r>
              <a:rPr sz="1800" spc="-35" dirty="0">
                <a:solidFill>
                  <a:srgbClr val="695D46"/>
                </a:solidFill>
                <a:latin typeface="Arial Black"/>
                <a:cs typeface="Arial Black"/>
              </a:rPr>
              <a:t> </a:t>
            </a:r>
            <a:r>
              <a:rPr sz="1800" spc="-100" dirty="0">
                <a:solidFill>
                  <a:srgbClr val="695D46"/>
                </a:solidFill>
                <a:latin typeface="Arial"/>
                <a:cs typeface="Arial"/>
              </a:rPr>
              <a:t>–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Manage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cart,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checkout,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85" dirty="0">
                <a:solidFill>
                  <a:srgbClr val="695D46"/>
                </a:solidFill>
                <a:latin typeface="Arial"/>
                <a:cs typeface="Arial"/>
              </a:rPr>
              <a:t>order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lifecycle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325"/>
              </a:spcBef>
              <a:buFont typeface="Arial"/>
              <a:buChar char="●"/>
              <a:tabLst>
                <a:tab pos="379095" algn="l"/>
              </a:tabLst>
            </a:pPr>
            <a:r>
              <a:rPr sz="1800" spc="-95" dirty="0">
                <a:solidFill>
                  <a:srgbClr val="695D46"/>
                </a:solidFill>
                <a:latin typeface="Arial Black"/>
                <a:cs typeface="Arial Black"/>
              </a:rPr>
              <a:t>Payment</a:t>
            </a:r>
            <a:r>
              <a:rPr sz="1800" spc="-40" dirty="0">
                <a:solidFill>
                  <a:srgbClr val="695D46"/>
                </a:solidFill>
                <a:latin typeface="Arial Black"/>
                <a:cs typeface="Arial Black"/>
              </a:rPr>
              <a:t> </a:t>
            </a:r>
            <a:r>
              <a:rPr sz="1800" spc="-155" dirty="0">
                <a:solidFill>
                  <a:srgbClr val="695D46"/>
                </a:solidFill>
                <a:latin typeface="Arial Black"/>
                <a:cs typeface="Arial Black"/>
              </a:rPr>
              <a:t>Service</a:t>
            </a:r>
            <a:r>
              <a:rPr sz="1800" spc="-30" dirty="0">
                <a:solidFill>
                  <a:srgbClr val="695D46"/>
                </a:solidFill>
                <a:latin typeface="Arial Black"/>
                <a:cs typeface="Arial Black"/>
              </a:rPr>
              <a:t> </a:t>
            </a:r>
            <a:r>
              <a:rPr sz="1800" spc="-100" dirty="0">
                <a:solidFill>
                  <a:srgbClr val="695D46"/>
                </a:solidFill>
                <a:latin typeface="Arial"/>
                <a:cs typeface="Arial"/>
              </a:rPr>
              <a:t>–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Handle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 payment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processing,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40" dirty="0">
                <a:solidFill>
                  <a:srgbClr val="695D46"/>
                </a:solidFill>
                <a:latin typeface="Arial"/>
                <a:cs typeface="Arial"/>
              </a:rPr>
              <a:t>retries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320"/>
              </a:spcBef>
              <a:buFont typeface="Arial"/>
              <a:buChar char="●"/>
              <a:tabLst>
                <a:tab pos="379095" algn="l"/>
              </a:tabLst>
            </a:pPr>
            <a:r>
              <a:rPr sz="1800" spc="-80" dirty="0">
                <a:solidFill>
                  <a:srgbClr val="695D46"/>
                </a:solidFill>
                <a:latin typeface="Arial Black"/>
                <a:cs typeface="Arial Black"/>
              </a:rPr>
              <a:t>Notification</a:t>
            </a:r>
            <a:r>
              <a:rPr sz="1800" spc="-110" dirty="0">
                <a:solidFill>
                  <a:srgbClr val="695D46"/>
                </a:solidFill>
                <a:latin typeface="Arial Black"/>
                <a:cs typeface="Arial Black"/>
              </a:rPr>
              <a:t> </a:t>
            </a:r>
            <a:r>
              <a:rPr sz="1800" spc="-155" dirty="0">
                <a:solidFill>
                  <a:srgbClr val="695D46"/>
                </a:solidFill>
                <a:latin typeface="Arial Black"/>
                <a:cs typeface="Arial Black"/>
              </a:rPr>
              <a:t>Service</a:t>
            </a:r>
            <a:r>
              <a:rPr sz="1800" spc="-90" dirty="0">
                <a:solidFill>
                  <a:srgbClr val="695D46"/>
                </a:solidFill>
                <a:latin typeface="Arial Black"/>
                <a:cs typeface="Arial Black"/>
              </a:rPr>
              <a:t> </a:t>
            </a:r>
            <a:r>
              <a:rPr sz="1800" spc="-100" dirty="0">
                <a:solidFill>
                  <a:srgbClr val="695D46"/>
                </a:solidFill>
                <a:latin typeface="Arial"/>
                <a:cs typeface="Arial"/>
              </a:rPr>
              <a:t>–</a:t>
            </a:r>
            <a:r>
              <a:rPr sz="1800" spc="-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Send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email/SMS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45" dirty="0">
                <a:solidFill>
                  <a:srgbClr val="695D46"/>
                </a:solidFill>
                <a:latin typeface="Arial"/>
                <a:cs typeface="Arial"/>
              </a:rPr>
              <a:t>notifications</a:t>
            </a:r>
            <a:endParaRPr sz="18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325"/>
              </a:spcBef>
              <a:buFont typeface="Arial"/>
              <a:buChar char="●"/>
              <a:tabLst>
                <a:tab pos="379095" algn="l"/>
              </a:tabLst>
            </a:pPr>
            <a:r>
              <a:rPr sz="1800" spc="-85" dirty="0">
                <a:solidFill>
                  <a:srgbClr val="695D46"/>
                </a:solidFill>
                <a:latin typeface="Arial Black"/>
                <a:cs typeface="Arial Black"/>
              </a:rPr>
              <a:t>Admin</a:t>
            </a:r>
            <a:r>
              <a:rPr sz="1800" spc="-114" dirty="0">
                <a:solidFill>
                  <a:srgbClr val="695D46"/>
                </a:solidFill>
                <a:latin typeface="Arial Black"/>
                <a:cs typeface="Arial Black"/>
              </a:rPr>
              <a:t> </a:t>
            </a:r>
            <a:r>
              <a:rPr sz="1800" spc="-155" dirty="0">
                <a:solidFill>
                  <a:srgbClr val="695D46"/>
                </a:solidFill>
                <a:latin typeface="Arial Black"/>
                <a:cs typeface="Arial Black"/>
              </a:rPr>
              <a:t>Service</a:t>
            </a:r>
            <a:r>
              <a:rPr sz="1800" spc="-100" dirty="0">
                <a:solidFill>
                  <a:srgbClr val="695D46"/>
                </a:solidFill>
                <a:latin typeface="Arial Black"/>
                <a:cs typeface="Arial Black"/>
              </a:rPr>
              <a:t> </a:t>
            </a:r>
            <a:r>
              <a:rPr sz="1800" spc="-100" dirty="0">
                <a:solidFill>
                  <a:srgbClr val="695D46"/>
                </a:solidFill>
                <a:latin typeface="Arial"/>
                <a:cs typeface="Arial"/>
              </a:rPr>
              <a:t>–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Seller/product</a:t>
            </a:r>
            <a:r>
              <a:rPr sz="1800" spc="-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moderation,</a:t>
            </a:r>
            <a:r>
              <a:rPr sz="1800" spc="-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90" dirty="0">
                <a:solidFill>
                  <a:srgbClr val="695D46"/>
                </a:solidFill>
                <a:latin typeface="Arial"/>
                <a:cs typeface="Arial"/>
              </a:rPr>
              <a:t>platform</a:t>
            </a:r>
            <a:r>
              <a:rPr sz="1800" spc="-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45" dirty="0">
                <a:solidFill>
                  <a:srgbClr val="695D46"/>
                </a:solidFill>
                <a:latin typeface="Arial"/>
                <a:cs typeface="Arial"/>
              </a:rPr>
              <a:t>controls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51040" y="4844990"/>
            <a:ext cx="4287890" cy="19697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pc="-195" dirty="0"/>
              <a:t>Service</a:t>
            </a:r>
            <a:r>
              <a:rPr spc="-145" dirty="0"/>
              <a:t> </a:t>
            </a:r>
            <a:r>
              <a:rPr spc="-180" dirty="0"/>
              <a:t>APIs</a:t>
            </a:r>
            <a:r>
              <a:rPr spc="-25" dirty="0"/>
              <a:t> </a:t>
            </a:r>
            <a:r>
              <a:rPr spc="-270" dirty="0"/>
              <a:t>and</a:t>
            </a:r>
            <a:r>
              <a:rPr spc="-30" dirty="0"/>
              <a:t> </a:t>
            </a:r>
            <a:r>
              <a:rPr spc="-165" dirty="0"/>
              <a:t>Responsibilities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7424" y="4072139"/>
            <a:ext cx="284633" cy="26789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75248" y="1309961"/>
            <a:ext cx="5871845" cy="303276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379095" indent="-366395">
              <a:lnSpc>
                <a:spcPct val="100000"/>
              </a:lnSpc>
              <a:spcBef>
                <a:spcPts val="259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User</a:t>
            </a:r>
            <a:r>
              <a:rPr sz="1800" spc="-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Service</a:t>
            </a:r>
            <a:r>
              <a:rPr sz="1800" spc="-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20" dirty="0">
                <a:solidFill>
                  <a:srgbClr val="695D46"/>
                </a:solidFill>
                <a:latin typeface="Arial"/>
                <a:cs typeface="Arial"/>
              </a:rPr>
              <a:t>APIs:</a:t>
            </a:r>
            <a:endParaRPr sz="1800">
              <a:latin typeface="Arial"/>
              <a:cs typeface="Arial"/>
            </a:endParaRPr>
          </a:p>
          <a:p>
            <a:pPr marL="836294" lvl="1" indent="-374015">
              <a:lnSpc>
                <a:spcPct val="100000"/>
              </a:lnSpc>
              <a:spcBef>
                <a:spcPts val="120"/>
              </a:spcBef>
              <a:buAutoNum type="alphaLcPeriod"/>
              <a:tabLst>
                <a:tab pos="836294" algn="l"/>
              </a:tabLst>
            </a:pPr>
            <a:r>
              <a:rPr sz="1400" spc="-95" dirty="0">
                <a:solidFill>
                  <a:srgbClr val="695D46"/>
                </a:solidFill>
                <a:latin typeface="Arial"/>
                <a:cs typeface="Arial"/>
              </a:rPr>
              <a:t>POST</a:t>
            </a:r>
            <a:r>
              <a:rPr sz="1400" spc="1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/register,</a:t>
            </a:r>
            <a:r>
              <a:rPr sz="1400" spc="114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95" dirty="0">
                <a:solidFill>
                  <a:srgbClr val="695D46"/>
                </a:solidFill>
                <a:latin typeface="Arial"/>
                <a:cs typeface="Arial"/>
              </a:rPr>
              <a:t>POST</a:t>
            </a:r>
            <a:r>
              <a:rPr sz="1400" spc="114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/login,</a:t>
            </a:r>
            <a:r>
              <a:rPr sz="1400" spc="114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14" dirty="0">
                <a:solidFill>
                  <a:srgbClr val="695D46"/>
                </a:solidFill>
                <a:latin typeface="Arial"/>
                <a:cs typeface="Arial"/>
              </a:rPr>
              <a:t>GET</a:t>
            </a:r>
            <a:r>
              <a:rPr sz="1400" spc="1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/profile</a:t>
            </a:r>
            <a:endParaRPr sz="14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70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Catalog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 APIs:</a:t>
            </a:r>
            <a:endParaRPr sz="1800">
              <a:latin typeface="Arial"/>
              <a:cs typeface="Arial"/>
            </a:endParaRPr>
          </a:p>
          <a:p>
            <a:pPr marL="836294" lvl="1" indent="-374015">
              <a:lnSpc>
                <a:spcPct val="100000"/>
              </a:lnSpc>
              <a:spcBef>
                <a:spcPts val="125"/>
              </a:spcBef>
              <a:buAutoNum type="alphaLcPeriod"/>
              <a:tabLst>
                <a:tab pos="836294" algn="l"/>
              </a:tabLst>
            </a:pPr>
            <a:r>
              <a:rPr sz="1400" spc="-114" dirty="0">
                <a:solidFill>
                  <a:srgbClr val="695D46"/>
                </a:solidFill>
                <a:latin typeface="Arial"/>
                <a:cs typeface="Arial"/>
              </a:rPr>
              <a:t>GET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/products,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14" dirty="0">
                <a:solidFill>
                  <a:srgbClr val="695D46"/>
                </a:solidFill>
                <a:latin typeface="Arial"/>
                <a:cs typeface="Arial"/>
              </a:rPr>
              <a:t>GET</a:t>
            </a:r>
            <a:r>
              <a:rPr sz="1400" spc="-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55" dirty="0">
                <a:solidFill>
                  <a:srgbClr val="695D46"/>
                </a:solidFill>
                <a:latin typeface="Arial"/>
                <a:cs typeface="Arial"/>
              </a:rPr>
              <a:t>/products/{id},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95" dirty="0">
                <a:solidFill>
                  <a:srgbClr val="695D46"/>
                </a:solidFill>
                <a:latin typeface="Arial"/>
                <a:cs typeface="Arial"/>
              </a:rPr>
              <a:t>POST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45" dirty="0">
                <a:solidFill>
                  <a:srgbClr val="695D46"/>
                </a:solidFill>
                <a:latin typeface="Arial"/>
                <a:cs typeface="Arial"/>
              </a:rPr>
              <a:t>/products</a:t>
            </a:r>
            <a:endParaRPr sz="14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65"/>
              </a:spcBef>
              <a:buChar char="●"/>
              <a:tabLst>
                <a:tab pos="379095" algn="l"/>
              </a:tabLst>
            </a:pP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Inventory</a:t>
            </a:r>
            <a:r>
              <a:rPr sz="1800" spc="-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20" dirty="0">
                <a:solidFill>
                  <a:srgbClr val="695D46"/>
                </a:solidFill>
                <a:latin typeface="Arial"/>
                <a:cs typeface="Arial"/>
              </a:rPr>
              <a:t>APIs:</a:t>
            </a:r>
            <a:endParaRPr sz="1800">
              <a:latin typeface="Arial"/>
              <a:cs typeface="Arial"/>
            </a:endParaRPr>
          </a:p>
          <a:p>
            <a:pPr marL="836294" lvl="1" indent="-374015">
              <a:lnSpc>
                <a:spcPct val="100000"/>
              </a:lnSpc>
              <a:spcBef>
                <a:spcPts val="125"/>
              </a:spcBef>
              <a:buAutoNum type="alphaLcPeriod"/>
              <a:tabLst>
                <a:tab pos="836294" algn="l"/>
              </a:tabLst>
            </a:pPr>
            <a:r>
              <a:rPr sz="1400" spc="-114" dirty="0">
                <a:solidFill>
                  <a:srgbClr val="695D46"/>
                </a:solidFill>
                <a:latin typeface="Arial"/>
                <a:cs typeface="Arial"/>
              </a:rPr>
              <a:t>GET</a:t>
            </a:r>
            <a:r>
              <a:rPr sz="1400" spc="9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/inventory/{productId},</a:t>
            </a:r>
            <a:r>
              <a:rPr sz="1400" spc="9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95" dirty="0">
                <a:solidFill>
                  <a:srgbClr val="695D46"/>
                </a:solidFill>
                <a:latin typeface="Arial"/>
                <a:cs typeface="Arial"/>
              </a:rPr>
              <a:t>POST</a:t>
            </a:r>
            <a:r>
              <a:rPr sz="1400" spc="9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/reserve-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stock</a:t>
            </a:r>
            <a:endParaRPr sz="14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70"/>
              </a:spcBef>
              <a:buChar char="●"/>
              <a:tabLst>
                <a:tab pos="379095" algn="l"/>
              </a:tabLst>
            </a:pPr>
            <a:r>
              <a:rPr sz="1800" spc="65" dirty="0">
                <a:solidFill>
                  <a:srgbClr val="695D46"/>
                </a:solidFill>
                <a:latin typeface="Arial"/>
                <a:cs typeface="Arial"/>
              </a:rPr>
              <a:t>Order</a:t>
            </a:r>
            <a:r>
              <a:rPr sz="1800" spc="-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APIs:</a:t>
            </a:r>
            <a:endParaRPr sz="1800">
              <a:latin typeface="Arial"/>
              <a:cs typeface="Arial"/>
            </a:endParaRPr>
          </a:p>
          <a:p>
            <a:pPr marL="836294" lvl="1" indent="-374015">
              <a:lnSpc>
                <a:spcPct val="100000"/>
              </a:lnSpc>
              <a:spcBef>
                <a:spcPts val="125"/>
              </a:spcBef>
              <a:buAutoNum type="alphaLcPeriod"/>
              <a:tabLst>
                <a:tab pos="836294" algn="l"/>
              </a:tabLst>
            </a:pPr>
            <a:r>
              <a:rPr sz="1400" spc="-95" dirty="0">
                <a:solidFill>
                  <a:srgbClr val="695D46"/>
                </a:solidFill>
                <a:latin typeface="Arial"/>
                <a:cs typeface="Arial"/>
              </a:rPr>
              <a:t>POST</a:t>
            </a:r>
            <a:r>
              <a:rPr sz="14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/cart/add,</a:t>
            </a:r>
            <a:r>
              <a:rPr sz="14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95" dirty="0">
                <a:solidFill>
                  <a:srgbClr val="695D46"/>
                </a:solidFill>
                <a:latin typeface="Arial"/>
                <a:cs typeface="Arial"/>
              </a:rPr>
              <a:t>POST</a:t>
            </a:r>
            <a:r>
              <a:rPr sz="14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/checkout,</a:t>
            </a:r>
            <a:r>
              <a:rPr sz="14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14" dirty="0">
                <a:solidFill>
                  <a:srgbClr val="695D46"/>
                </a:solidFill>
                <a:latin typeface="Arial"/>
                <a:cs typeface="Arial"/>
              </a:rPr>
              <a:t>GET</a:t>
            </a:r>
            <a:r>
              <a:rPr sz="14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65" dirty="0">
                <a:solidFill>
                  <a:srgbClr val="695D46"/>
                </a:solidFill>
                <a:latin typeface="Arial"/>
                <a:cs typeface="Arial"/>
              </a:rPr>
              <a:t>/order/{orderId}</a:t>
            </a:r>
            <a:endParaRPr sz="1400">
              <a:latin typeface="Arial"/>
              <a:cs typeface="Arial"/>
            </a:endParaRPr>
          </a:p>
          <a:p>
            <a:pPr marL="379095" indent="-366395">
              <a:lnSpc>
                <a:spcPct val="100000"/>
              </a:lnSpc>
              <a:spcBef>
                <a:spcPts val="65"/>
              </a:spcBef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Payment</a:t>
            </a:r>
            <a:r>
              <a:rPr sz="1800" spc="2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APIs:</a:t>
            </a:r>
            <a:endParaRPr sz="1800">
              <a:latin typeface="Arial"/>
              <a:cs typeface="Arial"/>
            </a:endParaRPr>
          </a:p>
          <a:p>
            <a:pPr marL="836294" lvl="1" indent="-374015">
              <a:lnSpc>
                <a:spcPct val="100000"/>
              </a:lnSpc>
              <a:spcBef>
                <a:spcPts val="125"/>
              </a:spcBef>
              <a:buAutoNum type="alphaLcPeriod"/>
              <a:tabLst>
                <a:tab pos="836294" algn="l"/>
              </a:tabLst>
            </a:pPr>
            <a:r>
              <a:rPr sz="1400" spc="-95" dirty="0">
                <a:solidFill>
                  <a:srgbClr val="695D46"/>
                </a:solidFill>
                <a:latin typeface="Arial"/>
                <a:cs typeface="Arial"/>
              </a:rPr>
              <a:t>POST</a:t>
            </a:r>
            <a:r>
              <a:rPr sz="1400" spc="29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/payments/initiate,</a:t>
            </a:r>
            <a:r>
              <a:rPr sz="1400" spc="30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95" dirty="0">
                <a:solidFill>
                  <a:srgbClr val="695D46"/>
                </a:solidFill>
                <a:latin typeface="Arial"/>
                <a:cs typeface="Arial"/>
              </a:rPr>
              <a:t>POST</a:t>
            </a:r>
            <a:r>
              <a:rPr sz="1400" spc="30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/payments/verify</a:t>
            </a:r>
            <a:endParaRPr sz="1400">
              <a:latin typeface="Arial"/>
              <a:cs typeface="Arial"/>
            </a:endParaRPr>
          </a:p>
          <a:p>
            <a:pPr marL="265430">
              <a:lnSpc>
                <a:spcPct val="100000"/>
              </a:lnSpc>
              <a:spcBef>
                <a:spcPts val="1270"/>
              </a:spcBef>
            </a:pPr>
            <a:r>
              <a:rPr sz="1800" spc="-55" dirty="0">
                <a:solidFill>
                  <a:srgbClr val="695D46"/>
                </a:solidFill>
                <a:latin typeface="Arial"/>
                <a:cs typeface="Arial"/>
              </a:rPr>
              <a:t>APIs</a:t>
            </a:r>
            <a:r>
              <a:rPr sz="18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should</a:t>
            </a:r>
            <a:r>
              <a:rPr sz="1800" spc="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be</a:t>
            </a:r>
            <a:r>
              <a:rPr sz="18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65" dirty="0">
                <a:solidFill>
                  <a:srgbClr val="695D46"/>
                </a:solidFill>
                <a:latin typeface="Arial"/>
                <a:cs typeface="Arial"/>
              </a:rPr>
              <a:t>RESTful,</a:t>
            </a:r>
            <a:r>
              <a:rPr sz="1800" spc="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stateless,</a:t>
            </a:r>
            <a:r>
              <a:rPr sz="1800" spc="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and</a:t>
            </a:r>
            <a:r>
              <a:rPr sz="18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versioned</a:t>
            </a:r>
            <a:r>
              <a:rPr sz="1800" spc="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(v1).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51040" y="4844990"/>
            <a:ext cx="4287890" cy="19697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pc="-195" dirty="0"/>
              <a:t>Service</a:t>
            </a:r>
            <a:r>
              <a:rPr spc="-60" dirty="0"/>
              <a:t> </a:t>
            </a:r>
            <a:r>
              <a:rPr spc="-265" dirty="0"/>
              <a:t>Communication</a:t>
            </a:r>
            <a:r>
              <a:rPr spc="-130" dirty="0"/>
              <a:t> </a:t>
            </a:r>
            <a:r>
              <a:rPr spc="-270" dirty="0"/>
              <a:t>Approach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7424" y="2878849"/>
            <a:ext cx="284633" cy="26789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384724" y="1274691"/>
            <a:ext cx="7632065" cy="2190750"/>
          </a:xfrm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469265" indent="-366395">
              <a:lnSpc>
                <a:spcPct val="100000"/>
              </a:lnSpc>
              <a:spcBef>
                <a:spcPts val="535"/>
              </a:spcBef>
              <a:buChar char="●"/>
              <a:tabLst>
                <a:tab pos="46926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Synchronous</a:t>
            </a:r>
            <a:r>
              <a:rPr sz="1800" spc="1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90" dirty="0">
                <a:solidFill>
                  <a:srgbClr val="695D46"/>
                </a:solidFill>
                <a:latin typeface="Arial"/>
                <a:cs typeface="Arial"/>
              </a:rPr>
              <a:t>(HTTP</a:t>
            </a:r>
            <a:r>
              <a:rPr sz="1800" spc="1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REST):</a:t>
            </a:r>
            <a:endParaRPr sz="1800">
              <a:latin typeface="Arial"/>
              <a:cs typeface="Arial"/>
            </a:endParaRPr>
          </a:p>
          <a:p>
            <a:pPr marL="926465" lvl="1" indent="-335915">
              <a:lnSpc>
                <a:spcPct val="100000"/>
              </a:lnSpc>
              <a:spcBef>
                <a:spcPts val="340"/>
              </a:spcBef>
              <a:buChar char="○"/>
              <a:tabLst>
                <a:tab pos="926465" algn="l"/>
              </a:tabLst>
            </a:pP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User,</a:t>
            </a:r>
            <a:r>
              <a:rPr sz="1400" spc="7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Product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Catalog,</a:t>
            </a:r>
            <a:r>
              <a:rPr sz="1400" spc="7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Inventory,</a:t>
            </a:r>
            <a:r>
              <a:rPr sz="1400" spc="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Orders,</a:t>
            </a:r>
            <a:r>
              <a:rPr sz="1400" spc="7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Payments</a:t>
            </a:r>
            <a:endParaRPr sz="1400">
              <a:latin typeface="Arial"/>
              <a:cs typeface="Arial"/>
            </a:endParaRPr>
          </a:p>
          <a:p>
            <a:pPr marL="469265" indent="-366395">
              <a:lnSpc>
                <a:spcPct val="100000"/>
              </a:lnSpc>
              <a:spcBef>
                <a:spcPts val="235"/>
              </a:spcBef>
              <a:buChar char="●"/>
              <a:tabLst>
                <a:tab pos="469265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Asynchronous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(Events</a:t>
            </a:r>
            <a:r>
              <a:rPr sz="18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via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Message</a:t>
            </a:r>
            <a:r>
              <a:rPr sz="1800" spc="6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Queue):</a:t>
            </a:r>
            <a:endParaRPr sz="1800">
              <a:latin typeface="Arial"/>
              <a:cs typeface="Arial"/>
            </a:endParaRPr>
          </a:p>
          <a:p>
            <a:pPr marL="926465" lvl="1" indent="-335915">
              <a:lnSpc>
                <a:spcPct val="100000"/>
              </a:lnSpc>
              <a:spcBef>
                <a:spcPts val="340"/>
              </a:spcBef>
              <a:buChar char="○"/>
              <a:tabLst>
                <a:tab pos="926465" algn="l"/>
              </a:tabLst>
            </a:pP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Order</a:t>
            </a:r>
            <a:r>
              <a:rPr sz="14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Placed</a:t>
            </a:r>
            <a:r>
              <a:rPr sz="1400" spc="6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→</a:t>
            </a: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Inventory</a:t>
            </a: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Update</a:t>
            </a:r>
            <a:r>
              <a:rPr sz="1400" spc="6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→</a:t>
            </a: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Notification</a:t>
            </a:r>
            <a:endParaRPr sz="1400">
              <a:latin typeface="Arial"/>
              <a:cs typeface="Arial"/>
            </a:endParaRPr>
          </a:p>
          <a:p>
            <a:pPr marL="926465" lvl="1" indent="-335915">
              <a:lnSpc>
                <a:spcPct val="100000"/>
              </a:lnSpc>
              <a:spcBef>
                <a:spcPts val="254"/>
              </a:spcBef>
              <a:buChar char="○"/>
              <a:tabLst>
                <a:tab pos="926465" algn="l"/>
              </a:tabLst>
            </a:pP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Payment</a:t>
            </a:r>
            <a:r>
              <a:rPr sz="1400" spc="114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30" dirty="0">
                <a:solidFill>
                  <a:srgbClr val="695D46"/>
                </a:solidFill>
                <a:latin typeface="Arial"/>
                <a:cs typeface="Arial"/>
              </a:rPr>
              <a:t>Success</a:t>
            </a:r>
            <a:r>
              <a:rPr sz="1400" spc="1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→</a:t>
            </a:r>
            <a:r>
              <a:rPr sz="1400" spc="114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Order</a:t>
            </a:r>
            <a:r>
              <a:rPr sz="1400" spc="1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Confirmation</a:t>
            </a:r>
            <a:r>
              <a:rPr sz="1400" spc="1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→</a:t>
            </a:r>
            <a:r>
              <a:rPr sz="1400" spc="114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Notify</a:t>
            </a:r>
            <a:r>
              <a:rPr sz="1400" spc="1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Seller</a:t>
            </a:r>
            <a:endParaRPr sz="1400">
              <a:latin typeface="Arial"/>
              <a:cs typeface="Arial"/>
            </a:endParaRPr>
          </a:p>
          <a:p>
            <a:pPr marL="12700" marR="5080" indent="343535">
              <a:lnSpc>
                <a:spcPct val="114999"/>
              </a:lnSpc>
              <a:spcBef>
                <a:spcPts val="1110"/>
              </a:spcBef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Use</a:t>
            </a:r>
            <a:r>
              <a:rPr sz="1800" spc="1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event-driven</a:t>
            </a:r>
            <a:r>
              <a:rPr sz="1800" spc="1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async</a:t>
            </a:r>
            <a:r>
              <a:rPr sz="1800" spc="1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flows</a:t>
            </a:r>
            <a:r>
              <a:rPr sz="1800" spc="1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100" dirty="0">
                <a:solidFill>
                  <a:srgbClr val="695D46"/>
                </a:solidFill>
                <a:latin typeface="Arial"/>
                <a:cs typeface="Arial"/>
              </a:rPr>
              <a:t>for</a:t>
            </a:r>
            <a:r>
              <a:rPr sz="1800" spc="1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critical</a:t>
            </a:r>
            <a:r>
              <a:rPr sz="1800" spc="1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105" dirty="0">
                <a:solidFill>
                  <a:srgbClr val="695D46"/>
                </a:solidFill>
                <a:latin typeface="Arial"/>
                <a:cs typeface="Arial"/>
              </a:rPr>
              <a:t>but</a:t>
            </a:r>
            <a:r>
              <a:rPr sz="1800" spc="1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non-blocking</a:t>
            </a:r>
            <a:r>
              <a:rPr sz="1800" spc="1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40" dirty="0">
                <a:solidFill>
                  <a:srgbClr val="695D46"/>
                </a:solidFill>
                <a:latin typeface="Arial"/>
                <a:cs typeface="Arial"/>
              </a:rPr>
              <a:t>operations </a:t>
            </a:r>
            <a:r>
              <a:rPr sz="1800" spc="-30" dirty="0">
                <a:solidFill>
                  <a:srgbClr val="695D46"/>
                </a:solidFill>
                <a:latin typeface="Arial"/>
                <a:cs typeface="Arial"/>
              </a:rPr>
              <a:t>(e.g.,</a:t>
            </a:r>
            <a:r>
              <a:rPr sz="1800" spc="114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stock</a:t>
            </a:r>
            <a:r>
              <a:rPr sz="1800" spc="1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updates,</a:t>
            </a:r>
            <a:r>
              <a:rPr sz="1800" spc="114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sending</a:t>
            </a:r>
            <a:r>
              <a:rPr sz="1800" spc="1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emails).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51040" y="4844990"/>
            <a:ext cx="4287890" cy="19697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pc="-240" dirty="0"/>
              <a:t>Database</a:t>
            </a:r>
            <a:r>
              <a:rPr spc="-25" dirty="0"/>
              <a:t> </a:t>
            </a:r>
            <a:r>
              <a:rPr spc="-270" dirty="0"/>
              <a:t>and</a:t>
            </a:r>
            <a:r>
              <a:rPr spc="-25" dirty="0"/>
              <a:t> </a:t>
            </a:r>
            <a:r>
              <a:rPr spc="-195" dirty="0"/>
              <a:t>Storage</a:t>
            </a:r>
            <a:r>
              <a:rPr spc="-70" dirty="0"/>
              <a:t> </a:t>
            </a:r>
            <a:r>
              <a:rPr spc="-185" dirty="0"/>
              <a:t>Choices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7424" y="3813650"/>
            <a:ext cx="189755" cy="17859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7424" y="4158073"/>
            <a:ext cx="189755" cy="178593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2740" indent="-320040">
              <a:lnSpc>
                <a:spcPct val="100000"/>
              </a:lnSpc>
              <a:spcBef>
                <a:spcPts val="100"/>
              </a:spcBef>
              <a:buChar char="●"/>
              <a:tabLst>
                <a:tab pos="332740" algn="l"/>
              </a:tabLst>
            </a:pPr>
            <a:r>
              <a:rPr dirty="0"/>
              <a:t>User</a:t>
            </a:r>
            <a:r>
              <a:rPr spc="35" dirty="0"/>
              <a:t> </a:t>
            </a:r>
            <a:r>
              <a:rPr spc="-20" dirty="0"/>
              <a:t>Data</a:t>
            </a:r>
          </a:p>
          <a:p>
            <a:pPr marL="789940" lvl="1" indent="-320675">
              <a:lnSpc>
                <a:spcPct val="100000"/>
              </a:lnSpc>
              <a:spcBef>
                <a:spcPts val="70"/>
              </a:spcBef>
              <a:buChar char="○"/>
              <a:tabLst>
                <a:tab pos="789940" algn="l"/>
              </a:tabLst>
            </a:pP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Relational</a:t>
            </a:r>
            <a:r>
              <a:rPr sz="12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DB</a:t>
            </a:r>
            <a:r>
              <a:rPr sz="12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695D46"/>
                </a:solidFill>
                <a:latin typeface="Arial"/>
                <a:cs typeface="Arial"/>
              </a:rPr>
              <a:t>(e.g.,</a:t>
            </a:r>
            <a:r>
              <a:rPr sz="12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695D46"/>
                </a:solidFill>
                <a:latin typeface="Arial"/>
                <a:cs typeface="Arial"/>
              </a:rPr>
              <a:t>PostgreSQL,</a:t>
            </a:r>
            <a:r>
              <a:rPr sz="12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65" dirty="0">
                <a:solidFill>
                  <a:srgbClr val="695D46"/>
                </a:solidFill>
                <a:latin typeface="Arial"/>
                <a:cs typeface="Arial"/>
              </a:rPr>
              <a:t>for</a:t>
            </a:r>
            <a:r>
              <a:rPr sz="12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strong</a:t>
            </a:r>
            <a:r>
              <a:rPr sz="12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consistency)</a:t>
            </a:r>
            <a:endParaRPr sz="1200">
              <a:latin typeface="Arial"/>
              <a:cs typeface="Arial"/>
            </a:endParaRPr>
          </a:p>
          <a:p>
            <a:pPr marL="332740" indent="-320040">
              <a:lnSpc>
                <a:spcPct val="100000"/>
              </a:lnSpc>
              <a:spcBef>
                <a:spcPts val="70"/>
              </a:spcBef>
              <a:buChar char="●"/>
              <a:tabLst>
                <a:tab pos="332740" algn="l"/>
              </a:tabLst>
            </a:pPr>
            <a:r>
              <a:rPr dirty="0"/>
              <a:t>Product</a:t>
            </a:r>
            <a:r>
              <a:rPr spc="190" dirty="0"/>
              <a:t> </a:t>
            </a:r>
            <a:r>
              <a:rPr spc="-10" dirty="0"/>
              <a:t>Catalog</a:t>
            </a:r>
          </a:p>
          <a:p>
            <a:pPr marL="789940" lvl="1" indent="-320675">
              <a:lnSpc>
                <a:spcPct val="100000"/>
              </a:lnSpc>
              <a:spcBef>
                <a:spcPts val="75"/>
              </a:spcBef>
              <a:buChar char="○"/>
              <a:tabLst>
                <a:tab pos="789940" algn="l"/>
              </a:tabLst>
            </a:pP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Search-optimized</a:t>
            </a:r>
            <a:r>
              <a:rPr sz="1200" spc="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DB</a:t>
            </a:r>
            <a:r>
              <a:rPr sz="1200" spc="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695D46"/>
                </a:solidFill>
                <a:latin typeface="Arial"/>
                <a:cs typeface="Arial"/>
              </a:rPr>
              <a:t>(e.g.,</a:t>
            </a:r>
            <a:r>
              <a:rPr sz="1200" spc="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Elasticsearch</a:t>
            </a:r>
            <a:r>
              <a:rPr sz="1200" spc="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+</a:t>
            </a:r>
            <a:r>
              <a:rPr sz="1200" spc="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PostgreSQL</a:t>
            </a:r>
            <a:r>
              <a:rPr sz="1200" spc="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backup)</a:t>
            </a:r>
            <a:endParaRPr sz="1200">
              <a:latin typeface="Arial"/>
              <a:cs typeface="Arial"/>
            </a:endParaRPr>
          </a:p>
          <a:p>
            <a:pPr marL="332740" indent="-320040">
              <a:lnSpc>
                <a:spcPct val="100000"/>
              </a:lnSpc>
              <a:spcBef>
                <a:spcPts val="70"/>
              </a:spcBef>
              <a:buChar char="●"/>
              <a:tabLst>
                <a:tab pos="332740" algn="l"/>
              </a:tabLst>
            </a:pPr>
            <a:r>
              <a:rPr spc="10" dirty="0"/>
              <a:t>Inventory</a:t>
            </a:r>
            <a:r>
              <a:rPr spc="235" dirty="0"/>
              <a:t> </a:t>
            </a:r>
            <a:r>
              <a:rPr spc="-20" dirty="0"/>
              <a:t>Data</a:t>
            </a:r>
          </a:p>
          <a:p>
            <a:pPr marL="789940" lvl="1" indent="-320675">
              <a:lnSpc>
                <a:spcPct val="100000"/>
              </a:lnSpc>
              <a:spcBef>
                <a:spcPts val="75"/>
              </a:spcBef>
              <a:buChar char="○"/>
              <a:tabLst>
                <a:tab pos="789940" algn="l"/>
              </a:tabLst>
            </a:pP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Relational</a:t>
            </a:r>
            <a:r>
              <a:rPr sz="12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DB</a:t>
            </a:r>
            <a:r>
              <a:rPr sz="12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695D46"/>
                </a:solidFill>
                <a:latin typeface="Arial"/>
                <a:cs typeface="Arial"/>
              </a:rPr>
              <a:t>(e.g.,</a:t>
            </a:r>
            <a:r>
              <a:rPr sz="12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695D46"/>
                </a:solidFill>
                <a:latin typeface="Arial"/>
                <a:cs typeface="Arial"/>
              </a:rPr>
              <a:t>PostgreSQL,</a:t>
            </a:r>
            <a:r>
              <a:rPr sz="12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strict</a:t>
            </a:r>
            <a:r>
              <a:rPr sz="12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consistency</a:t>
            </a:r>
            <a:r>
              <a:rPr sz="12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60" dirty="0">
                <a:solidFill>
                  <a:srgbClr val="695D46"/>
                </a:solidFill>
                <a:latin typeface="Arial"/>
                <a:cs typeface="Arial"/>
              </a:rPr>
              <a:t>on</a:t>
            </a:r>
            <a:r>
              <a:rPr sz="12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stock)</a:t>
            </a:r>
            <a:endParaRPr sz="1200">
              <a:latin typeface="Arial"/>
              <a:cs typeface="Arial"/>
            </a:endParaRPr>
          </a:p>
          <a:p>
            <a:pPr marL="332740" indent="-320040">
              <a:lnSpc>
                <a:spcPct val="100000"/>
              </a:lnSpc>
              <a:spcBef>
                <a:spcPts val="70"/>
              </a:spcBef>
              <a:buChar char="●"/>
              <a:tabLst>
                <a:tab pos="332740" algn="l"/>
              </a:tabLst>
            </a:pPr>
            <a:r>
              <a:rPr dirty="0"/>
              <a:t>Order</a:t>
            </a:r>
            <a:r>
              <a:rPr spc="200" dirty="0"/>
              <a:t> </a:t>
            </a:r>
            <a:r>
              <a:rPr spc="-20" dirty="0"/>
              <a:t>Data</a:t>
            </a:r>
          </a:p>
          <a:p>
            <a:pPr marL="789940" lvl="1" indent="-320675">
              <a:lnSpc>
                <a:spcPct val="100000"/>
              </a:lnSpc>
              <a:spcBef>
                <a:spcPts val="70"/>
              </a:spcBef>
              <a:buChar char="○"/>
              <a:tabLst>
                <a:tab pos="789940" algn="l"/>
              </a:tabLst>
            </a:pP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Relational</a:t>
            </a:r>
            <a:r>
              <a:rPr sz="1200" spc="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DB</a:t>
            </a:r>
            <a:r>
              <a:rPr sz="1200" spc="3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695D46"/>
                </a:solidFill>
                <a:latin typeface="Arial"/>
                <a:cs typeface="Arial"/>
              </a:rPr>
              <a:t>(PostgreSQL,</a:t>
            </a:r>
            <a:r>
              <a:rPr sz="12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transactional)</a:t>
            </a:r>
            <a:endParaRPr sz="1200">
              <a:latin typeface="Arial"/>
              <a:cs typeface="Arial"/>
            </a:endParaRPr>
          </a:p>
          <a:p>
            <a:pPr marL="332740" indent="-320040">
              <a:lnSpc>
                <a:spcPct val="100000"/>
              </a:lnSpc>
              <a:spcBef>
                <a:spcPts val="75"/>
              </a:spcBef>
              <a:buChar char="●"/>
              <a:tabLst>
                <a:tab pos="332740" algn="l"/>
              </a:tabLst>
            </a:pPr>
            <a:r>
              <a:rPr dirty="0"/>
              <a:t>Payment</a:t>
            </a:r>
            <a:r>
              <a:rPr spc="130" dirty="0"/>
              <a:t> </a:t>
            </a:r>
            <a:r>
              <a:rPr spc="-10" dirty="0"/>
              <a:t>Records</a:t>
            </a:r>
          </a:p>
          <a:p>
            <a:pPr marL="789940" lvl="1" indent="-320675">
              <a:lnSpc>
                <a:spcPct val="100000"/>
              </a:lnSpc>
              <a:spcBef>
                <a:spcPts val="70"/>
              </a:spcBef>
              <a:buChar char="○"/>
              <a:tabLst>
                <a:tab pos="789940" algn="l"/>
              </a:tabLst>
            </a:pP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Relational</a:t>
            </a:r>
            <a:r>
              <a:rPr sz="1200" spc="10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DB</a:t>
            </a:r>
            <a:r>
              <a:rPr sz="1200" spc="10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695D46"/>
                </a:solidFill>
                <a:latin typeface="Arial"/>
                <a:cs typeface="Arial"/>
              </a:rPr>
              <a:t>(PostgreSQL,</a:t>
            </a:r>
            <a:r>
              <a:rPr sz="1200" spc="10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encrypted</a:t>
            </a:r>
            <a:r>
              <a:rPr sz="1200" spc="10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fields)</a:t>
            </a:r>
            <a:endParaRPr sz="1200">
              <a:latin typeface="Arial"/>
              <a:cs typeface="Arial"/>
            </a:endParaRPr>
          </a:p>
          <a:p>
            <a:pPr marL="332740" indent="-320040">
              <a:lnSpc>
                <a:spcPct val="100000"/>
              </a:lnSpc>
              <a:spcBef>
                <a:spcPts val="75"/>
              </a:spcBef>
              <a:buChar char="●"/>
              <a:tabLst>
                <a:tab pos="332740" algn="l"/>
              </a:tabLst>
            </a:pPr>
            <a:r>
              <a:rPr dirty="0"/>
              <a:t>Logs</a:t>
            </a:r>
            <a:r>
              <a:rPr spc="15" dirty="0"/>
              <a:t> </a:t>
            </a:r>
            <a:r>
              <a:rPr dirty="0"/>
              <a:t>and</a:t>
            </a:r>
            <a:r>
              <a:rPr spc="20" dirty="0"/>
              <a:t> </a:t>
            </a:r>
            <a:r>
              <a:rPr spc="-10" dirty="0"/>
              <a:t>Events</a:t>
            </a:r>
          </a:p>
          <a:p>
            <a:pPr marL="789940" lvl="1" indent="-320675">
              <a:lnSpc>
                <a:spcPct val="100000"/>
              </a:lnSpc>
              <a:spcBef>
                <a:spcPts val="70"/>
              </a:spcBef>
              <a:buChar char="○"/>
              <a:tabLst>
                <a:tab pos="789940" algn="l"/>
              </a:tabLst>
            </a:pP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Object</a:t>
            </a:r>
            <a:r>
              <a:rPr sz="1200" spc="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695D46"/>
                </a:solidFill>
                <a:latin typeface="Arial"/>
                <a:cs typeface="Arial"/>
              </a:rPr>
              <a:t>Storage</a:t>
            </a:r>
            <a:r>
              <a:rPr sz="1200" spc="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695D46"/>
                </a:solidFill>
                <a:latin typeface="Arial"/>
                <a:cs typeface="Arial"/>
              </a:rPr>
              <a:t>(e.g.,</a:t>
            </a:r>
            <a:r>
              <a:rPr sz="1200" spc="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695D46"/>
                </a:solidFill>
                <a:latin typeface="Arial"/>
                <a:cs typeface="Arial"/>
              </a:rPr>
              <a:t>AWS</a:t>
            </a:r>
            <a:r>
              <a:rPr sz="1200" spc="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695D46"/>
                </a:solidFill>
                <a:latin typeface="Arial"/>
                <a:cs typeface="Arial"/>
              </a:rPr>
              <a:t>S3</a:t>
            </a:r>
            <a:r>
              <a:rPr sz="1200" spc="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70" dirty="0">
                <a:solidFill>
                  <a:srgbClr val="695D46"/>
                </a:solidFill>
                <a:latin typeface="Arial"/>
                <a:cs typeface="Arial"/>
              </a:rPr>
              <a:t>or</a:t>
            </a:r>
            <a:r>
              <a:rPr sz="1200" spc="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695D46"/>
                </a:solidFill>
                <a:latin typeface="Arial"/>
                <a:cs typeface="Arial"/>
              </a:rPr>
              <a:t>similar)</a:t>
            </a:r>
            <a:endParaRPr sz="1200">
              <a:latin typeface="Arial"/>
              <a:cs typeface="Arial"/>
            </a:endParaRPr>
          </a:p>
          <a:p>
            <a:pPr marL="104775">
              <a:lnSpc>
                <a:spcPct val="100000"/>
              </a:lnSpc>
              <a:spcBef>
                <a:spcPts val="1270"/>
              </a:spcBef>
            </a:pPr>
            <a:r>
              <a:rPr dirty="0"/>
              <a:t>Relational</a:t>
            </a:r>
            <a:r>
              <a:rPr spc="95" dirty="0"/>
              <a:t> </a:t>
            </a:r>
            <a:r>
              <a:rPr dirty="0"/>
              <a:t>databases</a:t>
            </a:r>
            <a:r>
              <a:rPr spc="95" dirty="0"/>
              <a:t> </a:t>
            </a:r>
            <a:r>
              <a:rPr spc="65" dirty="0"/>
              <a:t>for</a:t>
            </a:r>
            <a:r>
              <a:rPr spc="95" dirty="0"/>
              <a:t> </a:t>
            </a:r>
            <a:r>
              <a:rPr dirty="0"/>
              <a:t>critical</a:t>
            </a:r>
            <a:r>
              <a:rPr spc="95" dirty="0"/>
              <a:t> </a:t>
            </a:r>
            <a:r>
              <a:rPr dirty="0"/>
              <a:t>business</a:t>
            </a:r>
            <a:r>
              <a:rPr spc="100" dirty="0"/>
              <a:t> </a:t>
            </a:r>
            <a:r>
              <a:rPr spc="-10" dirty="0"/>
              <a:t>data.</a:t>
            </a:r>
          </a:p>
          <a:p>
            <a:pPr marL="104775">
              <a:lnSpc>
                <a:spcPct val="100000"/>
              </a:lnSpc>
              <a:spcBef>
                <a:spcPts val="1275"/>
              </a:spcBef>
            </a:pPr>
            <a:r>
              <a:rPr spc="-10" dirty="0"/>
              <a:t>ElasticSearch</a:t>
            </a:r>
            <a:r>
              <a:rPr spc="25" dirty="0"/>
              <a:t> </a:t>
            </a:r>
            <a:r>
              <a:rPr spc="70" dirty="0"/>
              <a:t>or</a:t>
            </a:r>
            <a:r>
              <a:rPr spc="25" dirty="0"/>
              <a:t> </a:t>
            </a:r>
            <a:r>
              <a:rPr dirty="0"/>
              <a:t>Redisearch</a:t>
            </a:r>
            <a:r>
              <a:rPr spc="25" dirty="0"/>
              <a:t> </a:t>
            </a:r>
            <a:r>
              <a:rPr spc="65" dirty="0"/>
              <a:t>for</a:t>
            </a:r>
            <a:r>
              <a:rPr spc="25" dirty="0"/>
              <a:t> </a:t>
            </a:r>
            <a:r>
              <a:rPr dirty="0"/>
              <a:t>fast</a:t>
            </a:r>
            <a:r>
              <a:rPr spc="30" dirty="0"/>
              <a:t> </a:t>
            </a:r>
            <a:r>
              <a:rPr spc="50" dirty="0"/>
              <a:t>product</a:t>
            </a:r>
            <a:r>
              <a:rPr spc="25" dirty="0"/>
              <a:t> </a:t>
            </a:r>
            <a:r>
              <a:rPr dirty="0"/>
              <a:t>search</a:t>
            </a:r>
            <a:r>
              <a:rPr spc="25" dirty="0"/>
              <a:t> </a:t>
            </a:r>
            <a:r>
              <a:rPr spc="-10" dirty="0"/>
              <a:t>indexing.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51040" y="4844990"/>
            <a:ext cx="4287890" cy="19697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pc="-204" dirty="0"/>
              <a:t>Caching</a:t>
            </a:r>
            <a:r>
              <a:rPr spc="-20" dirty="0"/>
              <a:t> </a:t>
            </a:r>
            <a:r>
              <a:rPr spc="-270" dirty="0"/>
              <a:t>and</a:t>
            </a:r>
            <a:r>
              <a:rPr spc="-65" dirty="0"/>
              <a:t> </a:t>
            </a:r>
            <a:r>
              <a:rPr spc="-229" dirty="0"/>
              <a:t>Ǫueueing</a:t>
            </a:r>
            <a:r>
              <a:rPr spc="-15" dirty="0"/>
              <a:t> </a:t>
            </a:r>
            <a:r>
              <a:rPr spc="-160" dirty="0"/>
              <a:t>Strategy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54623" y="1359428"/>
            <a:ext cx="284633" cy="26789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75248" y="2381765"/>
            <a:ext cx="1638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695D46"/>
                </a:solidFill>
                <a:latin typeface="Arial"/>
                <a:cs typeface="Arial"/>
              </a:rPr>
              <a:t>●</a:t>
            </a:r>
            <a:endParaRPr sz="1800">
              <a:latin typeface="Arial"/>
              <a:cs typeface="Arial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54623" y="2410982"/>
            <a:ext cx="284633" cy="26789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7424" y="3614939"/>
            <a:ext cx="284633" cy="267890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7424" y="4082806"/>
            <a:ext cx="284633" cy="267890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475248" y="1274691"/>
            <a:ext cx="6714490" cy="3079115"/>
          </a:xfrm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722630" indent="-709930">
              <a:lnSpc>
                <a:spcPct val="100000"/>
              </a:lnSpc>
              <a:spcBef>
                <a:spcPts val="535"/>
              </a:spcBef>
              <a:buChar char="●"/>
              <a:tabLst>
                <a:tab pos="722630" algn="l"/>
              </a:tabLst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Caching</a:t>
            </a:r>
            <a:r>
              <a:rPr sz="1800" spc="-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(using</a:t>
            </a:r>
            <a:r>
              <a:rPr sz="1800" spc="-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Redis):</a:t>
            </a:r>
            <a:endParaRPr sz="1800">
              <a:latin typeface="Arial"/>
              <a:cs typeface="Arial"/>
            </a:endParaRPr>
          </a:p>
          <a:p>
            <a:pPr marL="836294" lvl="1" indent="-335915">
              <a:lnSpc>
                <a:spcPct val="100000"/>
              </a:lnSpc>
              <a:spcBef>
                <a:spcPts val="340"/>
              </a:spcBef>
              <a:buChar char="○"/>
              <a:tabLst>
                <a:tab pos="836294" algn="l"/>
              </a:tabLst>
            </a:pP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Frequently</a:t>
            </a:r>
            <a:r>
              <a:rPr sz="1400" spc="1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accessed</a:t>
            </a:r>
            <a:r>
              <a:rPr sz="1400" spc="1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60" dirty="0">
                <a:solidFill>
                  <a:srgbClr val="695D46"/>
                </a:solidFill>
                <a:latin typeface="Arial"/>
                <a:cs typeface="Arial"/>
              </a:rPr>
              <a:t>product</a:t>
            </a:r>
            <a:r>
              <a:rPr sz="1400" spc="1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data</a:t>
            </a:r>
            <a:r>
              <a:rPr sz="1400" spc="1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(popular</a:t>
            </a:r>
            <a:r>
              <a:rPr sz="1400" spc="1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products,</a:t>
            </a:r>
            <a:r>
              <a:rPr sz="1400" spc="18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categories)</a:t>
            </a:r>
            <a:endParaRPr sz="1400">
              <a:latin typeface="Arial"/>
              <a:cs typeface="Arial"/>
            </a:endParaRPr>
          </a:p>
          <a:p>
            <a:pPr marL="836294" lvl="1" indent="-335915">
              <a:lnSpc>
                <a:spcPct val="100000"/>
              </a:lnSpc>
              <a:spcBef>
                <a:spcPts val="254"/>
              </a:spcBef>
              <a:buChar char="○"/>
              <a:tabLst>
                <a:tab pos="836294" algn="l"/>
              </a:tabLst>
            </a:pP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User</a:t>
            </a:r>
            <a:r>
              <a:rPr sz="1400" spc="9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session</a:t>
            </a:r>
            <a:r>
              <a:rPr sz="1400" spc="10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tokens</a:t>
            </a:r>
            <a:r>
              <a:rPr sz="1400" spc="10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(if</a:t>
            </a:r>
            <a:r>
              <a:rPr sz="1400" spc="10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server-side</a:t>
            </a:r>
            <a:r>
              <a:rPr sz="1400" spc="10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sessions)</a:t>
            </a:r>
            <a:endParaRPr sz="1400">
              <a:latin typeface="Arial"/>
              <a:cs typeface="Arial"/>
            </a:endParaRPr>
          </a:p>
          <a:p>
            <a:pPr marL="836294" lvl="1" indent="-335915">
              <a:lnSpc>
                <a:spcPct val="100000"/>
              </a:lnSpc>
              <a:spcBef>
                <a:spcPts val="250"/>
              </a:spcBef>
              <a:buChar char="○"/>
              <a:tabLst>
                <a:tab pos="836294" algn="l"/>
              </a:tabLst>
            </a:pP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Stock</a:t>
            </a:r>
            <a:r>
              <a:rPr sz="1400" spc="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levels</a:t>
            </a:r>
            <a:r>
              <a:rPr sz="14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(read-heavy</a:t>
            </a:r>
            <a:r>
              <a:rPr sz="14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optimization)</a:t>
            </a:r>
            <a:endParaRPr sz="1400">
              <a:latin typeface="Arial"/>
              <a:cs typeface="Arial"/>
            </a:endParaRPr>
          </a:p>
          <a:p>
            <a:pPr marL="722630">
              <a:lnSpc>
                <a:spcPct val="100000"/>
              </a:lnSpc>
              <a:spcBef>
                <a:spcPts val="235"/>
              </a:spcBef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Queues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(using</a:t>
            </a:r>
            <a:r>
              <a:rPr sz="18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Kafka/SQS/RabbitMQ):</a:t>
            </a:r>
            <a:endParaRPr sz="1800">
              <a:latin typeface="Arial"/>
              <a:cs typeface="Arial"/>
            </a:endParaRPr>
          </a:p>
          <a:p>
            <a:pPr marL="836294" lvl="1" indent="-335915">
              <a:lnSpc>
                <a:spcPct val="100000"/>
              </a:lnSpc>
              <a:spcBef>
                <a:spcPts val="340"/>
              </a:spcBef>
              <a:buChar char="○"/>
              <a:tabLst>
                <a:tab pos="836294" algn="l"/>
              </a:tabLst>
            </a:pP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Order</a:t>
            </a:r>
            <a:r>
              <a:rPr sz="1400" spc="114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placement</a:t>
            </a:r>
            <a:r>
              <a:rPr sz="1400" spc="114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events</a:t>
            </a:r>
            <a:r>
              <a:rPr sz="1400" spc="1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→</a:t>
            </a:r>
            <a:r>
              <a:rPr sz="1400" spc="114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trigger</a:t>
            </a:r>
            <a:r>
              <a:rPr sz="1400" spc="114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10" dirty="0">
                <a:solidFill>
                  <a:srgbClr val="695D46"/>
                </a:solidFill>
                <a:latin typeface="Arial"/>
                <a:cs typeface="Arial"/>
              </a:rPr>
              <a:t>inventory</a:t>
            </a:r>
            <a:r>
              <a:rPr sz="1400" spc="114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40" dirty="0">
                <a:solidFill>
                  <a:srgbClr val="695D46"/>
                </a:solidFill>
                <a:latin typeface="Arial"/>
                <a:cs typeface="Arial"/>
              </a:rPr>
              <a:t>update</a:t>
            </a:r>
            <a:endParaRPr sz="1400">
              <a:latin typeface="Arial"/>
              <a:cs typeface="Arial"/>
            </a:endParaRPr>
          </a:p>
          <a:p>
            <a:pPr marL="836294" lvl="1" indent="-335915">
              <a:lnSpc>
                <a:spcPct val="100000"/>
              </a:lnSpc>
              <a:spcBef>
                <a:spcPts val="254"/>
              </a:spcBef>
              <a:buChar char="○"/>
              <a:tabLst>
                <a:tab pos="836294" algn="l"/>
              </a:tabLst>
            </a:pP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Payment</a:t>
            </a:r>
            <a:r>
              <a:rPr sz="14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20" dirty="0">
                <a:solidFill>
                  <a:srgbClr val="695D46"/>
                </a:solidFill>
                <a:latin typeface="Arial"/>
                <a:cs typeface="Arial"/>
              </a:rPr>
              <a:t>success</a:t>
            </a:r>
            <a:r>
              <a:rPr sz="14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events</a:t>
            </a:r>
            <a:r>
              <a:rPr sz="1400" spc="6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→</a:t>
            </a:r>
            <a:r>
              <a:rPr sz="14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trigger</a:t>
            </a:r>
            <a:r>
              <a:rPr sz="14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65" dirty="0">
                <a:solidFill>
                  <a:srgbClr val="695D46"/>
                </a:solidFill>
                <a:latin typeface="Arial"/>
                <a:cs typeface="Arial"/>
              </a:rPr>
              <a:t>order</a:t>
            </a:r>
            <a:r>
              <a:rPr sz="1400" spc="55" dirty="0">
                <a:solidFill>
                  <a:srgbClr val="695D46"/>
                </a:solidFill>
                <a:latin typeface="Arial"/>
                <a:cs typeface="Arial"/>
              </a:rPr>
              <a:t> confirmation </a:t>
            </a: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and</a:t>
            </a:r>
            <a:r>
              <a:rPr sz="14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notifications</a:t>
            </a:r>
            <a:endParaRPr sz="1400">
              <a:latin typeface="Arial"/>
              <a:cs typeface="Arial"/>
            </a:endParaRPr>
          </a:p>
          <a:p>
            <a:pPr marL="836294" lvl="1" indent="-335915">
              <a:lnSpc>
                <a:spcPct val="100000"/>
              </a:lnSpc>
              <a:spcBef>
                <a:spcPts val="250"/>
              </a:spcBef>
              <a:buChar char="○"/>
              <a:tabLst>
                <a:tab pos="836294" algn="l"/>
              </a:tabLst>
            </a:pP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Asynchronous</a:t>
            </a:r>
            <a:r>
              <a:rPr sz="1400" spc="16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50" dirty="0">
                <a:solidFill>
                  <a:srgbClr val="695D46"/>
                </a:solidFill>
                <a:latin typeface="Arial"/>
                <a:cs typeface="Arial"/>
              </a:rPr>
              <a:t>notification</a:t>
            </a:r>
            <a:r>
              <a:rPr sz="1400" spc="16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695D46"/>
                </a:solidFill>
                <a:latin typeface="Arial"/>
                <a:cs typeface="Arial"/>
              </a:rPr>
              <a:t>dispatch</a:t>
            </a:r>
            <a:r>
              <a:rPr sz="1400" spc="16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695D46"/>
                </a:solidFill>
                <a:latin typeface="Arial"/>
                <a:cs typeface="Arial"/>
              </a:rPr>
              <a:t>(emails/SMS)</a:t>
            </a:r>
            <a:endParaRPr sz="1400">
              <a:latin typeface="Arial"/>
              <a:cs typeface="Arial"/>
            </a:endParaRPr>
          </a:p>
          <a:p>
            <a:pPr marL="265430">
              <a:lnSpc>
                <a:spcPct val="100000"/>
              </a:lnSpc>
              <a:spcBef>
                <a:spcPts val="1435"/>
              </a:spcBef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Caching</a:t>
            </a:r>
            <a:r>
              <a:rPr sz="1800" spc="-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=</a:t>
            </a:r>
            <a:r>
              <a:rPr sz="1800" spc="-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Speed</a:t>
            </a:r>
            <a:r>
              <a:rPr sz="1800" spc="-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95" dirty="0">
                <a:solidFill>
                  <a:srgbClr val="695D46"/>
                </a:solidFill>
                <a:latin typeface="Arial"/>
                <a:cs typeface="Arial"/>
              </a:rPr>
              <a:t>up</a:t>
            </a:r>
            <a:r>
              <a:rPr sz="1800" spc="-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reads;</a:t>
            </a:r>
            <a:endParaRPr sz="1800">
              <a:latin typeface="Arial"/>
              <a:cs typeface="Arial"/>
            </a:endParaRPr>
          </a:p>
          <a:p>
            <a:pPr marL="265430">
              <a:lnSpc>
                <a:spcPct val="100000"/>
              </a:lnSpc>
              <a:spcBef>
                <a:spcPts val="1525"/>
              </a:spcBef>
            </a:pP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Queues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=</a:t>
            </a:r>
            <a:r>
              <a:rPr sz="18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Decouple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heavy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async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tasks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spc="110" dirty="0">
                <a:solidFill>
                  <a:srgbClr val="695D46"/>
                </a:solidFill>
                <a:latin typeface="Arial"/>
                <a:cs typeface="Arial"/>
              </a:rPr>
              <a:t>from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695D46"/>
                </a:solidFill>
                <a:latin typeface="Arial"/>
                <a:cs typeface="Arial"/>
              </a:rPr>
              <a:t>real-</a:t>
            </a:r>
            <a:r>
              <a:rPr sz="1800" spc="55" dirty="0">
                <a:solidFill>
                  <a:srgbClr val="695D46"/>
                </a:solidFill>
                <a:latin typeface="Arial"/>
                <a:cs typeface="Arial"/>
              </a:rPr>
              <a:t>time </a:t>
            </a:r>
            <a:r>
              <a:rPr sz="1800" spc="-10" dirty="0">
                <a:solidFill>
                  <a:srgbClr val="695D46"/>
                </a:solidFill>
                <a:latin typeface="Arial"/>
                <a:cs typeface="Arial"/>
              </a:rPr>
              <a:t>flows.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13239" y="4844515"/>
            <a:ext cx="4130741" cy="19107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pc="-175" dirty="0"/>
              <a:t>Strategic</a:t>
            </a:r>
            <a:r>
              <a:rPr spc="-220" dirty="0"/>
              <a:t> </a:t>
            </a:r>
            <a:r>
              <a:rPr spc="-285" dirty="0"/>
              <a:t>Tech</a:t>
            </a:r>
            <a:r>
              <a:rPr spc="-60" dirty="0"/>
              <a:t> </a:t>
            </a:r>
            <a:r>
              <a:rPr dirty="0"/>
              <a:t>&amp;</a:t>
            </a:r>
            <a:r>
              <a:rPr spc="-60" dirty="0"/>
              <a:t> </a:t>
            </a:r>
            <a:r>
              <a:rPr spc="-195" dirty="0"/>
              <a:t>Infra</a:t>
            </a:r>
            <a:r>
              <a:rPr spc="-60" dirty="0"/>
              <a:t> </a:t>
            </a:r>
            <a:r>
              <a:rPr spc="-160" dirty="0"/>
              <a:t>Decisions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54623" y="1348835"/>
            <a:ext cx="263137" cy="24765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54623" y="1964873"/>
            <a:ext cx="263137" cy="247659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971191" y="2181972"/>
            <a:ext cx="125095" cy="222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spc="-50" dirty="0">
                <a:solidFill>
                  <a:srgbClr val="695D46"/>
                </a:solidFill>
                <a:latin typeface="Arial"/>
                <a:cs typeface="Arial"/>
              </a:rPr>
              <a:t>○</a:t>
            </a:r>
            <a:endParaRPr sz="130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54623" y="2393418"/>
            <a:ext cx="263137" cy="24765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971191" y="2610520"/>
            <a:ext cx="125095" cy="222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spc="-50" dirty="0">
                <a:solidFill>
                  <a:srgbClr val="695D46"/>
                </a:solidFill>
                <a:latin typeface="Arial"/>
                <a:cs typeface="Arial"/>
              </a:rPr>
              <a:t>○</a:t>
            </a:r>
            <a:endParaRPr sz="1300">
              <a:latin typeface="Arial"/>
              <a:cs typeface="Arial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54623" y="2821966"/>
            <a:ext cx="263137" cy="247659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971191" y="3039068"/>
            <a:ext cx="125095" cy="222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spc="-50" dirty="0">
                <a:solidFill>
                  <a:srgbClr val="695D46"/>
                </a:solidFill>
                <a:latin typeface="Arial"/>
                <a:cs typeface="Arial"/>
              </a:rPr>
              <a:t>○</a:t>
            </a:r>
            <a:endParaRPr sz="1300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54623" y="3250513"/>
            <a:ext cx="263137" cy="247659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971191" y="3467616"/>
            <a:ext cx="125095" cy="222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spc="-50" dirty="0">
                <a:solidFill>
                  <a:srgbClr val="695D46"/>
                </a:solidFill>
                <a:latin typeface="Arial"/>
                <a:cs typeface="Arial"/>
              </a:rPr>
              <a:t>○</a:t>
            </a:r>
            <a:endParaRPr sz="1300">
              <a:latin typeface="Arial"/>
              <a:cs typeface="Arial"/>
            </a:endParaRPr>
          </a:p>
        </p:txBody>
      </p:sp>
      <p:pic>
        <p:nvPicPr>
          <p:cNvPr id="13" name="object 1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54623" y="3679061"/>
            <a:ext cx="263137" cy="247659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971191" y="3896164"/>
            <a:ext cx="125095" cy="222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spc="-50" dirty="0">
                <a:solidFill>
                  <a:srgbClr val="695D46"/>
                </a:solidFill>
                <a:latin typeface="Arial"/>
                <a:cs typeface="Arial"/>
              </a:rPr>
              <a:t>○</a:t>
            </a:r>
            <a:endParaRPr sz="13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85676" y="1936781"/>
            <a:ext cx="153670" cy="242189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650" spc="-50" dirty="0">
                <a:solidFill>
                  <a:srgbClr val="695D46"/>
                </a:solidFill>
                <a:latin typeface="Arial"/>
                <a:cs typeface="Arial"/>
              </a:rPr>
              <a:t>●</a:t>
            </a:r>
            <a:endParaRPr sz="16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395"/>
              </a:spcBef>
            </a:pPr>
            <a:r>
              <a:rPr sz="1650" spc="-50" dirty="0">
                <a:solidFill>
                  <a:srgbClr val="695D46"/>
                </a:solidFill>
                <a:latin typeface="Arial"/>
                <a:cs typeface="Arial"/>
              </a:rPr>
              <a:t>●</a:t>
            </a:r>
            <a:endParaRPr sz="16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390"/>
              </a:spcBef>
            </a:pPr>
            <a:r>
              <a:rPr sz="1650" spc="-50" dirty="0">
                <a:solidFill>
                  <a:srgbClr val="695D46"/>
                </a:solidFill>
                <a:latin typeface="Arial"/>
                <a:cs typeface="Arial"/>
              </a:rPr>
              <a:t>●</a:t>
            </a:r>
            <a:endParaRPr sz="16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395"/>
              </a:spcBef>
            </a:pPr>
            <a:r>
              <a:rPr sz="1650" spc="-50" dirty="0">
                <a:solidFill>
                  <a:srgbClr val="695D46"/>
                </a:solidFill>
                <a:latin typeface="Arial"/>
                <a:cs typeface="Arial"/>
              </a:rPr>
              <a:t>●</a:t>
            </a:r>
            <a:endParaRPr sz="16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395"/>
              </a:spcBef>
            </a:pPr>
            <a:r>
              <a:rPr sz="1650" spc="-50" dirty="0">
                <a:solidFill>
                  <a:srgbClr val="695D46"/>
                </a:solidFill>
                <a:latin typeface="Arial"/>
                <a:cs typeface="Arial"/>
              </a:rPr>
              <a:t>●</a:t>
            </a:r>
            <a:endParaRPr sz="16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395"/>
              </a:spcBef>
            </a:pPr>
            <a:r>
              <a:rPr sz="1650" spc="-50" dirty="0">
                <a:solidFill>
                  <a:srgbClr val="695D46"/>
                </a:solidFill>
                <a:latin typeface="Arial"/>
                <a:cs typeface="Arial"/>
              </a:rPr>
              <a:t>●</a:t>
            </a:r>
            <a:endParaRPr sz="1650">
              <a:latin typeface="Arial"/>
              <a:cs typeface="Arial"/>
            </a:endParaRPr>
          </a:p>
        </p:txBody>
      </p:sp>
      <p:pic>
        <p:nvPicPr>
          <p:cNvPr id="16" name="object 1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54623" y="4107609"/>
            <a:ext cx="263137" cy="247659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485676" y="1320744"/>
            <a:ext cx="8185784" cy="3414395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686435" indent="-673735">
              <a:lnSpc>
                <a:spcPts val="1945"/>
              </a:lnSpc>
              <a:spcBef>
                <a:spcPts val="115"/>
              </a:spcBef>
              <a:buChar char="●"/>
              <a:tabLst>
                <a:tab pos="686435" algn="l"/>
              </a:tabLst>
            </a:pPr>
            <a:r>
              <a:rPr sz="1650" dirty="0">
                <a:solidFill>
                  <a:srgbClr val="695D46"/>
                </a:solidFill>
                <a:latin typeface="Arial"/>
                <a:cs typeface="Arial"/>
              </a:rPr>
              <a:t>Database</a:t>
            </a:r>
            <a:r>
              <a:rPr sz="1650" spc="2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650" spc="-10" dirty="0">
                <a:solidFill>
                  <a:srgbClr val="695D46"/>
                </a:solidFill>
                <a:latin typeface="Arial"/>
                <a:cs typeface="Arial"/>
              </a:rPr>
              <a:t>Choice:</a:t>
            </a:r>
            <a:endParaRPr sz="1650">
              <a:latin typeface="Arial"/>
              <a:cs typeface="Arial"/>
            </a:endParaRPr>
          </a:p>
          <a:p>
            <a:pPr marL="825500" lvl="1" indent="-327660">
              <a:lnSpc>
                <a:spcPts val="1485"/>
              </a:lnSpc>
              <a:buChar char="○"/>
              <a:tabLst>
                <a:tab pos="825500" algn="l"/>
              </a:tabLst>
            </a:pPr>
            <a:r>
              <a:rPr sz="1300" spc="-20" dirty="0">
                <a:solidFill>
                  <a:srgbClr val="695D46"/>
                </a:solidFill>
                <a:latin typeface="Arial"/>
                <a:cs typeface="Arial"/>
              </a:rPr>
              <a:t>PostgreSQL</a:t>
            </a:r>
            <a:r>
              <a:rPr sz="1300" spc="9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65" dirty="0">
                <a:solidFill>
                  <a:srgbClr val="695D46"/>
                </a:solidFill>
                <a:latin typeface="Arial"/>
                <a:cs typeface="Arial"/>
              </a:rPr>
              <a:t>for</a:t>
            </a:r>
            <a:r>
              <a:rPr sz="1300" spc="9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core</a:t>
            </a:r>
            <a:r>
              <a:rPr sz="1300" spc="9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transactional</a:t>
            </a:r>
            <a:r>
              <a:rPr sz="1300" spc="9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-20" dirty="0">
                <a:solidFill>
                  <a:srgbClr val="695D46"/>
                </a:solidFill>
                <a:latin typeface="Arial"/>
                <a:cs typeface="Arial"/>
              </a:rPr>
              <a:t>data</a:t>
            </a:r>
            <a:endParaRPr sz="1300">
              <a:latin typeface="Arial"/>
              <a:cs typeface="Arial"/>
            </a:endParaRPr>
          </a:p>
          <a:p>
            <a:pPr marL="825500" lvl="1" indent="-327660">
              <a:lnSpc>
                <a:spcPts val="1470"/>
              </a:lnSpc>
              <a:buChar char="○"/>
              <a:tabLst>
                <a:tab pos="825500" algn="l"/>
              </a:tabLst>
            </a:pP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Elasticsearch</a:t>
            </a:r>
            <a:r>
              <a:rPr sz="1300" spc="-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65" dirty="0">
                <a:solidFill>
                  <a:srgbClr val="695D46"/>
                </a:solidFill>
                <a:latin typeface="Arial"/>
                <a:cs typeface="Arial"/>
              </a:rPr>
              <a:t>for</a:t>
            </a:r>
            <a:r>
              <a:rPr sz="1300" spc="-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50" dirty="0">
                <a:solidFill>
                  <a:srgbClr val="695D46"/>
                </a:solidFill>
                <a:latin typeface="Arial"/>
                <a:cs typeface="Arial"/>
              </a:rPr>
              <a:t>product</a:t>
            </a:r>
            <a:r>
              <a:rPr sz="1300" spc="-3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search</a:t>
            </a:r>
            <a:r>
              <a:rPr sz="1300" spc="-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695D46"/>
                </a:solidFill>
                <a:latin typeface="Arial"/>
                <a:cs typeface="Arial"/>
              </a:rPr>
              <a:t>indexing</a:t>
            </a:r>
            <a:endParaRPr sz="1300">
              <a:latin typeface="Arial"/>
              <a:cs typeface="Arial"/>
            </a:endParaRPr>
          </a:p>
          <a:p>
            <a:pPr marL="686435">
              <a:lnSpc>
                <a:spcPts val="1895"/>
              </a:lnSpc>
            </a:pPr>
            <a:r>
              <a:rPr sz="1650" dirty="0">
                <a:solidFill>
                  <a:srgbClr val="695D46"/>
                </a:solidFill>
                <a:latin typeface="Arial"/>
                <a:cs typeface="Arial"/>
              </a:rPr>
              <a:t>Caching </a:t>
            </a:r>
            <a:r>
              <a:rPr sz="1650" spc="-10" dirty="0">
                <a:solidFill>
                  <a:srgbClr val="695D46"/>
                </a:solidFill>
                <a:latin typeface="Arial"/>
                <a:cs typeface="Arial"/>
              </a:rPr>
              <a:t>Layer:</a:t>
            </a:r>
            <a:endParaRPr sz="1650">
              <a:latin typeface="Arial"/>
              <a:cs typeface="Arial"/>
            </a:endParaRPr>
          </a:p>
          <a:p>
            <a:pPr marL="826135">
              <a:lnSpc>
                <a:spcPts val="1475"/>
              </a:lnSpc>
            </a:pPr>
            <a:r>
              <a:rPr sz="1300" spc="-10" dirty="0">
                <a:solidFill>
                  <a:srgbClr val="695D46"/>
                </a:solidFill>
                <a:latin typeface="Arial"/>
                <a:cs typeface="Arial"/>
              </a:rPr>
              <a:t>Redis</a:t>
            </a:r>
            <a:r>
              <a:rPr sz="13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65" dirty="0">
                <a:solidFill>
                  <a:srgbClr val="695D46"/>
                </a:solidFill>
                <a:latin typeface="Arial"/>
                <a:cs typeface="Arial"/>
              </a:rPr>
              <a:t>for</a:t>
            </a:r>
            <a:r>
              <a:rPr sz="13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50" dirty="0">
                <a:solidFill>
                  <a:srgbClr val="695D46"/>
                </a:solidFill>
                <a:latin typeface="Arial"/>
                <a:cs typeface="Arial"/>
              </a:rPr>
              <a:t>product</a:t>
            </a:r>
            <a:r>
              <a:rPr sz="13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caching,</a:t>
            </a:r>
            <a:r>
              <a:rPr sz="13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session</a:t>
            </a:r>
            <a:r>
              <a:rPr sz="13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management,</a:t>
            </a:r>
            <a:r>
              <a:rPr sz="13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and</a:t>
            </a:r>
            <a:r>
              <a:rPr sz="13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stock-level</a:t>
            </a:r>
            <a:r>
              <a:rPr sz="13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fast</a:t>
            </a:r>
            <a:r>
              <a:rPr sz="13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695D46"/>
                </a:solidFill>
                <a:latin typeface="Arial"/>
                <a:cs typeface="Arial"/>
              </a:rPr>
              <a:t>reads</a:t>
            </a:r>
            <a:endParaRPr sz="1300">
              <a:latin typeface="Arial"/>
              <a:cs typeface="Arial"/>
            </a:endParaRPr>
          </a:p>
          <a:p>
            <a:pPr marL="686435">
              <a:lnSpc>
                <a:spcPts val="1895"/>
              </a:lnSpc>
            </a:pPr>
            <a:r>
              <a:rPr sz="1650" dirty="0">
                <a:solidFill>
                  <a:srgbClr val="695D46"/>
                </a:solidFill>
                <a:latin typeface="Arial"/>
                <a:cs typeface="Arial"/>
              </a:rPr>
              <a:t>Message</a:t>
            </a:r>
            <a:r>
              <a:rPr sz="1650" spc="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650" spc="-10" dirty="0">
                <a:solidFill>
                  <a:srgbClr val="695D46"/>
                </a:solidFill>
                <a:latin typeface="Arial"/>
                <a:cs typeface="Arial"/>
              </a:rPr>
              <a:t>Queues:</a:t>
            </a:r>
            <a:endParaRPr sz="1650">
              <a:latin typeface="Arial"/>
              <a:cs typeface="Arial"/>
            </a:endParaRPr>
          </a:p>
          <a:p>
            <a:pPr marL="826135">
              <a:lnSpc>
                <a:spcPts val="1475"/>
              </a:lnSpc>
            </a:pP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Kafka</a:t>
            </a:r>
            <a:r>
              <a:rPr sz="13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(preferred)</a:t>
            </a:r>
            <a:r>
              <a:rPr sz="13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65" dirty="0">
                <a:solidFill>
                  <a:srgbClr val="695D46"/>
                </a:solidFill>
                <a:latin typeface="Arial"/>
                <a:cs typeface="Arial"/>
              </a:rPr>
              <a:t>or</a:t>
            </a:r>
            <a:r>
              <a:rPr sz="13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-90" dirty="0">
                <a:solidFill>
                  <a:srgbClr val="695D46"/>
                </a:solidFill>
                <a:latin typeface="Arial"/>
                <a:cs typeface="Arial"/>
              </a:rPr>
              <a:t>AWS</a:t>
            </a:r>
            <a:r>
              <a:rPr sz="13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-120" dirty="0">
                <a:solidFill>
                  <a:srgbClr val="695D46"/>
                </a:solidFill>
                <a:latin typeface="Arial"/>
                <a:cs typeface="Arial"/>
              </a:rPr>
              <a:t>SQS</a:t>
            </a:r>
            <a:r>
              <a:rPr sz="13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65" dirty="0">
                <a:solidFill>
                  <a:srgbClr val="695D46"/>
                </a:solidFill>
                <a:latin typeface="Arial"/>
                <a:cs typeface="Arial"/>
              </a:rPr>
              <a:t>for</a:t>
            </a:r>
            <a:r>
              <a:rPr sz="13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async</a:t>
            </a:r>
            <a:r>
              <a:rPr sz="13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event-driven</a:t>
            </a:r>
            <a:r>
              <a:rPr sz="13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695D46"/>
                </a:solidFill>
                <a:latin typeface="Arial"/>
                <a:cs typeface="Arial"/>
              </a:rPr>
              <a:t>flows</a:t>
            </a:r>
            <a:endParaRPr sz="1300">
              <a:latin typeface="Arial"/>
              <a:cs typeface="Arial"/>
            </a:endParaRPr>
          </a:p>
          <a:p>
            <a:pPr marL="686435">
              <a:lnSpc>
                <a:spcPts val="1895"/>
              </a:lnSpc>
            </a:pPr>
            <a:r>
              <a:rPr sz="1650" spc="-10" dirty="0">
                <a:solidFill>
                  <a:srgbClr val="695D46"/>
                </a:solidFill>
                <a:latin typeface="Arial"/>
                <a:cs typeface="Arial"/>
              </a:rPr>
              <a:t>Hosting/Cloud:</a:t>
            </a:r>
            <a:endParaRPr sz="1650">
              <a:latin typeface="Arial"/>
              <a:cs typeface="Arial"/>
            </a:endParaRPr>
          </a:p>
          <a:p>
            <a:pPr marL="826135">
              <a:lnSpc>
                <a:spcPts val="1475"/>
              </a:lnSpc>
            </a:pPr>
            <a:r>
              <a:rPr sz="1300" spc="-90" dirty="0">
                <a:solidFill>
                  <a:srgbClr val="695D46"/>
                </a:solidFill>
                <a:latin typeface="Arial"/>
                <a:cs typeface="Arial"/>
              </a:rPr>
              <a:t>AWS</a:t>
            </a:r>
            <a:r>
              <a:rPr sz="1300" spc="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110" dirty="0">
                <a:solidFill>
                  <a:srgbClr val="695D46"/>
                </a:solidFill>
                <a:latin typeface="Arial"/>
                <a:cs typeface="Arial"/>
              </a:rPr>
              <a:t>/</a:t>
            </a:r>
            <a:r>
              <a:rPr sz="1300" spc="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-105" dirty="0">
                <a:solidFill>
                  <a:srgbClr val="695D46"/>
                </a:solidFill>
                <a:latin typeface="Arial"/>
                <a:cs typeface="Arial"/>
              </a:rPr>
              <a:t>GCP</a:t>
            </a:r>
            <a:r>
              <a:rPr sz="1300" spc="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110" dirty="0">
                <a:solidFill>
                  <a:srgbClr val="695D46"/>
                </a:solidFill>
                <a:latin typeface="Arial"/>
                <a:cs typeface="Arial"/>
              </a:rPr>
              <a:t>/</a:t>
            </a:r>
            <a:r>
              <a:rPr sz="13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Azure</a:t>
            </a:r>
            <a:r>
              <a:rPr sz="1300" spc="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managed</a:t>
            </a:r>
            <a:r>
              <a:rPr sz="1300" spc="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services</a:t>
            </a:r>
            <a:r>
              <a:rPr sz="13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(focus</a:t>
            </a:r>
            <a:r>
              <a:rPr sz="1300" spc="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55" dirty="0">
                <a:solidFill>
                  <a:srgbClr val="695D46"/>
                </a:solidFill>
                <a:latin typeface="Arial"/>
                <a:cs typeface="Arial"/>
              </a:rPr>
              <a:t>on</a:t>
            </a:r>
            <a:r>
              <a:rPr sz="1300" spc="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managed</a:t>
            </a:r>
            <a:r>
              <a:rPr sz="13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-20" dirty="0">
                <a:solidFill>
                  <a:srgbClr val="695D46"/>
                </a:solidFill>
                <a:latin typeface="Arial"/>
                <a:cs typeface="Arial"/>
              </a:rPr>
              <a:t>DBs,</a:t>
            </a:r>
            <a:r>
              <a:rPr sz="1300" spc="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object</a:t>
            </a:r>
            <a:r>
              <a:rPr sz="1300" spc="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storage,</a:t>
            </a:r>
            <a:r>
              <a:rPr sz="1300" spc="2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serverless</a:t>
            </a:r>
            <a:r>
              <a:rPr sz="1300" spc="2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695D46"/>
                </a:solidFill>
                <a:latin typeface="Arial"/>
                <a:cs typeface="Arial"/>
              </a:rPr>
              <a:t>queues)</a:t>
            </a:r>
            <a:endParaRPr sz="1300">
              <a:latin typeface="Arial"/>
              <a:cs typeface="Arial"/>
            </a:endParaRPr>
          </a:p>
          <a:p>
            <a:pPr marL="686435">
              <a:lnSpc>
                <a:spcPts val="1895"/>
              </a:lnSpc>
            </a:pPr>
            <a:r>
              <a:rPr sz="1650" spc="60" dirty="0">
                <a:solidFill>
                  <a:srgbClr val="695D46"/>
                </a:solidFill>
                <a:latin typeface="Arial"/>
                <a:cs typeface="Arial"/>
              </a:rPr>
              <a:t>Authentication</a:t>
            </a:r>
            <a:r>
              <a:rPr sz="1650" spc="-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650" spc="110" dirty="0">
                <a:solidFill>
                  <a:srgbClr val="695D46"/>
                </a:solidFill>
                <a:latin typeface="Arial"/>
                <a:cs typeface="Arial"/>
              </a:rPr>
              <a:t>&amp;</a:t>
            </a:r>
            <a:r>
              <a:rPr sz="1650" spc="-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650" spc="45" dirty="0">
                <a:solidFill>
                  <a:srgbClr val="695D46"/>
                </a:solidFill>
                <a:latin typeface="Arial"/>
                <a:cs typeface="Arial"/>
              </a:rPr>
              <a:t>Authorization:</a:t>
            </a:r>
            <a:endParaRPr sz="1650">
              <a:latin typeface="Arial"/>
              <a:cs typeface="Arial"/>
            </a:endParaRPr>
          </a:p>
          <a:p>
            <a:pPr marL="826135">
              <a:lnSpc>
                <a:spcPts val="1475"/>
              </a:lnSpc>
            </a:pP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OAuth</a:t>
            </a:r>
            <a:r>
              <a:rPr sz="13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2.0</a:t>
            </a:r>
            <a:r>
              <a:rPr sz="13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110" dirty="0">
                <a:solidFill>
                  <a:srgbClr val="695D46"/>
                </a:solidFill>
                <a:latin typeface="Arial"/>
                <a:cs typeface="Arial"/>
              </a:rPr>
              <a:t>/</a:t>
            </a:r>
            <a:r>
              <a:rPr sz="13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OpenID</a:t>
            </a:r>
            <a:r>
              <a:rPr sz="13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Connect;</a:t>
            </a:r>
            <a:r>
              <a:rPr sz="13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-155" dirty="0">
                <a:solidFill>
                  <a:srgbClr val="695D46"/>
                </a:solidFill>
                <a:latin typeface="Arial"/>
                <a:cs typeface="Arial"/>
              </a:rPr>
              <a:t>JWT</a:t>
            </a:r>
            <a:r>
              <a:rPr sz="13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tokens</a:t>
            </a:r>
            <a:r>
              <a:rPr sz="1300" spc="4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65" dirty="0">
                <a:solidFill>
                  <a:srgbClr val="695D46"/>
                </a:solidFill>
                <a:latin typeface="Arial"/>
                <a:cs typeface="Arial"/>
              </a:rPr>
              <a:t>for</a:t>
            </a:r>
            <a:r>
              <a:rPr sz="13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user</a:t>
            </a:r>
            <a:r>
              <a:rPr sz="1300" spc="4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695D46"/>
                </a:solidFill>
                <a:latin typeface="Arial"/>
                <a:cs typeface="Arial"/>
              </a:rPr>
              <a:t>sessions</a:t>
            </a:r>
            <a:endParaRPr sz="1300">
              <a:latin typeface="Arial"/>
              <a:cs typeface="Arial"/>
            </a:endParaRPr>
          </a:p>
          <a:p>
            <a:pPr marL="686435">
              <a:lnSpc>
                <a:spcPts val="1895"/>
              </a:lnSpc>
            </a:pPr>
            <a:r>
              <a:rPr sz="1650" dirty="0">
                <a:solidFill>
                  <a:srgbClr val="695D46"/>
                </a:solidFill>
                <a:latin typeface="Arial"/>
                <a:cs typeface="Arial"/>
              </a:rPr>
              <a:t>Payment</a:t>
            </a:r>
            <a:r>
              <a:rPr sz="1650" spc="26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650" spc="45" dirty="0">
                <a:solidFill>
                  <a:srgbClr val="695D46"/>
                </a:solidFill>
                <a:latin typeface="Arial"/>
                <a:cs typeface="Arial"/>
              </a:rPr>
              <a:t>Integration:</a:t>
            </a:r>
            <a:endParaRPr sz="1650">
              <a:latin typeface="Arial"/>
              <a:cs typeface="Arial"/>
            </a:endParaRPr>
          </a:p>
          <a:p>
            <a:pPr marL="826135">
              <a:lnSpc>
                <a:spcPts val="1475"/>
              </a:lnSpc>
            </a:pP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External</a:t>
            </a:r>
            <a:r>
              <a:rPr sz="1300" spc="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gateway</a:t>
            </a:r>
            <a:r>
              <a:rPr sz="1300" spc="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like</a:t>
            </a:r>
            <a:r>
              <a:rPr sz="1300" spc="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Stripe</a:t>
            </a:r>
            <a:r>
              <a:rPr sz="1300" spc="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65" dirty="0">
                <a:solidFill>
                  <a:srgbClr val="695D46"/>
                </a:solidFill>
                <a:latin typeface="Arial"/>
                <a:cs typeface="Arial"/>
              </a:rPr>
              <a:t>or</a:t>
            </a:r>
            <a:r>
              <a:rPr sz="1300" spc="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Razorpay</a:t>
            </a:r>
            <a:r>
              <a:rPr sz="1300" spc="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(focus</a:t>
            </a:r>
            <a:r>
              <a:rPr sz="1300" spc="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55" dirty="0">
                <a:solidFill>
                  <a:srgbClr val="695D46"/>
                </a:solidFill>
                <a:latin typeface="Arial"/>
                <a:cs typeface="Arial"/>
              </a:rPr>
              <a:t>on</a:t>
            </a:r>
            <a:r>
              <a:rPr sz="1300" spc="1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-80" dirty="0">
                <a:solidFill>
                  <a:srgbClr val="695D46"/>
                </a:solidFill>
                <a:latin typeface="Arial"/>
                <a:cs typeface="Arial"/>
              </a:rPr>
              <a:t>PCI</a:t>
            </a:r>
            <a:r>
              <a:rPr sz="1300" spc="1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695D46"/>
                </a:solidFill>
                <a:latin typeface="Arial"/>
                <a:cs typeface="Arial"/>
              </a:rPr>
              <a:t>compliance)</a:t>
            </a:r>
            <a:endParaRPr sz="1300">
              <a:latin typeface="Arial"/>
              <a:cs typeface="Arial"/>
            </a:endParaRPr>
          </a:p>
          <a:p>
            <a:pPr marL="686435">
              <a:lnSpc>
                <a:spcPts val="1895"/>
              </a:lnSpc>
            </a:pPr>
            <a:r>
              <a:rPr sz="1650" dirty="0">
                <a:solidFill>
                  <a:srgbClr val="695D46"/>
                </a:solidFill>
                <a:latin typeface="Arial"/>
                <a:cs typeface="Arial"/>
              </a:rPr>
              <a:t>System</a:t>
            </a:r>
            <a:r>
              <a:rPr sz="165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650" spc="40" dirty="0">
                <a:solidFill>
                  <a:srgbClr val="695D46"/>
                </a:solidFill>
                <a:latin typeface="Arial"/>
                <a:cs typeface="Arial"/>
              </a:rPr>
              <a:t>Communication:</a:t>
            </a:r>
            <a:endParaRPr sz="1650">
              <a:latin typeface="Arial"/>
              <a:cs typeface="Arial"/>
            </a:endParaRPr>
          </a:p>
          <a:p>
            <a:pPr marL="825500" lvl="1" indent="-327660">
              <a:lnSpc>
                <a:spcPts val="1485"/>
              </a:lnSpc>
              <a:buChar char="○"/>
              <a:tabLst>
                <a:tab pos="825500" algn="l"/>
              </a:tabLst>
            </a:pPr>
            <a:r>
              <a:rPr sz="1300" spc="-150" dirty="0">
                <a:solidFill>
                  <a:srgbClr val="695D46"/>
                </a:solidFill>
                <a:latin typeface="Arial"/>
                <a:cs typeface="Arial"/>
              </a:rPr>
              <a:t>REST</a:t>
            </a:r>
            <a:r>
              <a:rPr sz="13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-45" dirty="0">
                <a:solidFill>
                  <a:srgbClr val="695D46"/>
                </a:solidFill>
                <a:latin typeface="Arial"/>
                <a:cs typeface="Arial"/>
              </a:rPr>
              <a:t>APIs</a:t>
            </a:r>
            <a:r>
              <a:rPr sz="13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65" dirty="0">
                <a:solidFill>
                  <a:srgbClr val="695D46"/>
                </a:solidFill>
                <a:latin typeface="Arial"/>
                <a:cs typeface="Arial"/>
              </a:rPr>
              <a:t>for</a:t>
            </a:r>
            <a:r>
              <a:rPr sz="13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695D46"/>
                </a:solidFill>
                <a:latin typeface="Arial"/>
                <a:cs typeface="Arial"/>
              </a:rPr>
              <a:t>synchronous</a:t>
            </a:r>
            <a:r>
              <a:rPr sz="1300" spc="6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695D46"/>
                </a:solidFill>
                <a:latin typeface="Arial"/>
                <a:cs typeface="Arial"/>
              </a:rPr>
              <a:t>flows</a:t>
            </a:r>
            <a:endParaRPr sz="1300">
              <a:latin typeface="Arial"/>
              <a:cs typeface="Arial"/>
            </a:endParaRPr>
          </a:p>
          <a:p>
            <a:pPr marL="825500" lvl="1" indent="-327660">
              <a:lnSpc>
                <a:spcPts val="1520"/>
              </a:lnSpc>
              <a:buChar char="○"/>
              <a:tabLst>
                <a:tab pos="825500" algn="l"/>
              </a:tabLst>
            </a:pPr>
            <a:r>
              <a:rPr sz="1300" spc="10" dirty="0">
                <a:solidFill>
                  <a:srgbClr val="695D46"/>
                </a:solidFill>
                <a:latin typeface="Arial"/>
                <a:cs typeface="Arial"/>
              </a:rPr>
              <a:t>Event-driven</a:t>
            </a:r>
            <a:r>
              <a:rPr sz="13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10" dirty="0">
                <a:solidFill>
                  <a:srgbClr val="695D46"/>
                </a:solidFill>
                <a:latin typeface="Arial"/>
                <a:cs typeface="Arial"/>
              </a:rPr>
              <a:t>architecture</a:t>
            </a:r>
            <a:r>
              <a:rPr sz="13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65" dirty="0">
                <a:solidFill>
                  <a:srgbClr val="695D46"/>
                </a:solidFill>
                <a:latin typeface="Arial"/>
                <a:cs typeface="Arial"/>
              </a:rPr>
              <a:t>for</a:t>
            </a:r>
            <a:r>
              <a:rPr sz="13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10" dirty="0">
                <a:solidFill>
                  <a:srgbClr val="695D46"/>
                </a:solidFill>
                <a:latin typeface="Arial"/>
                <a:cs typeface="Arial"/>
              </a:rPr>
              <a:t>critical</a:t>
            </a:r>
            <a:r>
              <a:rPr sz="1300" spc="50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10" dirty="0">
                <a:solidFill>
                  <a:srgbClr val="695D46"/>
                </a:solidFill>
                <a:latin typeface="Arial"/>
                <a:cs typeface="Arial"/>
              </a:rPr>
              <a:t>async</a:t>
            </a:r>
            <a:r>
              <a:rPr sz="1300" spc="55" dirty="0">
                <a:solidFill>
                  <a:srgbClr val="695D46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695D46"/>
                </a:solidFill>
                <a:latin typeface="Arial"/>
                <a:cs typeface="Arial"/>
              </a:rPr>
              <a:t>processes</a:t>
            </a:r>
            <a:endParaRPr sz="13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84724" y="64693"/>
            <a:ext cx="2932430" cy="27559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1600" b="1" spc="-90" dirty="0">
                <a:solidFill>
                  <a:srgbClr val="EF6B00"/>
                </a:solidFill>
                <a:latin typeface="Calibri"/>
                <a:cs typeface="Calibri"/>
              </a:rPr>
              <a:t>The</a:t>
            </a:r>
            <a:r>
              <a:rPr sz="1600" b="1" spc="-5" dirty="0">
                <a:solidFill>
                  <a:srgbClr val="EF6B00"/>
                </a:solidFill>
                <a:latin typeface="Calibri"/>
                <a:cs typeface="Calibri"/>
              </a:rPr>
              <a:t> </a:t>
            </a:r>
            <a:r>
              <a:rPr sz="1600" b="1" spc="-70" dirty="0">
                <a:solidFill>
                  <a:srgbClr val="EF6B00"/>
                </a:solidFill>
                <a:latin typeface="Calibri"/>
                <a:cs typeface="Calibri"/>
              </a:rPr>
              <a:t>Final</a:t>
            </a:r>
            <a:r>
              <a:rPr sz="1600" b="1" dirty="0">
                <a:solidFill>
                  <a:srgbClr val="EF6B00"/>
                </a:solidFill>
                <a:latin typeface="Calibri"/>
                <a:cs typeface="Calibri"/>
              </a:rPr>
              <a:t> </a:t>
            </a:r>
            <a:r>
              <a:rPr sz="1600" b="1" spc="-90" dirty="0">
                <a:solidFill>
                  <a:srgbClr val="EF6B00"/>
                </a:solidFill>
                <a:latin typeface="Calibri"/>
                <a:cs typeface="Calibri"/>
              </a:rPr>
              <a:t>Design</a:t>
            </a:r>
            <a:r>
              <a:rPr sz="1600" b="1" spc="-65" dirty="0">
                <a:solidFill>
                  <a:srgbClr val="EF6B00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EF6B00"/>
                </a:solidFill>
                <a:latin typeface="Calibri"/>
                <a:cs typeface="Calibri"/>
              </a:rPr>
              <a:t>-</a:t>
            </a:r>
            <a:r>
              <a:rPr sz="1600" b="1" spc="-120" dirty="0">
                <a:solidFill>
                  <a:srgbClr val="EF6B00"/>
                </a:solidFill>
                <a:latin typeface="Calibri"/>
                <a:cs typeface="Calibri"/>
              </a:rPr>
              <a:t> </a:t>
            </a:r>
            <a:r>
              <a:rPr sz="1600" b="1" spc="-140" dirty="0">
                <a:solidFill>
                  <a:srgbClr val="EF6B00"/>
                </a:solidFill>
                <a:latin typeface="Calibri"/>
                <a:cs typeface="Calibri"/>
              </a:rPr>
              <a:t>ECommerce</a:t>
            </a:r>
            <a:r>
              <a:rPr sz="1600" b="1" dirty="0">
                <a:solidFill>
                  <a:srgbClr val="EF6B00"/>
                </a:solidFill>
                <a:latin typeface="Calibri"/>
                <a:cs typeface="Calibri"/>
              </a:rPr>
              <a:t> </a:t>
            </a:r>
            <a:r>
              <a:rPr sz="1600" b="1" spc="-80" dirty="0">
                <a:solidFill>
                  <a:srgbClr val="EF6B00"/>
                </a:solidFill>
                <a:latin typeface="Calibri"/>
                <a:cs typeface="Calibri"/>
              </a:rPr>
              <a:t>Platform</a:t>
            </a:r>
            <a:endParaRPr sz="16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</TotalTime>
  <Words>1352</Words>
  <Application>Microsoft Office PowerPoint</Application>
  <PresentationFormat>On-screen Show (16:9)</PresentationFormat>
  <Paragraphs>174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Arial Black</vt:lpstr>
      <vt:lpstr>Calibri</vt:lpstr>
      <vt:lpstr>Wingdings</vt:lpstr>
      <vt:lpstr>Office Theme</vt:lpstr>
      <vt:lpstr>Mastering Distributed System Design</vt:lpstr>
      <vt:lpstr>Attributes</vt:lpstr>
      <vt:lpstr>Functional Requirements</vt:lpstr>
      <vt:lpstr>Non-Functional Requirements</vt:lpstr>
      <vt:lpstr>Key System Design Challenges</vt:lpstr>
      <vt:lpstr>Assumptions and Constraints</vt:lpstr>
      <vt:lpstr>Scale Estimations</vt:lpstr>
      <vt:lpstr>Critical System Bottlenecks</vt:lpstr>
      <vt:lpstr>Core Services Breakdown</vt:lpstr>
      <vt:lpstr>Service APIs and Responsibilities</vt:lpstr>
      <vt:lpstr>Service Communication Approach</vt:lpstr>
      <vt:lpstr>Database and Storage Choices</vt:lpstr>
      <vt:lpstr>Caching and Ǫueueing Strategy</vt:lpstr>
      <vt:lpstr>Strategic Tech &amp; Infra Decisions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 Design - Section 22</dc:title>
  <cp:lastModifiedBy>vikash chauhan</cp:lastModifiedBy>
  <cp:revision>19</cp:revision>
  <dcterms:created xsi:type="dcterms:W3CDTF">2026-01-01T13:02:46Z</dcterms:created>
  <dcterms:modified xsi:type="dcterms:W3CDTF">2026-01-02T05:06:45Z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2026-01-01T00:00:00Z</vt:filetime>
  </property>
  <property fmtid="{D5CDD505-2E9C-101B-9397-08002B2CF9AE}" pid="3" name="Creator">
    <vt:lpwstr>Google</vt:lpwstr>
  </property>
  <property fmtid="{D5CDD505-2E9C-101B-9397-08002B2CF9AE}" pid="4" name="LastSaved">
    <vt:filetime>2026-01-01T00:00:00Z</vt:filetime>
  </property>
  <property fmtid="{D5CDD505-2E9C-101B-9397-08002B2CF9AE}" pid="5" name="Producer">
    <vt:lpwstr>3-Heights(TM) PDF Security Shell 4.8.25.2 (http://www.pdf-tools.com)</vt:lpwstr>
  </property>
</Properties>
</file>