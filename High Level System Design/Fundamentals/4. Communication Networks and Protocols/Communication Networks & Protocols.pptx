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95" r:id="rId4"/>
    <p:sldId id="296" r:id="rId5"/>
    <p:sldId id="299" r:id="rId6"/>
    <p:sldId id="300" r:id="rId7"/>
    <p:sldId id="297" r:id="rId8"/>
    <p:sldId id="298" r:id="rId9"/>
    <p:sldId id="301" r:id="rId10"/>
    <p:sldId id="302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601" autoAdjust="0"/>
  </p:normalViewPr>
  <p:slideViewPr>
    <p:cSldViewPr>
      <p:cViewPr>
        <p:scale>
          <a:sx n="102" d="100"/>
          <a:sy n="102" d="100"/>
        </p:scale>
        <p:origin x="898" y="-3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FC2B5-BEBA-4547-9143-EECB12969261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53293-4F00-4813-B74A-3945ABE0C2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39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to Section 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Networks &amp; Protocols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 in distributed systems comes down to one thing: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Services talking to services, clients talking to servers, databases replicating data - it's all communication over networks.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networks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unreliable, slow, and complex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Messages get lost, delayed, corrupted. Understanding how communication actually works is essential for building robust distributed systems.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section, we'll build from the ground up: Starting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(how we think about layers), 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networking basics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(IP addresses, routing), 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 protocols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(TCP vs UDP - the reliability vs speed trade-off), 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patterns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(push vs pull), and finally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protocols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(REST, RPC,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real-time).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 answer key questions: Why is network latency the silent killer of performance? When should you choose TCP's reliability over UDP's speed? What's the right protocol for your use case?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foundation will make everything else in distributed systems make more sense. Let's start with how we model communication.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56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how we structure network communication. The two main models: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(7 layers, theoretical)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TCP/IP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(4 layers, practical).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OSI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textbook model: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layer (cables, radio).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Link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(Ethernet, MAC addresses).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(IP, routers).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(TCP, UDP).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(connections, sessions).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(encryption, compression).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(HTTP, email).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TCP/IP model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what's actually used: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(Ethernet/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(IP).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(TCP/UDP).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(everything else).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layers?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Separation of concerns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Each layer has a specific job.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standards let different implementations work together.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Abstraction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application developers don't worry about Ethernet frames.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flows down: Your HTTP request gets a TCP header (Transport), then IP header (Network), then Ethernet header (Link). Each layer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encapsulates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 data from the layer above.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matters for: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is it a network issue (layer 3) or application issue (layer 7)?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where's the bottleneck?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what's protected at each layer?</a:t>
            </a:r>
          </a:p>
          <a:p>
            <a:endParaRPr lang="en-IN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systems, we mostly work 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Transport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layers, but we're affected by all layers. Physical layer gives us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speed of light limit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data can't travel faster than light. That's a fundamental constraint on distributed system design.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200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C5D4-64EB-2B4B-789D-E8FF291F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01C46-C650-3B7B-1758-FA4EB58AF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DFAB7-17CC-685C-6CF7-2F5AC6D4B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understand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addresses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how devices find each other on networks.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IP address is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 identifier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devices. It's a logical address (not physical like MAC). Two versions: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IPv4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(32-bit, running out) 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(128-bit, essentially unlimited).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IPv4 looks like 192.168.1.100 - four numbers 0-255. IPv6 looks like 2001:0db8::1 - eight groups of hex digits.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 addresses have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 part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 part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subnet mask (like 255.255.255.0) defines which is which. 192.168.1.0/24 means first 24 bits are network, last 8 bits are host (256 possible hosts).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 addresses: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Localhost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127.0.0.1 (this computer).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(like 192.168.x.x) for internal networks.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255.255.255.255 for everyone on network.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routing works: Your computer checks: "Is destination on my network?" If not, sends to default gateway (router). Routers have routing tables - maps of networks to next hops. Eventually packet reaches destination network.</a:t>
            </a:r>
          </a:p>
          <a:p>
            <a:br>
              <a:rPr lang="en-IN" dirty="0"/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critical: Translates names (google.com) to IPs. Distributed system itself.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lets multiple devices share one public IP - common in homes, but problematic for peer-to-peer.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systems: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finds services by IP.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 balancing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distributes across IPs.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same IP on multiple servers, route to nearest.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load balancing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return different IPs.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for developers: Servers need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IPs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DNS has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(TTL matters). DNS changes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propagate slowly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IPv4 vs IPv6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compatibility issues.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IPs helps debug networking issues and design better distributed systems.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0DC55-13ED-4D43-8508-BB4444875C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490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96A-B259-096A-E2E2-03DC81A2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37BB6-41CE-08D9-852F-43E37C114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357041-9E3F-0BBD-ACA0-C4AA5E7E3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-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Name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internet's phonebook.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is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database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translates google.com to 142.250.185.78. It's hierarchical: Your computer asks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(like your ISP or Google's 8.8.8.8), which asks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root servers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TLD servers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(.com), then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authoritative servers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(Google's own), getting the IP back through the chain.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has different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 types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A/AAAA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IP addresses.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aliases.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mail.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name servers.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text.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service discovery.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reverse lookups.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is itself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with 13 root servers (logically, hundreds physically), using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anycast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(same IP on multiple servers, route to nearest). Every level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results based on TTL (Time to Live).</a:t>
            </a:r>
          </a:p>
          <a:p>
            <a:endParaRPr lang="en-IN" dirty="0"/>
          </a:p>
          <a:p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load balancing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Round-robin DNS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returns different IPs in rotation.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GeoDNS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returns different IPs based on location.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Weighted round robin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different capacity servers.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Traditional apps use hard-coded IPs. Modern systems use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for discovery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services register themselves, others find them via DNS.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SRV records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standardize service discovery.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meshes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(Istio,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Linkerd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use DNS internally.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concepts: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controls caching (low TTL = faster failover, more queries).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Propagation delay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DNS changes take time to spread.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DNSSEC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adds cryptographic signatures for security.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systems: DNS enables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 balancing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failover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blue-green deployments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multi-region routing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Issues: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caching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return stale IPs (respect TTLs).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failure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breaks everything (have multiple resolvers).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attacks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(amplification attacks).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 services: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Route 53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Cloud DNS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Cloudflare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DNS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Tools: dig for querying, 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nslookup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Windows.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practices: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DNS, not hard-coded IPs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appropriate TTLs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DNS health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retry logic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thoughtfully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for outages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microservices: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has internal DNS.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provides DNS interface.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meshes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 DNS for routing.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DNS is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infrastructure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understand it well!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149CF-F096-B14B-196C-4CAEB5F46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28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F96E-D8E3-A7AF-6E30-D4634DD2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7F02F-B4D6-09EC-FB00-C10B5642C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EF947-E80D-99CF-441B-D6F1E3141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D997B-60B7-02A4-6D5B-EF294DB0A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845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2F239-A2F1-6A85-75DE-C319D3A5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7A0DE-19AF-67A7-48D1-175D64DA9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085F7C-E703-5C61-4E30-2A518FAAD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crucial choice: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vs UDP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 the transport layer.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reliable, connection-oriented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has a three-way handshake to establish connection. Guarantees delivery, in-order delivery. Has flow control (don't overwhelm receiver) and congestion control (adapt to network). But it's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more overhead, more latency.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fast, connectionless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setup, just send. No delivery guarantees, no ordering, no flow control. But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minimal overhead, lowest latency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features: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numbers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track order.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Acknowledgements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confirm receipt.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Retransmission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lost packets.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Sliding window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flow control.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Congestion control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algorithms (slow start, congestion avoidance).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UDP: Simple 8-byte header. Just source port, destination port, length, checksum. Send and forget.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to choose TCP: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integrity critical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(database replication).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 matters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(message queues).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 control needed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(large transfers).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Long-lived connections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(chat).</a:t>
            </a:r>
          </a:p>
          <a:p>
            <a:endParaRPr lang="en-IN" dirty="0"/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to choose UDP: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latency critical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(gaming, VoIP).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tolerable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(video streaming).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Broadcast/multicast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(service discovery).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queries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(DNS).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High-frequency updates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(sensor data).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approaches: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(HTTP/3) - UDP-based but adds reliability, faster setup.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 protocols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UDP - add only needed features.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Performance: TCP has 1.5 RTT setup, 20-60 byte headers, adaptive throughput. UDP has 0 RTT setup, 8-byte headers, send as fast as possible.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systems: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Service-to-service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usually TCP (gRPC, HTTP).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often UDP.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UDP (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StatsD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(TCP) or WebRTC (UDP).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Debugging: TCP issues - look at sequence numbers, ACKs. UDP issues - packet loss. Tools: 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tcpdump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Wireshark.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choice isn't just technical - it's about what your application values: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 or speed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7342A-D8DD-A141-4F18-0C9689A9E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665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F9DB-56F3-71ED-69AC-CFC9111F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D5BE2-6809-4283-6C34-74012870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CC740-DD87-8FD4-F0C8-17EF74F21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look at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data flows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Push vs Pull communication.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client-initiated, request-response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Client asks when it wants data. Examples: HTTP REST APIs, polling. Simple, stateless, but can be inefficient (constant polling) and have latency (delay until client asks).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server-initiated, event-driven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Server sends data when available. Examples: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message queues, pub/sub. Real-time, efficient, but more complex and stateful (tracking connections).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patterns: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Request-response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(standard web).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Polling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short (frequent requests) or long (request stays open).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 streaming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(response stays open).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 patterns: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(full-duplex persistent connection).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Server-Sent Events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(server pushes over HTTP).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queues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(producers → queue → consumers).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Pub/sub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(publishers → topics → subscribers).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Comparison: Pull gives client control but has latency. Push gives real-time but needs connection management. Pull is stateless, push is stateful. Pull simpler, push more complex.</a:t>
            </a:r>
          </a:p>
          <a:p>
            <a:endParaRPr lang="en-IN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approaches: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HTTP/2 server push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(server sends resources client will need).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GraphQL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subscriptions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(request establishes subscription, then push updates).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Webhooks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(register callback, server calls it).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Choosing: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infrequent updates, simplicity, caching, statelessness.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Push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real-time, frequent updates, many clients, event-driven architectures.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distributed systems: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mesh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implement patterns.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brokers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(Kafka, RabbitMQ) for push.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gateways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can convert push to pull.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handle both.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WebSockets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bidirectional. SSE for server-to-client. Polling as simple fallback.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Best practices: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Pull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move to Push when needed.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 reconnection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push.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connections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scalability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choice affects architecture, scalability, and user experience.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2C92-52C5-B16B-3749-3EE1E347D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259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743C-F99A-08CB-C6BB-364D9417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AD522-7829-ACFA-D8E4-94D74C9E6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697B0-3A8D-E4F7-CF15-B29F0706A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DF152-9827-76CE-196C-F61D3F48F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34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532ED-37A4-5F5E-DB1C-AD466309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05891E-74D8-E1DF-0AEA-AB840C0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99191-FBC8-6394-AE55-DA987FF7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C2D52-4698-D3D6-2060-45756F983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53293-4F00-4813-B74A-3945ABE0C2F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829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11" y="317689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1" y="3158243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8" y="0"/>
                </a:lnTo>
              </a:path>
            </a:pathLst>
          </a:custGeom>
          <a:ln w="76199">
            <a:solidFill>
              <a:srgbClr val="B3A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2" y="10220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2" y="1174422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40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48" y="41214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76199">
            <a:solidFill>
              <a:srgbClr val="4DB6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48" y="3969091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0" y="0"/>
                </a:lnTo>
              </a:path>
            </a:pathLst>
          </a:custGeom>
          <a:ln w="9524">
            <a:solidFill>
              <a:srgbClr val="4DB6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75352" y="1815086"/>
            <a:ext cx="4993295" cy="690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689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81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97799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097" y="425399"/>
            <a:ext cx="6419816" cy="45997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689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81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81" y="0"/>
                </a:lnTo>
                <a:lnTo>
                  <a:pt x="9143981" y="97799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4" y="501589"/>
            <a:ext cx="486156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F6B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273" y="1333256"/>
            <a:ext cx="5205730" cy="3009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69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1815086"/>
            <a:ext cx="7162800" cy="6835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lang="en-IN" sz="4350" spc="-330" dirty="0"/>
              <a:t>Mastering Distributed</a:t>
            </a:r>
            <a:r>
              <a:rPr lang="en-IN" sz="4350" spc="-80" dirty="0"/>
              <a:t> </a:t>
            </a:r>
            <a:r>
              <a:rPr lang="en-IN" sz="4350" spc="-330" dirty="0"/>
              <a:t>System</a:t>
            </a:r>
            <a:r>
              <a:rPr lang="en-IN" sz="4350" spc="-65" dirty="0"/>
              <a:t> </a:t>
            </a:r>
            <a:r>
              <a:rPr lang="en-IN" sz="4350" spc="-275" dirty="0"/>
              <a:t>Design</a:t>
            </a:r>
            <a:endParaRPr sz="4350" dirty="0"/>
          </a:p>
        </p:txBody>
      </p:sp>
      <p:sp>
        <p:nvSpPr>
          <p:cNvPr id="3" name="object 3"/>
          <p:cNvSpPr txBox="1"/>
          <p:nvPr/>
        </p:nvSpPr>
        <p:spPr>
          <a:xfrm>
            <a:off x="1218341" y="2624935"/>
            <a:ext cx="67017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695D46"/>
                </a:solidFill>
                <a:latin typeface="Arial"/>
                <a:cs typeface="Arial"/>
              </a:rPr>
              <a:t>Communication Networks &amp; Protocols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IN" spc="-330" dirty="0"/>
              <a:t>What This Section Covers</a:t>
            </a:r>
            <a:endParaRPr spc="-150" dirty="0"/>
          </a:p>
        </p:txBody>
      </p:sp>
      <p:sp>
        <p:nvSpPr>
          <p:cNvPr id="4" name="object 4"/>
          <p:cNvSpPr txBox="1"/>
          <p:nvPr/>
        </p:nvSpPr>
        <p:spPr>
          <a:xfrm>
            <a:off x="475248" y="1289060"/>
            <a:ext cx="8363952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Communication Models:</a:t>
            </a:r>
            <a:r>
              <a:rPr lang="en-IN" dirty="0"/>
              <a:t> OSI, TCP/IP models (the layered approach)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Networking Basics:</a:t>
            </a:r>
            <a:r>
              <a:rPr lang="en-IN" dirty="0"/>
              <a:t> IP addresses, ports, routing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Transport Protocols:</a:t>
            </a:r>
            <a:r>
              <a:rPr lang="en-IN" dirty="0"/>
              <a:t> TCP vs UDP (reliable vs fast)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Communication Patterns:</a:t>
            </a:r>
            <a:r>
              <a:rPr lang="en-IN" dirty="0"/>
              <a:t> Push vs Pull, synchronous vs asynchronous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Application Protocols:</a:t>
            </a:r>
            <a:r>
              <a:rPr lang="en-IN" dirty="0"/>
              <a:t> REST, RPC, </a:t>
            </a:r>
            <a:r>
              <a:rPr lang="en-IN" dirty="0" err="1"/>
              <a:t>GraphQL</a:t>
            </a:r>
            <a:r>
              <a:rPr lang="en-IN" dirty="0"/>
              <a:t>, </a:t>
            </a:r>
            <a:r>
              <a:rPr lang="en-IN" dirty="0" err="1"/>
              <a:t>WebSockets</a:t>
            </a: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Real-time Communication:</a:t>
            </a:r>
            <a:r>
              <a:rPr lang="en-IN" dirty="0"/>
              <a:t> WebRTC, server-sent events, long polling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5287-179A-3AA1-19D3-C2542A8C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C0F23B2-B4B5-F635-5075-5D3E87B48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Communication </a:t>
            </a:r>
            <a:r>
              <a:rPr lang="fr-FR" spc="-330" dirty="0" err="1"/>
              <a:t>Models</a:t>
            </a:r>
            <a:r>
              <a:rPr lang="fr-FR" spc="-330" dirty="0"/>
              <a:t> - OSI &amp; TCP/IP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7299B10-011D-082B-7087-EBAB40933B72}"/>
              </a:ext>
            </a:extLst>
          </p:cNvPr>
          <p:cNvSpPr txBox="1"/>
          <p:nvPr/>
        </p:nvSpPr>
        <p:spPr>
          <a:xfrm>
            <a:off x="475248" y="1289060"/>
            <a:ext cx="4782552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atinLnBrk="1"/>
            <a:r>
              <a:rPr lang="en-US" sz="1400" b="1" dirty="0"/>
              <a:t>OSI Model (7 Layers - Theoretical):</a:t>
            </a:r>
            <a:endParaRPr lang="en-IN" sz="1400" dirty="0"/>
          </a:p>
          <a:p>
            <a:pPr latinLnBrk="1"/>
            <a:r>
              <a:rPr lang="en-IN" sz="1400" dirty="0"/>
              <a:t>7. Application  (HTTP, SMTP, FTP)</a:t>
            </a:r>
          </a:p>
          <a:p>
            <a:pPr latinLnBrk="1"/>
            <a:r>
              <a:rPr lang="en-IN" sz="1400" dirty="0"/>
              <a:t>6. Presentation (SSL, TLS, encryption)</a:t>
            </a:r>
          </a:p>
          <a:p>
            <a:pPr latinLnBrk="1"/>
            <a:r>
              <a:rPr lang="en-IN" sz="1400" dirty="0"/>
              <a:t>5. Session     (Sockets, sessions)</a:t>
            </a:r>
          </a:p>
          <a:p>
            <a:pPr latinLnBrk="1"/>
            <a:r>
              <a:rPr lang="en-IN" sz="1400" dirty="0"/>
              <a:t>4. Transport   (TCP, UDP)</a:t>
            </a:r>
          </a:p>
          <a:p>
            <a:pPr latinLnBrk="1"/>
            <a:r>
              <a:rPr lang="en-IN" sz="1400" dirty="0"/>
              <a:t>3. Network     (IP, routers)</a:t>
            </a:r>
          </a:p>
          <a:p>
            <a:pPr latinLnBrk="1"/>
            <a:r>
              <a:rPr lang="en-IN" sz="1400" dirty="0"/>
              <a:t>2. Data Link   (Ethernet, switches)</a:t>
            </a:r>
          </a:p>
          <a:p>
            <a:pPr marL="342900" indent="-342900" latinLnBrk="1">
              <a:buAutoNum type="arabicPeriod"/>
            </a:pPr>
            <a:r>
              <a:rPr lang="en-IN" sz="1400" dirty="0"/>
              <a:t>Physical    (Cables, radio waves)</a:t>
            </a:r>
          </a:p>
          <a:p>
            <a:pPr marL="342900" indent="-342900" latinLnBrk="1">
              <a:buAutoNum type="arabicPeriod"/>
            </a:pPr>
            <a:endParaRPr lang="en-IN" sz="1400" dirty="0"/>
          </a:p>
          <a:p>
            <a:pPr latinLnBrk="1"/>
            <a:r>
              <a:rPr lang="en-US" sz="1400" b="1" dirty="0"/>
              <a:t>TCP/IP Model (4 Layers - Practical):</a:t>
            </a:r>
          </a:p>
          <a:p>
            <a:pPr latinLnBrk="1"/>
            <a:r>
              <a:rPr lang="en-IN" sz="1400" dirty="0"/>
              <a:t>4. Application (HTTP, FTP, SMTP, DNS)</a:t>
            </a:r>
          </a:p>
          <a:p>
            <a:pPr latinLnBrk="1"/>
            <a:r>
              <a:rPr lang="en-IN" sz="1400" dirty="0"/>
              <a:t>3. Transport   (TCP, UDP)</a:t>
            </a:r>
          </a:p>
          <a:p>
            <a:pPr latinLnBrk="1"/>
            <a:r>
              <a:rPr lang="en-IN" sz="1400" dirty="0"/>
              <a:t>2. Internet    (IP, ICMP)</a:t>
            </a:r>
          </a:p>
          <a:p>
            <a:pPr latinLnBrk="1"/>
            <a:r>
              <a:rPr lang="en-IN" sz="1400" dirty="0"/>
              <a:t>1. Link/Network Interface (Ethernet, </a:t>
            </a:r>
            <a:r>
              <a:rPr lang="en-IN" sz="1400" dirty="0" err="1"/>
              <a:t>WiFi</a:t>
            </a:r>
            <a:r>
              <a:rPr lang="en-IN" sz="1400" dirty="0"/>
              <a:t>)</a:t>
            </a:r>
          </a:p>
          <a:p>
            <a:pPr latinLnBrk="1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1727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B0ED-82B8-9093-5B9E-F4648672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9C2297D-0344-ACD2-A1E4-0604C49C1B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 err="1"/>
              <a:t>Understanding</a:t>
            </a:r>
            <a:r>
              <a:rPr lang="fr-FR" spc="-330" dirty="0"/>
              <a:t> IP </a:t>
            </a:r>
            <a:r>
              <a:rPr lang="fr-FR" spc="-330" dirty="0" err="1"/>
              <a:t>Addresses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E7B9BBA-DF2E-9321-4D67-7B0AB1D5EE4E}"/>
              </a:ext>
            </a:extLst>
          </p:cNvPr>
          <p:cNvSpPr txBox="1"/>
          <p:nvPr/>
        </p:nvSpPr>
        <p:spPr>
          <a:xfrm>
            <a:off x="475248" y="1289060"/>
            <a:ext cx="6763752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/>
              <a:t>What is an IP Address?</a:t>
            </a:r>
            <a:endParaRPr lang="en-IN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Unique identifier</a:t>
            </a:r>
            <a:r>
              <a:rPr lang="en-IN" sz="1400" dirty="0"/>
              <a:t> for devices on a network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Logical address</a:t>
            </a:r>
            <a:r>
              <a:rPr lang="en-IN" sz="1400" dirty="0"/>
              <a:t> (not physical like MAC address)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Used for </a:t>
            </a:r>
            <a:r>
              <a:rPr lang="en-IN" sz="1400" b="1" dirty="0"/>
              <a:t>routing</a:t>
            </a:r>
            <a:r>
              <a:rPr lang="en-IN" sz="1400" dirty="0"/>
              <a:t> packets across networks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Two versions: </a:t>
            </a:r>
            <a:r>
              <a:rPr lang="en-IN" sz="1400" b="1" dirty="0"/>
              <a:t>IPv4</a:t>
            </a:r>
            <a:r>
              <a:rPr lang="en-IN" sz="1400" dirty="0"/>
              <a:t> (32-bit) and </a:t>
            </a:r>
            <a:r>
              <a:rPr lang="en-IN" sz="1400" b="1" dirty="0"/>
              <a:t>IPv6</a:t>
            </a:r>
            <a:r>
              <a:rPr lang="en-IN" sz="1400" dirty="0"/>
              <a:t> (128-bit)</a:t>
            </a:r>
          </a:p>
          <a:p>
            <a:r>
              <a:rPr lang="en-IN" sz="1400" b="1" dirty="0"/>
              <a:t>IPv4 (32-bit):</a:t>
            </a:r>
            <a:endParaRPr lang="en-IN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Format: </a:t>
            </a:r>
            <a:r>
              <a:rPr lang="en-IN" sz="1400" b="1" dirty="0"/>
              <a:t>xxx.xxx.xxx.xxx</a:t>
            </a:r>
            <a:r>
              <a:rPr lang="en-IN" sz="1400" dirty="0"/>
              <a:t> (four 8-bit numbers, 0-255)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Example: 192.168.1.100, 10.0.0.1, 172.16.0.1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Total addresses:</a:t>
            </a:r>
            <a:r>
              <a:rPr lang="en-IN" sz="1400" dirty="0"/>
              <a:t> ~4.3 billion (exhausted)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Dotted decimal notation:</a:t>
            </a:r>
            <a:r>
              <a:rPr lang="en-IN" sz="1400" dirty="0"/>
              <a:t> Human-readable form</a:t>
            </a:r>
          </a:p>
          <a:p>
            <a:r>
              <a:rPr lang="en-IN" sz="1400" b="1" dirty="0"/>
              <a:t>IPv6 (128-bit):</a:t>
            </a:r>
            <a:endParaRPr lang="en-IN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Format: </a:t>
            </a:r>
            <a:r>
              <a:rPr lang="en-IN" sz="1400" b="1" dirty="0" err="1"/>
              <a:t>xxxx:xxxx:xxxx:xxxx:xxxx:xxxx:xxxx:xxxx</a:t>
            </a:r>
            <a:r>
              <a:rPr lang="en-IN" sz="1400" dirty="0"/>
              <a:t> (eight 16-bit hex numbers)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Example: 2001:0db8:85a3:0000:0000:8a2e:0370:7334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Total addresses:</a:t>
            </a:r>
            <a:r>
              <a:rPr lang="en-IN" sz="1400" dirty="0"/>
              <a:t> 3.4×10³⁸ (effectively unlimited)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Benefits:</a:t>
            </a:r>
            <a:r>
              <a:rPr lang="en-IN" sz="1400" dirty="0"/>
              <a:t> More addresses, built-in security, better routing</a:t>
            </a:r>
          </a:p>
        </p:txBody>
      </p:sp>
    </p:spTree>
    <p:extLst>
      <p:ext uri="{BB962C8B-B14F-4D97-AF65-F5344CB8AC3E}">
        <p14:creationId xmlns:p14="http://schemas.microsoft.com/office/powerpoint/2010/main" val="246329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D2E74-A388-2CF0-3FBF-EBCC0E9C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223328-1038-05AE-7000-576589F351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DNS - The </a:t>
            </a:r>
            <a:r>
              <a:rPr lang="fr-FR" spc="-330" dirty="0" err="1"/>
              <a:t>Internet's</a:t>
            </a:r>
            <a:r>
              <a:rPr lang="fr-FR" spc="-330" dirty="0"/>
              <a:t> </a:t>
            </a:r>
            <a:r>
              <a:rPr lang="fr-FR" spc="-330" dirty="0" err="1"/>
              <a:t>Phonebook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8DCD6C-7158-D6CD-8F28-1161FCD2EE8C}"/>
              </a:ext>
            </a:extLst>
          </p:cNvPr>
          <p:cNvSpPr txBox="1"/>
          <p:nvPr/>
        </p:nvSpPr>
        <p:spPr>
          <a:xfrm>
            <a:off x="475248" y="1289060"/>
            <a:ext cx="6763752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1" dirty="0"/>
              <a:t>What is DNS?</a:t>
            </a:r>
            <a:endParaRPr lang="en-US" sz="1400" dirty="0"/>
          </a:p>
          <a:p>
            <a:r>
              <a:rPr lang="en-US" sz="1400" b="1" dirty="0"/>
              <a:t>Domain Name System:</a:t>
            </a:r>
            <a:r>
              <a:rPr lang="en-US" sz="1400" dirty="0"/>
              <a:t> Translates </a:t>
            </a:r>
            <a:r>
              <a:rPr lang="en-US" sz="1400" b="1" dirty="0"/>
              <a:t>names</a:t>
            </a:r>
            <a:r>
              <a:rPr lang="en-US" sz="1400" dirty="0"/>
              <a:t> to </a:t>
            </a:r>
            <a:r>
              <a:rPr lang="en-US" sz="1400" b="1" dirty="0"/>
              <a:t>IP addresses</a:t>
            </a:r>
            <a:endParaRPr lang="en-US" sz="1400" dirty="0"/>
          </a:p>
          <a:p>
            <a:r>
              <a:rPr lang="en-US" sz="1400" b="1" dirty="0"/>
              <a:t>Distributed database:</a:t>
            </a:r>
            <a:r>
              <a:rPr lang="en-US" sz="1400" dirty="0"/>
              <a:t> No single point of failure</a:t>
            </a:r>
          </a:p>
          <a:p>
            <a:r>
              <a:rPr lang="en-US" sz="1400" b="1" dirty="0"/>
              <a:t>Critical infrastructure:</a:t>
            </a:r>
            <a:r>
              <a:rPr lang="en-US" sz="1400" dirty="0"/>
              <a:t> Internet wouldn't work without it</a:t>
            </a:r>
          </a:p>
          <a:p>
            <a:r>
              <a:rPr lang="en-US" sz="1400" b="1" dirty="0"/>
              <a:t>Hierarchical:</a:t>
            </a:r>
            <a:r>
              <a:rPr lang="en-US" sz="1400" dirty="0"/>
              <a:t> Like a phonebook with local, regional, national directories</a:t>
            </a:r>
          </a:p>
        </p:txBody>
      </p:sp>
    </p:spTree>
    <p:extLst>
      <p:ext uri="{BB962C8B-B14F-4D97-AF65-F5344CB8AC3E}">
        <p14:creationId xmlns:p14="http://schemas.microsoft.com/office/powerpoint/2010/main" val="37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4600-5FD7-3DD1-BA5F-915126E9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077195-A71C-2236-EF0B-BC82498E0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DNS </a:t>
            </a:r>
            <a:r>
              <a:rPr lang="fr-FR" spc="-330" dirty="0" err="1"/>
              <a:t>Resolution</a:t>
            </a:r>
            <a:r>
              <a:rPr lang="fr-FR" spc="-330" dirty="0"/>
              <a:t> Process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BE814F-6C23-9BBA-45FC-9F4F77677B8B}"/>
              </a:ext>
            </a:extLst>
          </p:cNvPr>
          <p:cNvSpPr txBox="1"/>
          <p:nvPr/>
        </p:nvSpPr>
        <p:spPr>
          <a:xfrm>
            <a:off x="475248" y="1289060"/>
            <a:ext cx="6763752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/>
              <a:t>Step-by-Step Resolution:</a:t>
            </a:r>
            <a:endParaRPr lang="en-IN" sz="1400" dirty="0"/>
          </a:p>
          <a:p>
            <a:r>
              <a:rPr lang="en-IN" sz="1400" b="1" dirty="0"/>
              <a:t>Browser cache:</a:t>
            </a:r>
            <a:r>
              <a:rPr lang="en-IN" sz="1400" dirty="0"/>
              <a:t> Check if recently resolved</a:t>
            </a:r>
          </a:p>
          <a:p>
            <a:r>
              <a:rPr lang="en-IN" sz="1400" b="1" dirty="0"/>
              <a:t>OS cache/hosts file:</a:t>
            </a:r>
            <a:r>
              <a:rPr lang="en-IN" sz="1400" dirty="0"/>
              <a:t> Local system cache</a:t>
            </a:r>
          </a:p>
          <a:p>
            <a:r>
              <a:rPr lang="en-IN" sz="1400" b="1" dirty="0"/>
              <a:t>Resolver (ISP/8.8.8.8):</a:t>
            </a:r>
            <a:r>
              <a:rPr lang="en-IN" sz="1400" dirty="0"/>
              <a:t> Your DNS server</a:t>
            </a:r>
          </a:p>
          <a:p>
            <a:r>
              <a:rPr lang="en-IN" sz="1400" b="1" dirty="0"/>
              <a:t>Root servers:</a:t>
            </a:r>
            <a:r>
              <a:rPr lang="en-IN" sz="1400" dirty="0"/>
              <a:t> 13 root servers worldwide (a.root-servers.net to m.root-servers.net)</a:t>
            </a:r>
          </a:p>
          <a:p>
            <a:r>
              <a:rPr lang="en-IN" sz="1400" b="1" dirty="0"/>
              <a:t>TLD servers:</a:t>
            </a:r>
            <a:r>
              <a:rPr lang="en-IN" sz="1400" dirty="0"/>
              <a:t> .com, .org, </a:t>
            </a:r>
            <a:r>
              <a:rPr lang="en-IN" sz="1400" dirty="0" err="1"/>
              <a:t>.net</a:t>
            </a:r>
            <a:r>
              <a:rPr lang="en-IN" sz="1400" dirty="0"/>
              <a:t> servers</a:t>
            </a:r>
          </a:p>
          <a:p>
            <a:r>
              <a:rPr lang="en-IN" sz="1400" b="1" dirty="0"/>
              <a:t>Authoritative servers:</a:t>
            </a:r>
            <a:r>
              <a:rPr lang="en-IN" sz="1400" dirty="0"/>
              <a:t> Google's own DNS servers</a:t>
            </a:r>
          </a:p>
          <a:p>
            <a:r>
              <a:rPr lang="en-IN" sz="1400" b="1" dirty="0"/>
              <a:t>Return IP:</a:t>
            </a:r>
            <a:r>
              <a:rPr lang="en-IN" sz="1400" dirty="0"/>
              <a:t> 142.250.185.78 (Google's IP)</a:t>
            </a:r>
          </a:p>
        </p:txBody>
      </p:sp>
    </p:spTree>
    <p:extLst>
      <p:ext uri="{BB962C8B-B14F-4D97-AF65-F5344CB8AC3E}">
        <p14:creationId xmlns:p14="http://schemas.microsoft.com/office/powerpoint/2010/main" val="277327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4D72E-4670-48EF-A7A2-F91E79D6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82BFCF9-FA64-AF34-5FCF-7632A6440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TCP vs UDP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83DEBF-C07E-9BDB-AE7C-FA32E3A42834}"/>
              </a:ext>
            </a:extLst>
          </p:cNvPr>
          <p:cNvSpPr txBox="1"/>
          <p:nvPr/>
        </p:nvSpPr>
        <p:spPr>
          <a:xfrm>
            <a:off x="475248" y="1289060"/>
            <a:ext cx="6763752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/>
              <a:t>TCP (Transmission Control Protocol):</a:t>
            </a:r>
            <a:endParaRPr lang="en-IN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🔄 </a:t>
            </a:r>
            <a:r>
              <a:rPr lang="en-IN" sz="1400" b="1" dirty="0"/>
              <a:t>Connection-oriented:</a:t>
            </a:r>
            <a:r>
              <a:rPr lang="en-IN" sz="1400" dirty="0"/>
              <a:t> Three-way handshake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✅ </a:t>
            </a:r>
            <a:r>
              <a:rPr lang="en-IN" sz="1400" b="1" dirty="0"/>
              <a:t>Reliable:</a:t>
            </a:r>
            <a:r>
              <a:rPr lang="en-IN" sz="1400" dirty="0"/>
              <a:t> Guaranteed delivery, in-order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📊 </a:t>
            </a:r>
            <a:r>
              <a:rPr lang="en-IN" sz="1400" b="1" dirty="0"/>
              <a:t>Flow control:</a:t>
            </a:r>
            <a:r>
              <a:rPr lang="en-IN" sz="1400" dirty="0"/>
              <a:t> Prevents overwhelming receiver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🚦 </a:t>
            </a:r>
            <a:r>
              <a:rPr lang="en-IN" sz="1400" b="1" dirty="0"/>
              <a:t>Congestion control:</a:t>
            </a:r>
            <a:r>
              <a:rPr lang="en-IN" sz="1400" dirty="0"/>
              <a:t> Adapts to network conditions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🐌 </a:t>
            </a:r>
            <a:r>
              <a:rPr lang="en-IN" sz="1400" b="1" dirty="0"/>
              <a:t>Slower:</a:t>
            </a:r>
            <a:r>
              <a:rPr lang="en-IN" sz="1400" dirty="0"/>
              <a:t> More overhead, latency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Use cases:</a:t>
            </a:r>
            <a:r>
              <a:rPr lang="en-IN" sz="1400" dirty="0"/>
              <a:t> Web (HTTP), email (SMTP), file transfer (FTP)</a:t>
            </a:r>
          </a:p>
          <a:p>
            <a:endParaRPr lang="en-IN" sz="1400" dirty="0"/>
          </a:p>
          <a:p>
            <a:r>
              <a:rPr lang="en-IN" sz="1400" b="1" dirty="0"/>
              <a:t>UDP (User Datagram Protocol):</a:t>
            </a:r>
            <a:endParaRPr lang="en-IN" sz="1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🚀 </a:t>
            </a:r>
            <a:r>
              <a:rPr lang="en-IN" sz="1400" b="1" dirty="0"/>
              <a:t>Connectionless:</a:t>
            </a:r>
            <a:r>
              <a:rPr lang="en-IN" sz="1400" dirty="0"/>
              <a:t> No setup, just send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⚡ </a:t>
            </a:r>
            <a:r>
              <a:rPr lang="en-IN" sz="1400" b="1" dirty="0"/>
              <a:t>Fast:</a:t>
            </a:r>
            <a:r>
              <a:rPr lang="en-IN" sz="1400" dirty="0"/>
              <a:t> Minimal overhead, low latency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❌ </a:t>
            </a:r>
            <a:r>
              <a:rPr lang="en-IN" sz="1400" b="1" dirty="0"/>
              <a:t>Unreliable:</a:t>
            </a:r>
            <a:r>
              <a:rPr lang="en-IN" sz="1400" dirty="0"/>
              <a:t> No delivery guarantees, no ordering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dirty="0"/>
              <a:t>💧 </a:t>
            </a:r>
            <a:r>
              <a:rPr lang="en-IN" sz="1400" b="1" dirty="0"/>
              <a:t>No flow/congestion control:</a:t>
            </a:r>
            <a:r>
              <a:rPr lang="en-IN" sz="1400" dirty="0"/>
              <a:t> Can overwhelm network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400" b="1" dirty="0"/>
              <a:t>Use cases:</a:t>
            </a:r>
            <a:r>
              <a:rPr lang="en-IN" sz="1400" dirty="0"/>
              <a:t> Video streaming, VoIP, DNS, gaming</a:t>
            </a:r>
          </a:p>
        </p:txBody>
      </p:sp>
    </p:spTree>
    <p:extLst>
      <p:ext uri="{BB962C8B-B14F-4D97-AF65-F5344CB8AC3E}">
        <p14:creationId xmlns:p14="http://schemas.microsoft.com/office/powerpoint/2010/main" val="375891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89D02-DC0E-A796-1688-E4781CDE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42DC9B3-C141-097E-A6CB-185A9ED08C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Communication Types - Push vs Pull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7175C78-54AE-E740-E01C-0558A999E98F}"/>
              </a:ext>
            </a:extLst>
          </p:cNvPr>
          <p:cNvSpPr txBox="1"/>
          <p:nvPr/>
        </p:nvSpPr>
        <p:spPr>
          <a:xfrm>
            <a:off x="475248" y="1289060"/>
            <a:ext cx="7601952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400" b="1" dirty="0"/>
              <a:t>Pull (Request-Response):</a:t>
            </a:r>
          </a:p>
          <a:p>
            <a:pPr latinLnBrk="1"/>
            <a:r>
              <a:rPr lang="en-US" sz="1400" dirty="0"/>
              <a:t>Client → REQUEST → Server</a:t>
            </a:r>
          </a:p>
          <a:p>
            <a:pPr latinLnBrk="1"/>
            <a:r>
              <a:rPr lang="en-US" sz="1400" dirty="0"/>
              <a:t>Client ← RESPONSE ← Server</a:t>
            </a:r>
          </a:p>
          <a:p>
            <a:pPr latinLnBrk="1"/>
            <a:r>
              <a:rPr lang="en-US" sz="1400" dirty="0"/>
              <a:t>"Ask for data when you need it“</a:t>
            </a:r>
          </a:p>
          <a:p>
            <a:pPr latinLnBrk="1"/>
            <a:endParaRPr lang="en-US" sz="1400" dirty="0"/>
          </a:p>
          <a:p>
            <a:r>
              <a:rPr lang="en-IN" sz="1400" b="1" dirty="0"/>
              <a:t>Push (Publish-Subscribe):</a:t>
            </a:r>
          </a:p>
          <a:p>
            <a:pPr latinLnBrk="1"/>
            <a:r>
              <a:rPr lang="en-IN" sz="1400" dirty="0"/>
              <a:t>Publisher → EVENT → Message Broker → EVENT → Subscriber → EVENT → Subscriber</a:t>
            </a:r>
          </a:p>
          <a:p>
            <a:pPr latinLnBrk="1"/>
            <a:r>
              <a:rPr lang="en-IN" sz="1400" dirty="0"/>
              <a:t>"Get data when it's available"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95245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F2268-E713-7E01-36D4-96C35425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5B395A3-5528-6AF6-F7B1-8DDA88C7F8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Common Communication </a:t>
            </a:r>
            <a:r>
              <a:rPr lang="fr-FR" spc="-330" dirty="0" err="1"/>
              <a:t>Protocols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866171-EC73-F48E-BAB3-88DFB5DB0B88}"/>
              </a:ext>
            </a:extLst>
          </p:cNvPr>
          <p:cNvSpPr txBox="1"/>
          <p:nvPr/>
        </p:nvSpPr>
        <p:spPr>
          <a:xfrm>
            <a:off x="475248" y="1047750"/>
            <a:ext cx="7601952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Request-Response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REST (HTTP/JSON)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RPC (gRPC, Thrift)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 err="1"/>
              <a:t>GraphQL</a:t>
            </a:r>
            <a:endParaRPr lang="en-IN" sz="1400" dirty="0"/>
          </a:p>
          <a:p>
            <a:r>
              <a:rPr lang="en-IN" b="1" dirty="0"/>
              <a:t>Messaging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AMQP (RabbitMQ)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MQTT (IoT)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Kafka Protocol</a:t>
            </a:r>
          </a:p>
          <a:p>
            <a:r>
              <a:rPr lang="en-IN" b="1" dirty="0"/>
              <a:t>Real-time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 err="1"/>
              <a:t>WebSockets</a:t>
            </a:r>
            <a:endParaRPr lang="en-IN" sz="1400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WebRTC (P2P)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Server-Sent Events (SSE)</a:t>
            </a:r>
          </a:p>
          <a:p>
            <a:r>
              <a:rPr lang="en-IN" b="1" dirty="0"/>
              <a:t>Streaming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HTTP/2, HTTP/3 Streams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RTMP (video)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QUIC</a:t>
            </a:r>
          </a:p>
        </p:txBody>
      </p:sp>
    </p:spTree>
    <p:extLst>
      <p:ext uri="{BB962C8B-B14F-4D97-AF65-F5344CB8AC3E}">
        <p14:creationId xmlns:p14="http://schemas.microsoft.com/office/powerpoint/2010/main" val="2099927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F935A-EC55-FE8E-E902-9FA151F3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C7675D0-5128-69B7-A4D9-1B9F7D9D6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724" y="501589"/>
            <a:ext cx="7006676" cy="510396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fr-FR" spc="-330" dirty="0"/>
              <a:t>REST (</a:t>
            </a:r>
            <a:r>
              <a:rPr lang="fr-FR" spc="-330" dirty="0" err="1"/>
              <a:t>Representational</a:t>
            </a:r>
            <a:r>
              <a:rPr lang="fr-FR" spc="-330" dirty="0"/>
              <a:t> State Transfer)</a:t>
            </a:r>
            <a:endParaRPr spc="-15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73BF2E-CFDA-88B8-1B05-CA2C33CB0CFA}"/>
              </a:ext>
            </a:extLst>
          </p:cNvPr>
          <p:cNvSpPr txBox="1"/>
          <p:nvPr/>
        </p:nvSpPr>
        <p:spPr>
          <a:xfrm>
            <a:off x="475248" y="1047750"/>
            <a:ext cx="7601952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/>
              <a:t>Request-Response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REST (HTTP/JSON)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RPC (gRPC, Thrift)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 err="1"/>
              <a:t>GraphQL</a:t>
            </a:r>
            <a:endParaRPr lang="en-IN" sz="1400" dirty="0"/>
          </a:p>
          <a:p>
            <a:r>
              <a:rPr lang="en-IN" b="1" dirty="0"/>
              <a:t>Messaging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AMQP (RabbitMQ)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MQTT (IoT)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Kafka Protocol</a:t>
            </a:r>
          </a:p>
          <a:p>
            <a:r>
              <a:rPr lang="en-IN" b="1" dirty="0"/>
              <a:t>Real-time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 err="1"/>
              <a:t>WebSockets</a:t>
            </a:r>
            <a:endParaRPr lang="en-IN" sz="1400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WebRTC (P2P)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Server-Sent Events (SSE)</a:t>
            </a:r>
          </a:p>
          <a:p>
            <a:r>
              <a:rPr lang="en-IN" b="1" dirty="0"/>
              <a:t>Streaming Protocols:</a:t>
            </a:r>
            <a:endParaRPr lang="en-IN" dirty="0"/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HTTP/2, HTTP/3 Streams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RTMP (video)</a:t>
            </a:r>
          </a:p>
          <a:p>
            <a:pPr marL="285750" lvl="1" indent="-285750">
              <a:buFont typeface="Courier New" panose="02070309020205020404" pitchFamily="49" charset="0"/>
              <a:buChar char="o"/>
            </a:pPr>
            <a:r>
              <a:rPr lang="en-IN" sz="1400" dirty="0"/>
              <a:t>QUIC</a:t>
            </a:r>
          </a:p>
        </p:txBody>
      </p:sp>
    </p:spTree>
    <p:extLst>
      <p:ext uri="{BB962C8B-B14F-4D97-AF65-F5344CB8AC3E}">
        <p14:creationId xmlns:p14="http://schemas.microsoft.com/office/powerpoint/2010/main" val="347768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2581</Words>
  <Application>Microsoft Office PowerPoint</Application>
  <PresentationFormat>On-screen Show (16:9)</PresentationFormat>
  <Paragraphs>188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Office Theme</vt:lpstr>
      <vt:lpstr>Mastering Distributed System Design</vt:lpstr>
      <vt:lpstr>What This Section Covers</vt:lpstr>
      <vt:lpstr>Communication Models - OSI &amp; TCP/IP</vt:lpstr>
      <vt:lpstr>Understanding IP Addresses</vt:lpstr>
      <vt:lpstr>DNS - The Internet's Phonebook</vt:lpstr>
      <vt:lpstr>DNS Resolution Process</vt:lpstr>
      <vt:lpstr>TCP vs UDP</vt:lpstr>
      <vt:lpstr>Communication Types - Push vs Pull</vt:lpstr>
      <vt:lpstr>Common Communication Protocols</vt:lpstr>
      <vt:lpstr>REST (Representational State Transfer)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22</dc:title>
  <cp:lastModifiedBy>vikash chauhan</cp:lastModifiedBy>
  <cp:revision>399</cp:revision>
  <dcterms:created xsi:type="dcterms:W3CDTF">2026-01-01T13:02:46Z</dcterms:created>
  <dcterms:modified xsi:type="dcterms:W3CDTF">2026-01-03T13:51:09Z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2026-01-01T00:00:00Z</vt:filetime>
  </property>
  <property fmtid="{D5CDD505-2E9C-101B-9397-08002B2CF9AE}" pid="5" name="Producer">
    <vt:lpwstr>3-Heights(TM) PDF Security Shell 4.8.25.2 (http://www.pdf-tools.com)</vt:lpwstr>
  </property>
</Properties>
</file>